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72" r:id="rId3"/>
    <p:sldId id="258" r:id="rId4"/>
    <p:sldId id="273" r:id="rId5"/>
    <p:sldId id="274" r:id="rId6"/>
    <p:sldId id="275" r:id="rId7"/>
    <p:sldId id="276" r:id="rId8"/>
    <p:sldId id="277" r:id="rId9"/>
    <p:sldId id="278" r:id="rId10"/>
    <p:sldId id="281" r:id="rId11"/>
    <p:sldId id="282" r:id="rId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1" d="100"/>
          <a:sy n="71" d="100"/>
        </p:scale>
        <p:origin x="90" y="9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9367E5-11A5-4AD7-AA10-8EFD5A675EB6}" type="datetimeFigureOut">
              <a:rPr lang="fr-CA" smtClean="0"/>
              <a:t>2026-03-08</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613045-CD4D-4B3C-AC06-7DDD0D3F172D}" type="slidenum">
              <a:rPr lang="fr-CA" smtClean="0"/>
              <a:t>‹n°›</a:t>
            </a:fld>
            <a:endParaRPr lang="fr-CA"/>
          </a:p>
        </p:txBody>
      </p:sp>
    </p:spTree>
    <p:extLst>
      <p:ext uri="{BB962C8B-B14F-4D97-AF65-F5344CB8AC3E}">
        <p14:creationId xmlns:p14="http://schemas.microsoft.com/office/powerpoint/2010/main" val="634255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8DC129-55C4-4002-A9EF-924A8AF7434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a:extLst>
              <a:ext uri="{FF2B5EF4-FFF2-40B4-BE49-F238E27FC236}">
                <a16:creationId xmlns:a16="http://schemas.microsoft.com/office/drawing/2014/main" id="{01BD251E-4B0E-43F2-B569-2DD9D424B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3A39BFEC-CD16-4A11-8BDE-A495125D2949}"/>
              </a:ext>
            </a:extLst>
          </p:cNvPr>
          <p:cNvSpPr>
            <a:spLocks noGrp="1"/>
          </p:cNvSpPr>
          <p:nvPr>
            <p:ph type="dt" sz="half" idx="10"/>
          </p:nvPr>
        </p:nvSpPr>
        <p:spPr/>
        <p:txBody>
          <a:bodyPr/>
          <a:lstStyle/>
          <a:p>
            <a:fld id="{120457A7-402C-4A55-B6E5-24FCFC17691D}" type="datetime1">
              <a:rPr lang="fr-CA" smtClean="0"/>
              <a:t>2026-03-08</a:t>
            </a:fld>
            <a:endParaRPr lang="fr-CA"/>
          </a:p>
        </p:txBody>
      </p:sp>
      <p:sp>
        <p:nvSpPr>
          <p:cNvPr id="5" name="Espace réservé du pied de page 4">
            <a:extLst>
              <a:ext uri="{FF2B5EF4-FFF2-40B4-BE49-F238E27FC236}">
                <a16:creationId xmlns:a16="http://schemas.microsoft.com/office/drawing/2014/main" id="{4F51A34A-16D4-4DC6-9062-F5A14BE18CC4}"/>
              </a:ext>
            </a:extLst>
          </p:cNvPr>
          <p:cNvSpPr>
            <a:spLocks noGrp="1"/>
          </p:cNvSpPr>
          <p:nvPr>
            <p:ph type="ftr" sz="quarter" idx="11"/>
          </p:nvPr>
        </p:nvSpPr>
        <p:spPr/>
        <p:txBody>
          <a:bodyPr/>
          <a:lstStyle/>
          <a:p>
            <a:r>
              <a:rPr lang="fr-CA"/>
              <a:t>MEC8211 - Vérification et Validation en modélisation numérique</a:t>
            </a:r>
          </a:p>
        </p:txBody>
      </p:sp>
      <p:sp>
        <p:nvSpPr>
          <p:cNvPr id="6" name="Espace réservé du numéro de diapositive 5">
            <a:extLst>
              <a:ext uri="{FF2B5EF4-FFF2-40B4-BE49-F238E27FC236}">
                <a16:creationId xmlns:a16="http://schemas.microsoft.com/office/drawing/2014/main" id="{038A16D1-DDB8-47BC-8968-7A31F990CAFD}"/>
              </a:ext>
            </a:extLst>
          </p:cNvPr>
          <p:cNvSpPr>
            <a:spLocks noGrp="1"/>
          </p:cNvSpPr>
          <p:nvPr>
            <p:ph type="sldNum" sz="quarter" idx="12"/>
          </p:nvPr>
        </p:nvSpPr>
        <p:spPr/>
        <p:txBody>
          <a:bodyPr/>
          <a:lstStyle/>
          <a:p>
            <a:fld id="{AE98B90E-A98C-4311-8EBB-C91CA65B58E6}" type="slidenum">
              <a:rPr lang="fr-CA" smtClean="0"/>
              <a:t>‹n°›</a:t>
            </a:fld>
            <a:endParaRPr lang="fr-CA"/>
          </a:p>
        </p:txBody>
      </p:sp>
    </p:spTree>
    <p:extLst>
      <p:ext uri="{BB962C8B-B14F-4D97-AF65-F5344CB8AC3E}">
        <p14:creationId xmlns:p14="http://schemas.microsoft.com/office/powerpoint/2010/main" val="2403441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3295BA-0D2B-4047-8270-ADD78C06A4FD}"/>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4DDD64B7-DA6D-4F29-A067-056CE69F5EF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440E23A8-53C3-4C71-A832-6520CD1A1322}"/>
              </a:ext>
            </a:extLst>
          </p:cNvPr>
          <p:cNvSpPr>
            <a:spLocks noGrp="1"/>
          </p:cNvSpPr>
          <p:nvPr>
            <p:ph type="dt" sz="half" idx="10"/>
          </p:nvPr>
        </p:nvSpPr>
        <p:spPr/>
        <p:txBody>
          <a:bodyPr/>
          <a:lstStyle/>
          <a:p>
            <a:fld id="{709180FA-7D6B-4663-B51B-CF5FF53C0CE0}" type="datetime1">
              <a:rPr lang="fr-CA" smtClean="0"/>
              <a:t>2026-03-08</a:t>
            </a:fld>
            <a:endParaRPr lang="fr-CA"/>
          </a:p>
        </p:txBody>
      </p:sp>
      <p:sp>
        <p:nvSpPr>
          <p:cNvPr id="5" name="Espace réservé du pied de page 4">
            <a:extLst>
              <a:ext uri="{FF2B5EF4-FFF2-40B4-BE49-F238E27FC236}">
                <a16:creationId xmlns:a16="http://schemas.microsoft.com/office/drawing/2014/main" id="{38F5FD8A-75A7-4C9A-82B3-A6EB294689D0}"/>
              </a:ext>
            </a:extLst>
          </p:cNvPr>
          <p:cNvSpPr>
            <a:spLocks noGrp="1"/>
          </p:cNvSpPr>
          <p:nvPr>
            <p:ph type="ftr" sz="quarter" idx="11"/>
          </p:nvPr>
        </p:nvSpPr>
        <p:spPr/>
        <p:txBody>
          <a:bodyPr/>
          <a:lstStyle/>
          <a:p>
            <a:r>
              <a:rPr lang="fr-CA"/>
              <a:t>MEC8211 - Vérification et Validation en modélisation numérique</a:t>
            </a:r>
          </a:p>
        </p:txBody>
      </p:sp>
      <p:sp>
        <p:nvSpPr>
          <p:cNvPr id="6" name="Espace réservé du numéro de diapositive 5">
            <a:extLst>
              <a:ext uri="{FF2B5EF4-FFF2-40B4-BE49-F238E27FC236}">
                <a16:creationId xmlns:a16="http://schemas.microsoft.com/office/drawing/2014/main" id="{62D88406-77CE-4C7B-B30A-EB364A1E143B}"/>
              </a:ext>
            </a:extLst>
          </p:cNvPr>
          <p:cNvSpPr>
            <a:spLocks noGrp="1"/>
          </p:cNvSpPr>
          <p:nvPr>
            <p:ph type="sldNum" sz="quarter" idx="12"/>
          </p:nvPr>
        </p:nvSpPr>
        <p:spPr/>
        <p:txBody>
          <a:bodyPr/>
          <a:lstStyle/>
          <a:p>
            <a:fld id="{AE98B90E-A98C-4311-8EBB-C91CA65B58E6}" type="slidenum">
              <a:rPr lang="fr-CA" smtClean="0"/>
              <a:t>‹n°›</a:t>
            </a:fld>
            <a:endParaRPr lang="fr-CA"/>
          </a:p>
        </p:txBody>
      </p:sp>
    </p:spTree>
    <p:extLst>
      <p:ext uri="{BB962C8B-B14F-4D97-AF65-F5344CB8AC3E}">
        <p14:creationId xmlns:p14="http://schemas.microsoft.com/office/powerpoint/2010/main" val="1545229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E6936A-802A-4845-BA0F-2D58E837A00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6ED4375C-8CE7-4D29-B664-3AB4F5D920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2E0548B-BBDB-4308-A03B-3467C745322E}"/>
              </a:ext>
            </a:extLst>
          </p:cNvPr>
          <p:cNvSpPr>
            <a:spLocks noGrp="1"/>
          </p:cNvSpPr>
          <p:nvPr>
            <p:ph type="dt" sz="half" idx="10"/>
          </p:nvPr>
        </p:nvSpPr>
        <p:spPr/>
        <p:txBody>
          <a:bodyPr/>
          <a:lstStyle/>
          <a:p>
            <a:fld id="{CF783661-7E9C-4E6B-B8BB-7A9D4AF60B73}" type="datetime1">
              <a:rPr lang="fr-CA" smtClean="0"/>
              <a:t>2026-03-08</a:t>
            </a:fld>
            <a:endParaRPr lang="fr-CA"/>
          </a:p>
        </p:txBody>
      </p:sp>
      <p:sp>
        <p:nvSpPr>
          <p:cNvPr id="5" name="Espace réservé du pied de page 4">
            <a:extLst>
              <a:ext uri="{FF2B5EF4-FFF2-40B4-BE49-F238E27FC236}">
                <a16:creationId xmlns:a16="http://schemas.microsoft.com/office/drawing/2014/main" id="{97A07EC2-D49C-47B8-9328-18DE2B62CC65}"/>
              </a:ext>
            </a:extLst>
          </p:cNvPr>
          <p:cNvSpPr>
            <a:spLocks noGrp="1"/>
          </p:cNvSpPr>
          <p:nvPr>
            <p:ph type="ftr" sz="quarter" idx="11"/>
          </p:nvPr>
        </p:nvSpPr>
        <p:spPr/>
        <p:txBody>
          <a:bodyPr/>
          <a:lstStyle/>
          <a:p>
            <a:r>
              <a:rPr lang="fr-CA"/>
              <a:t>MEC8211 - Vérification et Validation en modélisation numérique</a:t>
            </a:r>
          </a:p>
        </p:txBody>
      </p:sp>
      <p:sp>
        <p:nvSpPr>
          <p:cNvPr id="6" name="Espace réservé du numéro de diapositive 5">
            <a:extLst>
              <a:ext uri="{FF2B5EF4-FFF2-40B4-BE49-F238E27FC236}">
                <a16:creationId xmlns:a16="http://schemas.microsoft.com/office/drawing/2014/main" id="{A0D51C54-055E-4F96-B0E5-24273D51A55B}"/>
              </a:ext>
            </a:extLst>
          </p:cNvPr>
          <p:cNvSpPr>
            <a:spLocks noGrp="1"/>
          </p:cNvSpPr>
          <p:nvPr>
            <p:ph type="sldNum" sz="quarter" idx="12"/>
          </p:nvPr>
        </p:nvSpPr>
        <p:spPr/>
        <p:txBody>
          <a:bodyPr/>
          <a:lstStyle/>
          <a:p>
            <a:fld id="{AE98B90E-A98C-4311-8EBB-C91CA65B58E6}" type="slidenum">
              <a:rPr lang="fr-CA" smtClean="0"/>
              <a:t>‹n°›</a:t>
            </a:fld>
            <a:endParaRPr lang="fr-CA"/>
          </a:p>
        </p:txBody>
      </p:sp>
    </p:spTree>
    <p:extLst>
      <p:ext uri="{BB962C8B-B14F-4D97-AF65-F5344CB8AC3E}">
        <p14:creationId xmlns:p14="http://schemas.microsoft.com/office/powerpoint/2010/main" val="4081940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88A17E-CC14-4B6E-B128-2730660F4913}"/>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4094A9B3-F1FB-4C20-8F92-E00CC2CF4B5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67EEAE13-B4A5-4B9A-95D4-435DAFEDA25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A637BDF7-3D39-4495-AD2D-254B18DBE639}"/>
              </a:ext>
            </a:extLst>
          </p:cNvPr>
          <p:cNvSpPr>
            <a:spLocks noGrp="1"/>
          </p:cNvSpPr>
          <p:nvPr>
            <p:ph type="dt" sz="half" idx="10"/>
          </p:nvPr>
        </p:nvSpPr>
        <p:spPr/>
        <p:txBody>
          <a:bodyPr/>
          <a:lstStyle/>
          <a:p>
            <a:fld id="{014298E7-17B7-4895-AB87-F4B9E1CE6ED3}" type="datetime1">
              <a:rPr lang="fr-CA" smtClean="0"/>
              <a:t>2026-03-08</a:t>
            </a:fld>
            <a:endParaRPr lang="fr-CA"/>
          </a:p>
        </p:txBody>
      </p:sp>
      <p:sp>
        <p:nvSpPr>
          <p:cNvPr id="6" name="Espace réservé du pied de page 5">
            <a:extLst>
              <a:ext uri="{FF2B5EF4-FFF2-40B4-BE49-F238E27FC236}">
                <a16:creationId xmlns:a16="http://schemas.microsoft.com/office/drawing/2014/main" id="{C9F3985E-612A-4265-A328-E69DD4C18436}"/>
              </a:ext>
            </a:extLst>
          </p:cNvPr>
          <p:cNvSpPr>
            <a:spLocks noGrp="1"/>
          </p:cNvSpPr>
          <p:nvPr>
            <p:ph type="ftr" sz="quarter" idx="11"/>
          </p:nvPr>
        </p:nvSpPr>
        <p:spPr/>
        <p:txBody>
          <a:bodyPr/>
          <a:lstStyle/>
          <a:p>
            <a:r>
              <a:rPr lang="fr-CA"/>
              <a:t>MEC8211 - Vérification et Validation en modélisation numérique</a:t>
            </a:r>
          </a:p>
        </p:txBody>
      </p:sp>
      <p:sp>
        <p:nvSpPr>
          <p:cNvPr id="7" name="Espace réservé du numéro de diapositive 6">
            <a:extLst>
              <a:ext uri="{FF2B5EF4-FFF2-40B4-BE49-F238E27FC236}">
                <a16:creationId xmlns:a16="http://schemas.microsoft.com/office/drawing/2014/main" id="{EE39C1D3-8CF2-4673-BEDA-B67903103C6D}"/>
              </a:ext>
            </a:extLst>
          </p:cNvPr>
          <p:cNvSpPr>
            <a:spLocks noGrp="1"/>
          </p:cNvSpPr>
          <p:nvPr>
            <p:ph type="sldNum" sz="quarter" idx="12"/>
          </p:nvPr>
        </p:nvSpPr>
        <p:spPr/>
        <p:txBody>
          <a:bodyPr/>
          <a:lstStyle/>
          <a:p>
            <a:fld id="{AE98B90E-A98C-4311-8EBB-C91CA65B58E6}" type="slidenum">
              <a:rPr lang="fr-CA" smtClean="0"/>
              <a:t>‹n°›</a:t>
            </a:fld>
            <a:endParaRPr lang="fr-CA"/>
          </a:p>
        </p:txBody>
      </p:sp>
    </p:spTree>
    <p:extLst>
      <p:ext uri="{BB962C8B-B14F-4D97-AF65-F5344CB8AC3E}">
        <p14:creationId xmlns:p14="http://schemas.microsoft.com/office/powerpoint/2010/main" val="331748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C07E75-B1EF-4258-8064-784FF22CA0C9}"/>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B181FA33-1FB8-45CF-A204-237EEAE625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C0C302F-B24A-449A-86BB-B051210F945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4AF9C7E0-F181-432A-BDAB-64CAB6A727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B4528CF-BE2D-4AF7-828B-686DD8734F9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9017BA58-FC36-4F4C-A615-D8B712A91DFD}"/>
              </a:ext>
            </a:extLst>
          </p:cNvPr>
          <p:cNvSpPr>
            <a:spLocks noGrp="1"/>
          </p:cNvSpPr>
          <p:nvPr>
            <p:ph type="dt" sz="half" idx="10"/>
          </p:nvPr>
        </p:nvSpPr>
        <p:spPr/>
        <p:txBody>
          <a:bodyPr/>
          <a:lstStyle/>
          <a:p>
            <a:fld id="{533B7933-03FC-4C21-AF61-18CF824D5452}" type="datetime1">
              <a:rPr lang="fr-CA" smtClean="0"/>
              <a:t>2026-03-08</a:t>
            </a:fld>
            <a:endParaRPr lang="fr-CA"/>
          </a:p>
        </p:txBody>
      </p:sp>
      <p:sp>
        <p:nvSpPr>
          <p:cNvPr id="8" name="Espace réservé du pied de page 7">
            <a:extLst>
              <a:ext uri="{FF2B5EF4-FFF2-40B4-BE49-F238E27FC236}">
                <a16:creationId xmlns:a16="http://schemas.microsoft.com/office/drawing/2014/main" id="{0510C197-39A0-4AFB-820A-D20F94B99B38}"/>
              </a:ext>
            </a:extLst>
          </p:cNvPr>
          <p:cNvSpPr>
            <a:spLocks noGrp="1"/>
          </p:cNvSpPr>
          <p:nvPr>
            <p:ph type="ftr" sz="quarter" idx="11"/>
          </p:nvPr>
        </p:nvSpPr>
        <p:spPr/>
        <p:txBody>
          <a:bodyPr/>
          <a:lstStyle/>
          <a:p>
            <a:r>
              <a:rPr lang="fr-CA"/>
              <a:t>MEC8211 - Vérification et Validation en modélisation numérique</a:t>
            </a:r>
          </a:p>
        </p:txBody>
      </p:sp>
      <p:sp>
        <p:nvSpPr>
          <p:cNvPr id="9" name="Espace réservé du numéro de diapositive 8">
            <a:extLst>
              <a:ext uri="{FF2B5EF4-FFF2-40B4-BE49-F238E27FC236}">
                <a16:creationId xmlns:a16="http://schemas.microsoft.com/office/drawing/2014/main" id="{9E97B9E5-2281-405F-AF51-13A40742C431}"/>
              </a:ext>
            </a:extLst>
          </p:cNvPr>
          <p:cNvSpPr>
            <a:spLocks noGrp="1"/>
          </p:cNvSpPr>
          <p:nvPr>
            <p:ph type="sldNum" sz="quarter" idx="12"/>
          </p:nvPr>
        </p:nvSpPr>
        <p:spPr/>
        <p:txBody>
          <a:bodyPr/>
          <a:lstStyle/>
          <a:p>
            <a:fld id="{AE98B90E-A98C-4311-8EBB-C91CA65B58E6}" type="slidenum">
              <a:rPr lang="fr-CA" smtClean="0"/>
              <a:t>‹n°›</a:t>
            </a:fld>
            <a:endParaRPr lang="fr-CA"/>
          </a:p>
        </p:txBody>
      </p:sp>
    </p:spTree>
    <p:extLst>
      <p:ext uri="{BB962C8B-B14F-4D97-AF65-F5344CB8AC3E}">
        <p14:creationId xmlns:p14="http://schemas.microsoft.com/office/powerpoint/2010/main" val="3506232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0698E9-3466-4B39-AADE-A8A6C3065174}"/>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337AFD52-9DB1-4F1F-BE5F-AF54290318FF}"/>
              </a:ext>
            </a:extLst>
          </p:cNvPr>
          <p:cNvSpPr>
            <a:spLocks noGrp="1"/>
          </p:cNvSpPr>
          <p:nvPr>
            <p:ph type="dt" sz="half" idx="10"/>
          </p:nvPr>
        </p:nvSpPr>
        <p:spPr/>
        <p:txBody>
          <a:bodyPr/>
          <a:lstStyle/>
          <a:p>
            <a:fld id="{19C0B8BB-EB56-4E60-935C-037BD8CF0947}" type="datetime1">
              <a:rPr lang="fr-CA" smtClean="0"/>
              <a:t>2026-03-08</a:t>
            </a:fld>
            <a:endParaRPr lang="fr-CA"/>
          </a:p>
        </p:txBody>
      </p:sp>
      <p:sp>
        <p:nvSpPr>
          <p:cNvPr id="4" name="Espace réservé du pied de page 3">
            <a:extLst>
              <a:ext uri="{FF2B5EF4-FFF2-40B4-BE49-F238E27FC236}">
                <a16:creationId xmlns:a16="http://schemas.microsoft.com/office/drawing/2014/main" id="{4068F06E-59F5-40A9-9CDB-61E4ADA00B37}"/>
              </a:ext>
            </a:extLst>
          </p:cNvPr>
          <p:cNvSpPr>
            <a:spLocks noGrp="1"/>
          </p:cNvSpPr>
          <p:nvPr>
            <p:ph type="ftr" sz="quarter" idx="11"/>
          </p:nvPr>
        </p:nvSpPr>
        <p:spPr/>
        <p:txBody>
          <a:bodyPr/>
          <a:lstStyle/>
          <a:p>
            <a:r>
              <a:rPr lang="fr-CA"/>
              <a:t>MEC8211 - Vérification et Validation en modélisation numérique</a:t>
            </a:r>
          </a:p>
        </p:txBody>
      </p:sp>
      <p:sp>
        <p:nvSpPr>
          <p:cNvPr id="5" name="Espace réservé du numéro de diapositive 4">
            <a:extLst>
              <a:ext uri="{FF2B5EF4-FFF2-40B4-BE49-F238E27FC236}">
                <a16:creationId xmlns:a16="http://schemas.microsoft.com/office/drawing/2014/main" id="{B24F3591-E399-440F-AEB7-8C3457EF0C3A}"/>
              </a:ext>
            </a:extLst>
          </p:cNvPr>
          <p:cNvSpPr>
            <a:spLocks noGrp="1"/>
          </p:cNvSpPr>
          <p:nvPr>
            <p:ph type="sldNum" sz="quarter" idx="12"/>
          </p:nvPr>
        </p:nvSpPr>
        <p:spPr/>
        <p:txBody>
          <a:bodyPr/>
          <a:lstStyle/>
          <a:p>
            <a:fld id="{AE98B90E-A98C-4311-8EBB-C91CA65B58E6}" type="slidenum">
              <a:rPr lang="fr-CA" smtClean="0"/>
              <a:t>‹n°›</a:t>
            </a:fld>
            <a:endParaRPr lang="fr-CA"/>
          </a:p>
        </p:txBody>
      </p:sp>
    </p:spTree>
    <p:extLst>
      <p:ext uri="{BB962C8B-B14F-4D97-AF65-F5344CB8AC3E}">
        <p14:creationId xmlns:p14="http://schemas.microsoft.com/office/powerpoint/2010/main" val="3792041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D3B7FF4-81F8-488B-9188-D3AA46ED2BEC}"/>
              </a:ext>
            </a:extLst>
          </p:cNvPr>
          <p:cNvSpPr>
            <a:spLocks noGrp="1"/>
          </p:cNvSpPr>
          <p:nvPr>
            <p:ph type="dt" sz="half" idx="10"/>
          </p:nvPr>
        </p:nvSpPr>
        <p:spPr/>
        <p:txBody>
          <a:bodyPr/>
          <a:lstStyle/>
          <a:p>
            <a:fld id="{4F79BA0A-3328-4E73-A88C-2B6A64C8AD87}" type="datetime1">
              <a:rPr lang="fr-CA" smtClean="0"/>
              <a:t>2026-03-08</a:t>
            </a:fld>
            <a:endParaRPr lang="fr-CA"/>
          </a:p>
        </p:txBody>
      </p:sp>
      <p:sp>
        <p:nvSpPr>
          <p:cNvPr id="3" name="Espace réservé du pied de page 2">
            <a:extLst>
              <a:ext uri="{FF2B5EF4-FFF2-40B4-BE49-F238E27FC236}">
                <a16:creationId xmlns:a16="http://schemas.microsoft.com/office/drawing/2014/main" id="{C039E8AD-4A60-47FB-B6E5-0C11E845FB11}"/>
              </a:ext>
            </a:extLst>
          </p:cNvPr>
          <p:cNvSpPr>
            <a:spLocks noGrp="1"/>
          </p:cNvSpPr>
          <p:nvPr>
            <p:ph type="ftr" sz="quarter" idx="11"/>
          </p:nvPr>
        </p:nvSpPr>
        <p:spPr/>
        <p:txBody>
          <a:bodyPr/>
          <a:lstStyle/>
          <a:p>
            <a:r>
              <a:rPr lang="fr-CA"/>
              <a:t>MEC8211 - Vérification et Validation en modélisation numérique</a:t>
            </a:r>
          </a:p>
        </p:txBody>
      </p:sp>
      <p:sp>
        <p:nvSpPr>
          <p:cNvPr id="4" name="Espace réservé du numéro de diapositive 3">
            <a:extLst>
              <a:ext uri="{FF2B5EF4-FFF2-40B4-BE49-F238E27FC236}">
                <a16:creationId xmlns:a16="http://schemas.microsoft.com/office/drawing/2014/main" id="{3C3EDE5B-C65E-4AA5-87B1-1A253E64B49E}"/>
              </a:ext>
            </a:extLst>
          </p:cNvPr>
          <p:cNvSpPr>
            <a:spLocks noGrp="1"/>
          </p:cNvSpPr>
          <p:nvPr>
            <p:ph type="sldNum" sz="quarter" idx="12"/>
          </p:nvPr>
        </p:nvSpPr>
        <p:spPr/>
        <p:txBody>
          <a:bodyPr/>
          <a:lstStyle/>
          <a:p>
            <a:fld id="{AE98B90E-A98C-4311-8EBB-C91CA65B58E6}" type="slidenum">
              <a:rPr lang="fr-CA" smtClean="0"/>
              <a:t>‹n°›</a:t>
            </a:fld>
            <a:endParaRPr lang="fr-CA"/>
          </a:p>
        </p:txBody>
      </p:sp>
    </p:spTree>
    <p:extLst>
      <p:ext uri="{BB962C8B-B14F-4D97-AF65-F5344CB8AC3E}">
        <p14:creationId xmlns:p14="http://schemas.microsoft.com/office/powerpoint/2010/main" val="2004575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43206B-E22E-4FE3-8341-4566C133601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090E882C-E542-488E-974D-889C1CCB10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AEFA0197-2369-4F9B-B756-2E3D1E331A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DCF8075-8BE9-45CA-9838-C38531B02DE0}"/>
              </a:ext>
            </a:extLst>
          </p:cNvPr>
          <p:cNvSpPr>
            <a:spLocks noGrp="1"/>
          </p:cNvSpPr>
          <p:nvPr>
            <p:ph type="dt" sz="half" idx="10"/>
          </p:nvPr>
        </p:nvSpPr>
        <p:spPr/>
        <p:txBody>
          <a:bodyPr/>
          <a:lstStyle/>
          <a:p>
            <a:fld id="{A78428AD-C6E4-482E-8202-FE5B7A3496B9}" type="datetime1">
              <a:rPr lang="fr-CA" smtClean="0"/>
              <a:t>2026-03-08</a:t>
            </a:fld>
            <a:endParaRPr lang="fr-CA"/>
          </a:p>
        </p:txBody>
      </p:sp>
      <p:sp>
        <p:nvSpPr>
          <p:cNvPr id="6" name="Espace réservé du pied de page 5">
            <a:extLst>
              <a:ext uri="{FF2B5EF4-FFF2-40B4-BE49-F238E27FC236}">
                <a16:creationId xmlns:a16="http://schemas.microsoft.com/office/drawing/2014/main" id="{99940230-6166-4666-A612-84D6E6325713}"/>
              </a:ext>
            </a:extLst>
          </p:cNvPr>
          <p:cNvSpPr>
            <a:spLocks noGrp="1"/>
          </p:cNvSpPr>
          <p:nvPr>
            <p:ph type="ftr" sz="quarter" idx="11"/>
          </p:nvPr>
        </p:nvSpPr>
        <p:spPr/>
        <p:txBody>
          <a:bodyPr/>
          <a:lstStyle/>
          <a:p>
            <a:r>
              <a:rPr lang="fr-CA"/>
              <a:t>MEC8211 - Vérification et Validation en modélisation numérique</a:t>
            </a:r>
          </a:p>
        </p:txBody>
      </p:sp>
      <p:sp>
        <p:nvSpPr>
          <p:cNvPr id="7" name="Espace réservé du numéro de diapositive 6">
            <a:extLst>
              <a:ext uri="{FF2B5EF4-FFF2-40B4-BE49-F238E27FC236}">
                <a16:creationId xmlns:a16="http://schemas.microsoft.com/office/drawing/2014/main" id="{1461BC9F-6917-45D5-9553-407C1B350D46}"/>
              </a:ext>
            </a:extLst>
          </p:cNvPr>
          <p:cNvSpPr>
            <a:spLocks noGrp="1"/>
          </p:cNvSpPr>
          <p:nvPr>
            <p:ph type="sldNum" sz="quarter" idx="12"/>
          </p:nvPr>
        </p:nvSpPr>
        <p:spPr/>
        <p:txBody>
          <a:bodyPr/>
          <a:lstStyle/>
          <a:p>
            <a:fld id="{AE98B90E-A98C-4311-8EBB-C91CA65B58E6}" type="slidenum">
              <a:rPr lang="fr-CA" smtClean="0"/>
              <a:t>‹n°›</a:t>
            </a:fld>
            <a:endParaRPr lang="fr-CA"/>
          </a:p>
        </p:txBody>
      </p:sp>
    </p:spTree>
    <p:extLst>
      <p:ext uri="{BB962C8B-B14F-4D97-AF65-F5344CB8AC3E}">
        <p14:creationId xmlns:p14="http://schemas.microsoft.com/office/powerpoint/2010/main" val="1433408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AA2DBE-843C-4819-9ED1-F6D45BFE262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76C8882A-B3E9-4EAD-94ED-3812360C89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1621A08A-FAD5-4200-BC7D-AE63D59FD5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966861F-86E7-4DD3-877F-D8B75421E877}"/>
              </a:ext>
            </a:extLst>
          </p:cNvPr>
          <p:cNvSpPr>
            <a:spLocks noGrp="1"/>
          </p:cNvSpPr>
          <p:nvPr>
            <p:ph type="dt" sz="half" idx="10"/>
          </p:nvPr>
        </p:nvSpPr>
        <p:spPr/>
        <p:txBody>
          <a:bodyPr/>
          <a:lstStyle/>
          <a:p>
            <a:fld id="{D109ED33-3F0A-4C4E-8773-CDAA1A6CD7DE}" type="datetime1">
              <a:rPr lang="fr-CA" smtClean="0"/>
              <a:t>2026-03-08</a:t>
            </a:fld>
            <a:endParaRPr lang="fr-CA"/>
          </a:p>
        </p:txBody>
      </p:sp>
      <p:sp>
        <p:nvSpPr>
          <p:cNvPr id="6" name="Espace réservé du pied de page 5">
            <a:extLst>
              <a:ext uri="{FF2B5EF4-FFF2-40B4-BE49-F238E27FC236}">
                <a16:creationId xmlns:a16="http://schemas.microsoft.com/office/drawing/2014/main" id="{B48234A6-8F27-4342-B9DA-D9836F449A6B}"/>
              </a:ext>
            </a:extLst>
          </p:cNvPr>
          <p:cNvSpPr>
            <a:spLocks noGrp="1"/>
          </p:cNvSpPr>
          <p:nvPr>
            <p:ph type="ftr" sz="quarter" idx="11"/>
          </p:nvPr>
        </p:nvSpPr>
        <p:spPr/>
        <p:txBody>
          <a:bodyPr/>
          <a:lstStyle/>
          <a:p>
            <a:r>
              <a:rPr lang="fr-CA"/>
              <a:t>MEC8211 - Vérification et Validation en modélisation numérique</a:t>
            </a:r>
          </a:p>
        </p:txBody>
      </p:sp>
      <p:sp>
        <p:nvSpPr>
          <p:cNvPr id="7" name="Espace réservé du numéro de diapositive 6">
            <a:extLst>
              <a:ext uri="{FF2B5EF4-FFF2-40B4-BE49-F238E27FC236}">
                <a16:creationId xmlns:a16="http://schemas.microsoft.com/office/drawing/2014/main" id="{ABAA5E05-729E-447A-A43C-FCD0D57CC0E5}"/>
              </a:ext>
            </a:extLst>
          </p:cNvPr>
          <p:cNvSpPr>
            <a:spLocks noGrp="1"/>
          </p:cNvSpPr>
          <p:nvPr>
            <p:ph type="sldNum" sz="quarter" idx="12"/>
          </p:nvPr>
        </p:nvSpPr>
        <p:spPr/>
        <p:txBody>
          <a:bodyPr/>
          <a:lstStyle/>
          <a:p>
            <a:fld id="{AE98B90E-A98C-4311-8EBB-C91CA65B58E6}" type="slidenum">
              <a:rPr lang="fr-CA" smtClean="0"/>
              <a:t>‹n°›</a:t>
            </a:fld>
            <a:endParaRPr lang="fr-CA"/>
          </a:p>
        </p:txBody>
      </p:sp>
    </p:spTree>
    <p:extLst>
      <p:ext uri="{BB962C8B-B14F-4D97-AF65-F5344CB8AC3E}">
        <p14:creationId xmlns:p14="http://schemas.microsoft.com/office/powerpoint/2010/main" val="3978430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AA5613-8805-4A0D-9252-676DAB0B4CAF}"/>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BA3F6851-3CB0-4A5D-929D-A139BD170C3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AACD816E-898B-4D15-B187-8F95DB90C4D8}"/>
              </a:ext>
            </a:extLst>
          </p:cNvPr>
          <p:cNvSpPr>
            <a:spLocks noGrp="1"/>
          </p:cNvSpPr>
          <p:nvPr>
            <p:ph type="dt" sz="half" idx="10"/>
          </p:nvPr>
        </p:nvSpPr>
        <p:spPr/>
        <p:txBody>
          <a:bodyPr/>
          <a:lstStyle/>
          <a:p>
            <a:fld id="{D4CBE665-F220-4E1C-8A54-F941917EF7D5}" type="datetime1">
              <a:rPr lang="fr-CA" smtClean="0"/>
              <a:t>2026-03-08</a:t>
            </a:fld>
            <a:endParaRPr lang="fr-CA"/>
          </a:p>
        </p:txBody>
      </p:sp>
      <p:sp>
        <p:nvSpPr>
          <p:cNvPr id="5" name="Espace réservé du pied de page 4">
            <a:extLst>
              <a:ext uri="{FF2B5EF4-FFF2-40B4-BE49-F238E27FC236}">
                <a16:creationId xmlns:a16="http://schemas.microsoft.com/office/drawing/2014/main" id="{E635FA83-47B2-473B-B59E-F3A2C961CB0F}"/>
              </a:ext>
            </a:extLst>
          </p:cNvPr>
          <p:cNvSpPr>
            <a:spLocks noGrp="1"/>
          </p:cNvSpPr>
          <p:nvPr>
            <p:ph type="ftr" sz="quarter" idx="11"/>
          </p:nvPr>
        </p:nvSpPr>
        <p:spPr/>
        <p:txBody>
          <a:bodyPr/>
          <a:lstStyle/>
          <a:p>
            <a:r>
              <a:rPr lang="fr-CA"/>
              <a:t>MEC8211 - Vérification et Validation en modélisation numérique</a:t>
            </a:r>
          </a:p>
        </p:txBody>
      </p:sp>
      <p:sp>
        <p:nvSpPr>
          <p:cNvPr id="6" name="Espace réservé du numéro de diapositive 5">
            <a:extLst>
              <a:ext uri="{FF2B5EF4-FFF2-40B4-BE49-F238E27FC236}">
                <a16:creationId xmlns:a16="http://schemas.microsoft.com/office/drawing/2014/main" id="{25F03320-F38E-4BE0-B938-B0496ABB9031}"/>
              </a:ext>
            </a:extLst>
          </p:cNvPr>
          <p:cNvSpPr>
            <a:spLocks noGrp="1"/>
          </p:cNvSpPr>
          <p:nvPr>
            <p:ph type="sldNum" sz="quarter" idx="12"/>
          </p:nvPr>
        </p:nvSpPr>
        <p:spPr/>
        <p:txBody>
          <a:bodyPr/>
          <a:lstStyle/>
          <a:p>
            <a:fld id="{AE98B90E-A98C-4311-8EBB-C91CA65B58E6}" type="slidenum">
              <a:rPr lang="fr-CA" smtClean="0"/>
              <a:t>‹n°›</a:t>
            </a:fld>
            <a:endParaRPr lang="fr-CA"/>
          </a:p>
        </p:txBody>
      </p:sp>
    </p:spTree>
    <p:extLst>
      <p:ext uri="{BB962C8B-B14F-4D97-AF65-F5344CB8AC3E}">
        <p14:creationId xmlns:p14="http://schemas.microsoft.com/office/powerpoint/2010/main" val="3284763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1D2E308-2710-4280-9F94-7EA3411640BB}"/>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BE1430B8-BEA4-4718-951C-3E09B21010A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35637292-64BD-4D0B-93A6-E758FAD5E4CF}"/>
              </a:ext>
            </a:extLst>
          </p:cNvPr>
          <p:cNvSpPr>
            <a:spLocks noGrp="1"/>
          </p:cNvSpPr>
          <p:nvPr>
            <p:ph type="dt" sz="half" idx="10"/>
          </p:nvPr>
        </p:nvSpPr>
        <p:spPr/>
        <p:txBody>
          <a:bodyPr/>
          <a:lstStyle/>
          <a:p>
            <a:fld id="{EFA3AFAA-FB8A-46C9-899D-B08048851B4A}" type="datetime1">
              <a:rPr lang="fr-CA" smtClean="0"/>
              <a:t>2026-03-08</a:t>
            </a:fld>
            <a:endParaRPr lang="fr-CA"/>
          </a:p>
        </p:txBody>
      </p:sp>
      <p:sp>
        <p:nvSpPr>
          <p:cNvPr id="5" name="Espace réservé du pied de page 4">
            <a:extLst>
              <a:ext uri="{FF2B5EF4-FFF2-40B4-BE49-F238E27FC236}">
                <a16:creationId xmlns:a16="http://schemas.microsoft.com/office/drawing/2014/main" id="{5F5B6284-FCF4-459A-B6B7-439FE1676B41}"/>
              </a:ext>
            </a:extLst>
          </p:cNvPr>
          <p:cNvSpPr>
            <a:spLocks noGrp="1"/>
          </p:cNvSpPr>
          <p:nvPr>
            <p:ph type="ftr" sz="quarter" idx="11"/>
          </p:nvPr>
        </p:nvSpPr>
        <p:spPr/>
        <p:txBody>
          <a:bodyPr/>
          <a:lstStyle/>
          <a:p>
            <a:r>
              <a:rPr lang="fr-CA"/>
              <a:t>MEC8211 - Vérification et Validation en modélisation numérique</a:t>
            </a:r>
          </a:p>
        </p:txBody>
      </p:sp>
      <p:sp>
        <p:nvSpPr>
          <p:cNvPr id="6" name="Espace réservé du numéro de diapositive 5">
            <a:extLst>
              <a:ext uri="{FF2B5EF4-FFF2-40B4-BE49-F238E27FC236}">
                <a16:creationId xmlns:a16="http://schemas.microsoft.com/office/drawing/2014/main" id="{D82160A1-3AD5-496A-B843-840259C7C507}"/>
              </a:ext>
            </a:extLst>
          </p:cNvPr>
          <p:cNvSpPr>
            <a:spLocks noGrp="1"/>
          </p:cNvSpPr>
          <p:nvPr>
            <p:ph type="sldNum" sz="quarter" idx="12"/>
          </p:nvPr>
        </p:nvSpPr>
        <p:spPr/>
        <p:txBody>
          <a:bodyPr/>
          <a:lstStyle/>
          <a:p>
            <a:fld id="{AE98B90E-A98C-4311-8EBB-C91CA65B58E6}" type="slidenum">
              <a:rPr lang="fr-CA" smtClean="0"/>
              <a:t>‹n°›</a:t>
            </a:fld>
            <a:endParaRPr lang="fr-CA"/>
          </a:p>
        </p:txBody>
      </p:sp>
    </p:spTree>
    <p:extLst>
      <p:ext uri="{BB962C8B-B14F-4D97-AF65-F5344CB8AC3E}">
        <p14:creationId xmlns:p14="http://schemas.microsoft.com/office/powerpoint/2010/main" val="1132826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853F811-6F94-4790-B3CF-55D7DF0802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D4835580-225E-45F9-851D-433CDAF6E5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8B7FEEEC-50A2-41AC-BD58-2433576991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0BA981-2D08-45F4-94BB-BA9A8B6AED3A}" type="datetime1">
              <a:rPr lang="fr-CA" smtClean="0"/>
              <a:t>2026-03-08</a:t>
            </a:fld>
            <a:endParaRPr lang="fr-CA"/>
          </a:p>
        </p:txBody>
      </p:sp>
      <p:sp>
        <p:nvSpPr>
          <p:cNvPr id="5" name="Espace réservé du pied de page 4">
            <a:extLst>
              <a:ext uri="{FF2B5EF4-FFF2-40B4-BE49-F238E27FC236}">
                <a16:creationId xmlns:a16="http://schemas.microsoft.com/office/drawing/2014/main" id="{D6E7BB97-2DA8-40A6-A033-D5F75ECF83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CA"/>
              <a:t>MEC8211 - Vérification et Validation en modélisation numérique</a:t>
            </a:r>
          </a:p>
        </p:txBody>
      </p:sp>
      <p:sp>
        <p:nvSpPr>
          <p:cNvPr id="6" name="Espace réservé du numéro de diapositive 5">
            <a:extLst>
              <a:ext uri="{FF2B5EF4-FFF2-40B4-BE49-F238E27FC236}">
                <a16:creationId xmlns:a16="http://schemas.microsoft.com/office/drawing/2014/main" id="{2CD68633-AFD0-4D3B-A161-2B36CE1BDF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98B90E-A98C-4311-8EBB-C91CA65B58E6}" type="slidenum">
              <a:rPr lang="fr-CA" smtClean="0"/>
              <a:t>‹n°›</a:t>
            </a:fld>
            <a:endParaRPr lang="fr-CA"/>
          </a:p>
        </p:txBody>
      </p:sp>
    </p:spTree>
    <p:extLst>
      <p:ext uri="{BB962C8B-B14F-4D97-AF65-F5344CB8AC3E}">
        <p14:creationId xmlns:p14="http://schemas.microsoft.com/office/powerpoint/2010/main" val="1343647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Kameleonn/MEC821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23F518-C3B2-41DB-865B-370EA015C8BB}"/>
              </a:ext>
            </a:extLst>
          </p:cNvPr>
          <p:cNvSpPr>
            <a:spLocks noGrp="1"/>
          </p:cNvSpPr>
          <p:nvPr>
            <p:ph type="ctrTitle"/>
          </p:nvPr>
        </p:nvSpPr>
        <p:spPr>
          <a:xfrm>
            <a:off x="1524000" y="2082800"/>
            <a:ext cx="9144000" cy="1198563"/>
          </a:xfrm>
        </p:spPr>
        <p:txBody>
          <a:bodyPr>
            <a:noAutofit/>
          </a:bodyPr>
          <a:lstStyle/>
          <a:p>
            <a:r>
              <a:rPr lang="fr-FR" sz="3200" noProof="0" dirty="0">
                <a:latin typeface="+mn-lt"/>
              </a:rPr>
              <a:t>Devoir 2 – Vérification de code – MMS </a:t>
            </a:r>
            <a:endParaRPr lang="fr-FR" sz="3200" i="1" noProof="0" dirty="0">
              <a:latin typeface="+mn-lt"/>
            </a:endParaRPr>
          </a:p>
        </p:txBody>
      </p:sp>
      <p:sp>
        <p:nvSpPr>
          <p:cNvPr id="3" name="Sous-titre 2">
            <a:extLst>
              <a:ext uri="{FF2B5EF4-FFF2-40B4-BE49-F238E27FC236}">
                <a16:creationId xmlns:a16="http://schemas.microsoft.com/office/drawing/2014/main" id="{E80DEDC9-8027-41B2-977A-EE4140BF8923}"/>
              </a:ext>
            </a:extLst>
          </p:cNvPr>
          <p:cNvSpPr>
            <a:spLocks noGrp="1"/>
          </p:cNvSpPr>
          <p:nvPr>
            <p:ph type="subTitle" idx="1"/>
          </p:nvPr>
        </p:nvSpPr>
        <p:spPr>
          <a:xfrm>
            <a:off x="1524000" y="3432705"/>
            <a:ext cx="9144000" cy="1655762"/>
          </a:xfrm>
        </p:spPr>
        <p:txBody>
          <a:bodyPr/>
          <a:lstStyle/>
          <a:p>
            <a:r>
              <a:rPr lang="fr-FR" noProof="0" dirty="0"/>
              <a:t>Yusuf-Islam Dadi (2221097)</a:t>
            </a:r>
          </a:p>
          <a:p>
            <a:r>
              <a:rPr lang="fr-FR" noProof="0" dirty="0"/>
              <a:t>Issam Meriem (2207845)</a:t>
            </a:r>
          </a:p>
          <a:p>
            <a:r>
              <a:rPr lang="fr-FR" noProof="0" dirty="0"/>
              <a:t>Juliette </a:t>
            </a:r>
            <a:r>
              <a:rPr lang="fr-FR" noProof="0" dirty="0" err="1"/>
              <a:t>Grisel</a:t>
            </a:r>
            <a:r>
              <a:rPr lang="fr-FR" noProof="0" dirty="0"/>
              <a:t> (2491244)</a:t>
            </a:r>
          </a:p>
          <a:p>
            <a:endParaRPr lang="fr-FR" noProof="0" dirty="0"/>
          </a:p>
        </p:txBody>
      </p:sp>
      <p:cxnSp>
        <p:nvCxnSpPr>
          <p:cNvPr id="5" name="Connecteur droit 4">
            <a:extLst>
              <a:ext uri="{FF2B5EF4-FFF2-40B4-BE49-F238E27FC236}">
                <a16:creationId xmlns:a16="http://schemas.microsoft.com/office/drawing/2014/main" id="{0EACA4BC-8099-42C0-A93D-D32DA2F52F66}"/>
              </a:ext>
            </a:extLst>
          </p:cNvPr>
          <p:cNvCxnSpPr/>
          <p:nvPr/>
        </p:nvCxnSpPr>
        <p:spPr>
          <a:xfrm>
            <a:off x="1274233" y="3286126"/>
            <a:ext cx="9643533" cy="0"/>
          </a:xfrm>
          <a:prstGeom prst="line">
            <a:avLst/>
          </a:prstGeom>
          <a:ln w="28575"/>
        </p:spPr>
        <p:style>
          <a:lnRef idx="3">
            <a:schemeClr val="accent6"/>
          </a:lnRef>
          <a:fillRef idx="0">
            <a:schemeClr val="accent6"/>
          </a:fillRef>
          <a:effectRef idx="2">
            <a:schemeClr val="accent6"/>
          </a:effectRef>
          <a:fontRef idx="minor">
            <a:schemeClr val="tx1"/>
          </a:fontRef>
        </p:style>
      </p:cxnSp>
      <p:pic>
        <p:nvPicPr>
          <p:cNvPr id="1026" name="Picture 2" descr="Polytechnique Montréal | Polytechnique Montréal est l'un des plus  importants établissements d'enseignement et de recherche en génie au Canada">
            <a:extLst>
              <a:ext uri="{FF2B5EF4-FFF2-40B4-BE49-F238E27FC236}">
                <a16:creationId xmlns:a16="http://schemas.microsoft.com/office/drawing/2014/main" id="{E6158C2C-E954-4C99-AB14-E8774B0030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33934" y="0"/>
            <a:ext cx="3048000" cy="1257300"/>
          </a:xfrm>
          <a:prstGeom prst="rect">
            <a:avLst/>
          </a:prstGeom>
          <a:noFill/>
          <a:extLst>
            <a:ext uri="{909E8E84-426E-40DD-AFC4-6F175D3DCCD1}">
              <a14:hiddenFill xmlns:a14="http://schemas.microsoft.com/office/drawing/2010/main">
                <a:solidFill>
                  <a:srgbClr val="FFFFFF"/>
                </a:solidFill>
              </a14:hiddenFill>
            </a:ext>
          </a:extLst>
        </p:spPr>
      </p:pic>
      <p:sp>
        <p:nvSpPr>
          <p:cNvPr id="15" name="Flèche : pentagone 14">
            <a:extLst>
              <a:ext uri="{FF2B5EF4-FFF2-40B4-BE49-F238E27FC236}">
                <a16:creationId xmlns:a16="http://schemas.microsoft.com/office/drawing/2014/main" id="{43C149E4-6C0C-4E99-97C8-2299E977ED1C}"/>
              </a:ext>
            </a:extLst>
          </p:cNvPr>
          <p:cNvSpPr/>
          <p:nvPr/>
        </p:nvSpPr>
        <p:spPr>
          <a:xfrm rot="5400000">
            <a:off x="-242354" y="477313"/>
            <a:ext cx="1439333" cy="484708"/>
          </a:xfrm>
          <a:prstGeom prst="homePlate">
            <a:avLst/>
          </a:prstGeom>
          <a:solidFill>
            <a:schemeClr val="accent6">
              <a:lumMod val="60000"/>
              <a:lumOff val="40000"/>
            </a:schemeClr>
          </a:solidFill>
          <a:ln w="3810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noProof="0" dirty="0"/>
          </a:p>
        </p:txBody>
      </p:sp>
      <p:sp>
        <p:nvSpPr>
          <p:cNvPr id="16" name="Flèche : chevron 15">
            <a:extLst>
              <a:ext uri="{FF2B5EF4-FFF2-40B4-BE49-F238E27FC236}">
                <a16:creationId xmlns:a16="http://schemas.microsoft.com/office/drawing/2014/main" id="{888E8D45-93E0-4094-9260-DC3C66CFB042}"/>
              </a:ext>
            </a:extLst>
          </p:cNvPr>
          <p:cNvSpPr/>
          <p:nvPr/>
        </p:nvSpPr>
        <p:spPr>
          <a:xfrm rot="5400000">
            <a:off x="178860" y="1338800"/>
            <a:ext cx="596902" cy="484709"/>
          </a:xfrm>
          <a:prstGeom prst="chevron">
            <a:avLst/>
          </a:prstGeom>
          <a:solidFill>
            <a:schemeClr val="accent6">
              <a:lumMod val="60000"/>
              <a:lumOff val="4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solidFill>
                <a:schemeClr val="tx1"/>
              </a:solidFill>
            </a:endParaRPr>
          </a:p>
        </p:txBody>
      </p:sp>
      <p:sp>
        <p:nvSpPr>
          <p:cNvPr id="4" name="Espace réservé du pied de page 3">
            <a:extLst>
              <a:ext uri="{FF2B5EF4-FFF2-40B4-BE49-F238E27FC236}">
                <a16:creationId xmlns:a16="http://schemas.microsoft.com/office/drawing/2014/main" id="{A2008B88-7D08-74CF-1DD5-18261DED9E2D}"/>
              </a:ext>
            </a:extLst>
          </p:cNvPr>
          <p:cNvSpPr>
            <a:spLocks noGrp="1"/>
          </p:cNvSpPr>
          <p:nvPr>
            <p:ph type="ftr" sz="quarter" idx="11"/>
          </p:nvPr>
        </p:nvSpPr>
        <p:spPr>
          <a:xfrm>
            <a:off x="3953933" y="6356350"/>
            <a:ext cx="4284133" cy="365125"/>
          </a:xfrm>
        </p:spPr>
        <p:txBody>
          <a:bodyPr/>
          <a:lstStyle/>
          <a:p>
            <a:r>
              <a:rPr lang="fr-FR" noProof="0" dirty="0"/>
              <a:t>MEC8211 - Vérification et Validation en modélisation numérique</a:t>
            </a:r>
          </a:p>
        </p:txBody>
      </p:sp>
    </p:spTree>
    <p:extLst>
      <p:ext uri="{BB962C8B-B14F-4D97-AF65-F5344CB8AC3E}">
        <p14:creationId xmlns:p14="http://schemas.microsoft.com/office/powerpoint/2010/main" val="850109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CDDBB-E863-E7CE-20FD-27B2F350FA2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0CFA0FB-AC0A-44EE-C236-1EA2A18AF70E}"/>
              </a:ext>
            </a:extLst>
          </p:cNvPr>
          <p:cNvSpPr>
            <a:spLocks noGrp="1"/>
          </p:cNvSpPr>
          <p:nvPr>
            <p:ph type="title"/>
          </p:nvPr>
        </p:nvSpPr>
        <p:spPr>
          <a:xfrm>
            <a:off x="885825" y="420159"/>
            <a:ext cx="10185400" cy="790575"/>
          </a:xfrm>
        </p:spPr>
        <p:txBody>
          <a:bodyPr/>
          <a:lstStyle/>
          <a:p>
            <a:r>
              <a:rPr lang="fr-FR" noProof="0" dirty="0"/>
              <a:t>GitHub Repo</a:t>
            </a:r>
          </a:p>
        </p:txBody>
      </p:sp>
      <p:sp>
        <p:nvSpPr>
          <p:cNvPr id="4" name="Espace réservé du pied de page 3">
            <a:extLst>
              <a:ext uri="{FF2B5EF4-FFF2-40B4-BE49-F238E27FC236}">
                <a16:creationId xmlns:a16="http://schemas.microsoft.com/office/drawing/2014/main" id="{D752D14C-2810-5CB7-0A00-5415D5D41F4F}"/>
              </a:ext>
            </a:extLst>
          </p:cNvPr>
          <p:cNvSpPr>
            <a:spLocks noGrp="1"/>
          </p:cNvSpPr>
          <p:nvPr>
            <p:ph type="ftr" sz="quarter" idx="11"/>
          </p:nvPr>
        </p:nvSpPr>
        <p:spPr>
          <a:xfrm>
            <a:off x="3953933" y="6356350"/>
            <a:ext cx="4284133" cy="365125"/>
          </a:xfrm>
        </p:spPr>
        <p:txBody>
          <a:bodyPr/>
          <a:lstStyle/>
          <a:p>
            <a:r>
              <a:rPr lang="fr-FR" noProof="0" dirty="0"/>
              <a:t>MEC8211 - Vérification et Validation en modélisation numérique</a:t>
            </a:r>
          </a:p>
        </p:txBody>
      </p:sp>
      <p:sp>
        <p:nvSpPr>
          <p:cNvPr id="8" name="Flèche : pentagone 7">
            <a:extLst>
              <a:ext uri="{FF2B5EF4-FFF2-40B4-BE49-F238E27FC236}">
                <a16:creationId xmlns:a16="http://schemas.microsoft.com/office/drawing/2014/main" id="{864369EB-77B1-F059-C315-8EDCC345F942}"/>
              </a:ext>
            </a:extLst>
          </p:cNvPr>
          <p:cNvSpPr/>
          <p:nvPr/>
        </p:nvSpPr>
        <p:spPr>
          <a:xfrm rot="5400000">
            <a:off x="-242354" y="477313"/>
            <a:ext cx="1439333" cy="484708"/>
          </a:xfrm>
          <a:prstGeom prst="homePlate">
            <a:avLst/>
          </a:prstGeom>
          <a:solidFill>
            <a:schemeClr val="accent6">
              <a:lumMod val="60000"/>
              <a:lumOff val="40000"/>
            </a:schemeClr>
          </a:solidFill>
          <a:ln w="3810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noProof="0" dirty="0"/>
          </a:p>
        </p:txBody>
      </p:sp>
      <p:sp>
        <p:nvSpPr>
          <p:cNvPr id="9" name="Flèche : chevron 8">
            <a:extLst>
              <a:ext uri="{FF2B5EF4-FFF2-40B4-BE49-F238E27FC236}">
                <a16:creationId xmlns:a16="http://schemas.microsoft.com/office/drawing/2014/main" id="{5EC929C8-BAB5-12C1-D502-E1844A4D06F4}"/>
              </a:ext>
            </a:extLst>
          </p:cNvPr>
          <p:cNvSpPr/>
          <p:nvPr/>
        </p:nvSpPr>
        <p:spPr>
          <a:xfrm rot="5400000">
            <a:off x="178860" y="1338800"/>
            <a:ext cx="596902" cy="484709"/>
          </a:xfrm>
          <a:prstGeom prst="chevron">
            <a:avLst/>
          </a:prstGeom>
          <a:solidFill>
            <a:schemeClr val="accent6">
              <a:lumMod val="60000"/>
              <a:lumOff val="4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solidFill>
                <a:schemeClr val="tx1"/>
              </a:solidFill>
            </a:endParaRPr>
          </a:p>
        </p:txBody>
      </p:sp>
      <p:cxnSp>
        <p:nvCxnSpPr>
          <p:cNvPr id="12" name="Connecteur droit 11">
            <a:extLst>
              <a:ext uri="{FF2B5EF4-FFF2-40B4-BE49-F238E27FC236}">
                <a16:creationId xmlns:a16="http://schemas.microsoft.com/office/drawing/2014/main" id="{F0745927-6ED1-B707-6AB2-D6F7EF07022B}"/>
              </a:ext>
            </a:extLst>
          </p:cNvPr>
          <p:cNvCxnSpPr/>
          <p:nvPr/>
        </p:nvCxnSpPr>
        <p:spPr>
          <a:xfrm>
            <a:off x="862010" y="1210734"/>
            <a:ext cx="10332000" cy="0"/>
          </a:xfrm>
          <a:prstGeom prst="line">
            <a:avLst/>
          </a:prstGeom>
          <a:ln w="28575"/>
        </p:spPr>
        <p:style>
          <a:lnRef idx="3">
            <a:schemeClr val="accent6"/>
          </a:lnRef>
          <a:fillRef idx="0">
            <a:schemeClr val="accent6"/>
          </a:fillRef>
          <a:effectRef idx="2">
            <a:schemeClr val="accent6"/>
          </a:effectRef>
          <a:fontRef idx="minor">
            <a:schemeClr val="tx1"/>
          </a:fontRef>
        </p:style>
      </p:cxnSp>
      <p:sp>
        <p:nvSpPr>
          <p:cNvPr id="13" name="Espace réservé du contenu 2">
            <a:extLst>
              <a:ext uri="{FF2B5EF4-FFF2-40B4-BE49-F238E27FC236}">
                <a16:creationId xmlns:a16="http://schemas.microsoft.com/office/drawing/2014/main" id="{B3DA0B50-7397-852D-43CA-948668F74EE0}"/>
              </a:ext>
            </a:extLst>
          </p:cNvPr>
          <p:cNvSpPr>
            <a:spLocks noGrp="1"/>
          </p:cNvSpPr>
          <p:nvPr>
            <p:ph idx="1"/>
          </p:nvPr>
        </p:nvSpPr>
        <p:spPr>
          <a:xfrm>
            <a:off x="862011" y="1422626"/>
            <a:ext cx="10467975" cy="5015214"/>
          </a:xfrm>
        </p:spPr>
        <p:txBody>
          <a:bodyPr>
            <a:normAutofit/>
          </a:bodyPr>
          <a:lstStyle/>
          <a:p>
            <a:pPr algn="just"/>
            <a:r>
              <a:rPr lang="fr-FR" noProof="0" dirty="0"/>
              <a:t>URL : </a:t>
            </a:r>
            <a:r>
              <a:rPr lang="fr-FR" noProof="0" dirty="0">
                <a:hlinkClick r:id="rId2"/>
              </a:rPr>
              <a:t>https://github.com/Kameleonn/MEC8211</a:t>
            </a:r>
            <a:endParaRPr lang="fr-FR" noProof="0" dirty="0"/>
          </a:p>
          <a:p>
            <a:pPr algn="just"/>
            <a:r>
              <a:rPr lang="fr-FR" noProof="0" dirty="0"/>
              <a:t>Précisions sur le contenu du repo:</a:t>
            </a:r>
          </a:p>
          <a:p>
            <a:pPr marL="914400" lvl="1" indent="-457200" algn="just">
              <a:lnSpc>
                <a:spcPct val="100000"/>
              </a:lnSpc>
              <a:buFont typeface="+mj-lt"/>
              <a:buAutoNum type="arabicPeriod"/>
            </a:pPr>
            <a:r>
              <a:rPr lang="fr-FR" noProof="0" dirty="0"/>
              <a:t>“</a:t>
            </a:r>
            <a:r>
              <a:rPr lang="fr-FR" b="1" noProof="0" dirty="0"/>
              <a:t>Devoir_1/fdm_implicite.py</a:t>
            </a:r>
            <a:r>
              <a:rPr lang="fr-FR" noProof="0" dirty="0"/>
              <a:t>”: Ce fichier contient l’implémentation du code pour la méthode des différences finis implicite. </a:t>
            </a:r>
          </a:p>
          <a:p>
            <a:pPr marL="914400" lvl="1" indent="-457200" algn="just">
              <a:lnSpc>
                <a:spcPct val="100000"/>
              </a:lnSpc>
              <a:buFont typeface="+mj-lt"/>
              <a:buAutoNum type="arabicPeriod"/>
            </a:pPr>
            <a:r>
              <a:rPr lang="fr-FR" noProof="0" dirty="0"/>
              <a:t>“</a:t>
            </a:r>
            <a:r>
              <a:rPr lang="fr-FR" b="1" noProof="0" dirty="0"/>
              <a:t>Devoir_2/Reponse_Dev2.ipynb</a:t>
            </a:r>
            <a:r>
              <a:rPr lang="fr-FR" noProof="0" dirty="0"/>
              <a:t>”: Ce fichier est un </a:t>
            </a:r>
            <a:r>
              <a:rPr lang="fr-FR" noProof="0" dirty="0" err="1"/>
              <a:t>Jupyter</a:t>
            </a:r>
            <a:r>
              <a:rPr lang="fr-FR" noProof="0" dirty="0"/>
              <a:t> Notebook contenant l’ensemble de nos réponses aux questions. Il constitue la version préliminaire du document PDF soumis pour la remise. De plus, il inclut le code utilisé pour la génération des graphiques des profils de concentration ainsi que des erreurs. Il fait donc appel au premier fichier Python.</a:t>
            </a:r>
          </a:p>
          <a:p>
            <a:pPr marL="914400" lvl="1" indent="-457200" algn="just">
              <a:lnSpc>
                <a:spcPct val="100000"/>
              </a:lnSpc>
              <a:buFont typeface="+mj-lt"/>
              <a:buAutoNum type="arabicPeriod"/>
            </a:pPr>
            <a:r>
              <a:rPr lang="fr-FR" noProof="0" dirty="0">
                <a:solidFill>
                  <a:srgbClr val="FF0000"/>
                </a:solidFill>
              </a:rPr>
              <a:t>“</a:t>
            </a:r>
            <a:r>
              <a:rPr lang="fr-FR" b="1" noProof="0" dirty="0">
                <a:solidFill>
                  <a:srgbClr val="FF0000"/>
                </a:solidFill>
              </a:rPr>
              <a:t>Devoir_2/</a:t>
            </a:r>
            <a:r>
              <a:rPr lang="fr-FR" b="1" noProof="0" dirty="0" err="1">
                <a:solidFill>
                  <a:srgbClr val="FF0000"/>
                </a:solidFill>
              </a:rPr>
              <a:t>script_analyse_convergence</a:t>
            </a:r>
            <a:r>
              <a:rPr lang="fr-FR" noProof="0" dirty="0">
                <a:solidFill>
                  <a:srgbClr val="FF0000"/>
                </a:solidFill>
              </a:rPr>
              <a:t>”: …</a:t>
            </a:r>
          </a:p>
        </p:txBody>
      </p:sp>
    </p:spTree>
    <p:extLst>
      <p:ext uri="{BB962C8B-B14F-4D97-AF65-F5344CB8AC3E}">
        <p14:creationId xmlns:p14="http://schemas.microsoft.com/office/powerpoint/2010/main" val="2321294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F15AFE-CA57-4711-BAA6-D89CCDC3812C}"/>
              </a:ext>
            </a:extLst>
          </p:cNvPr>
          <p:cNvSpPr>
            <a:spLocks noGrp="1"/>
          </p:cNvSpPr>
          <p:nvPr>
            <p:ph type="title"/>
          </p:nvPr>
        </p:nvSpPr>
        <p:spPr>
          <a:xfrm>
            <a:off x="885825" y="420159"/>
            <a:ext cx="10185400" cy="790575"/>
          </a:xfrm>
        </p:spPr>
        <p:txBody>
          <a:bodyPr>
            <a:normAutofit/>
          </a:bodyPr>
          <a:lstStyle/>
          <a:p>
            <a:r>
              <a:rPr lang="fr-FR" noProof="0" dirty="0"/>
              <a:t>A. Implémentation du code instationnaire</a:t>
            </a:r>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E9FDEB0A-F79B-49AD-8074-B16990F5395D}"/>
                  </a:ext>
                </a:extLst>
              </p:cNvPr>
              <p:cNvSpPr>
                <a:spLocks noGrp="1"/>
              </p:cNvSpPr>
              <p:nvPr>
                <p:ph idx="1"/>
              </p:nvPr>
            </p:nvSpPr>
            <p:spPr>
              <a:xfrm>
                <a:off x="862011" y="1422626"/>
                <a:ext cx="11095031" cy="5435374"/>
              </a:xfrm>
            </p:spPr>
            <p:txBody>
              <a:bodyPr>
                <a:normAutofit/>
              </a:bodyPr>
              <a:lstStyle/>
              <a:p>
                <a:pPr marL="0" indent="0" algn="just">
                  <a:buNone/>
                </a:pPr>
                <a:r>
                  <a:rPr lang="fr-FR" sz="2400" noProof="0" dirty="0"/>
                  <a:t>Le nouveau problème instationnaire peut s’écrire comme suit :</a:t>
                </a:r>
              </a:p>
              <a:p>
                <a:pPr marL="0" indent="0" algn="just">
                  <a:buNone/>
                </a:pPr>
                <a14:m>
                  <m:oMathPara xmlns:m="http://schemas.openxmlformats.org/officeDocument/2006/math">
                    <m:oMathParaPr>
                      <m:jc m:val="centerGroup"/>
                    </m:oMathParaPr>
                    <m:oMath xmlns:m="http://schemas.openxmlformats.org/officeDocument/2006/math">
                      <m:f>
                        <m:fPr>
                          <m:ctrlPr>
                            <a:rPr lang="fr-FR" sz="2400" i="1" noProof="0" smtClean="0">
                              <a:latin typeface="Cambria Math" panose="02040503050406030204" pitchFamily="18" charset="0"/>
                            </a:rPr>
                          </m:ctrlPr>
                        </m:fPr>
                        <m:num>
                          <m:r>
                            <a:rPr lang="fr-FR" sz="2400" i="1" noProof="0" smtClean="0">
                              <a:latin typeface="Cambria Math" panose="02040503050406030204" pitchFamily="18" charset="0"/>
                            </a:rPr>
                            <m:t>𝜕</m:t>
                          </m:r>
                          <m:r>
                            <a:rPr lang="fr-FR" sz="2400" i="1" noProof="0" smtClean="0">
                              <a:latin typeface="Cambria Math" panose="02040503050406030204" pitchFamily="18" charset="0"/>
                            </a:rPr>
                            <m:t>𝐶</m:t>
                          </m:r>
                        </m:num>
                        <m:den>
                          <m:r>
                            <a:rPr lang="fr-FR" sz="2400" i="1" noProof="0" smtClean="0">
                              <a:latin typeface="Cambria Math" panose="02040503050406030204" pitchFamily="18" charset="0"/>
                            </a:rPr>
                            <m:t>𝜕</m:t>
                          </m:r>
                          <m:r>
                            <a:rPr lang="fr-FR" sz="2400" i="1" noProof="0" smtClean="0">
                              <a:latin typeface="Cambria Math" panose="02040503050406030204" pitchFamily="18" charset="0"/>
                            </a:rPr>
                            <m:t>𝑡</m:t>
                          </m:r>
                        </m:den>
                      </m:f>
                      <m:r>
                        <a:rPr lang="fr-FR" sz="2400" i="1" noProof="0" smtClean="0">
                          <a:latin typeface="Cambria Math" panose="02040503050406030204" pitchFamily="18" charset="0"/>
                        </a:rPr>
                        <m:t>=</m:t>
                      </m:r>
                      <m:sSub>
                        <m:sSubPr>
                          <m:ctrlPr>
                            <a:rPr lang="fr-FR" sz="2400" i="1" noProof="0" smtClean="0">
                              <a:latin typeface="Cambria Math" panose="02040503050406030204" pitchFamily="18" charset="0"/>
                            </a:rPr>
                          </m:ctrlPr>
                        </m:sSubPr>
                        <m:e>
                          <m:r>
                            <a:rPr lang="fr-FR" sz="2400" i="1" noProof="0" smtClean="0">
                              <a:latin typeface="Cambria Math" panose="02040503050406030204" pitchFamily="18" charset="0"/>
                            </a:rPr>
                            <m:t>𝐷</m:t>
                          </m:r>
                        </m:e>
                        <m:sub>
                          <m:r>
                            <m:rPr>
                              <m:sty m:val="p"/>
                            </m:rPr>
                            <a:rPr lang="fr-FR" sz="2400" b="0" i="0" noProof="0" smtClean="0">
                              <a:latin typeface="Cambria Math" panose="02040503050406030204" pitchFamily="18" charset="0"/>
                            </a:rPr>
                            <m:t>eff</m:t>
                          </m:r>
                        </m:sub>
                      </m:sSub>
                      <m:r>
                        <a:rPr lang="fr-FR" sz="2400" i="1" noProof="0" smtClean="0">
                          <a:latin typeface="Cambria Math" panose="02040503050406030204" pitchFamily="18" charset="0"/>
                        </a:rPr>
                        <m:t> </m:t>
                      </m:r>
                      <m:sSup>
                        <m:sSupPr>
                          <m:ctrlPr>
                            <a:rPr lang="fr-FR" sz="2400" i="1" noProof="0" smtClean="0">
                              <a:latin typeface="Cambria Math" panose="02040503050406030204" pitchFamily="18" charset="0"/>
                            </a:rPr>
                          </m:ctrlPr>
                        </m:sSupPr>
                        <m:e>
                          <m:r>
                            <a:rPr lang="fr-FR" sz="2400" b="1" i="0" noProof="0" smtClean="0">
                              <a:latin typeface="Cambria Math" panose="02040503050406030204" pitchFamily="18" charset="0"/>
                            </a:rPr>
                            <m:t>𝛁</m:t>
                          </m:r>
                        </m:e>
                        <m:sup>
                          <m:r>
                            <a:rPr lang="fr-FR" sz="2400" i="1" noProof="0" smtClean="0">
                              <a:latin typeface="Cambria Math" panose="02040503050406030204" pitchFamily="18" charset="0"/>
                            </a:rPr>
                            <m:t>2</m:t>
                          </m:r>
                        </m:sup>
                      </m:sSup>
                      <m:r>
                        <a:rPr lang="fr-FR" sz="2400" i="1" noProof="0" smtClean="0">
                          <a:latin typeface="Cambria Math" panose="02040503050406030204" pitchFamily="18" charset="0"/>
                        </a:rPr>
                        <m:t>𝐶</m:t>
                      </m:r>
                      <m:r>
                        <a:rPr lang="fr-FR" sz="2400" i="1" noProof="0" smtClean="0">
                          <a:latin typeface="Cambria Math" panose="02040503050406030204" pitchFamily="18" charset="0"/>
                        </a:rPr>
                        <m:t>−</m:t>
                      </m:r>
                      <m:r>
                        <a:rPr lang="fr-FR" sz="2400" i="1" noProof="0" smtClean="0">
                          <a:latin typeface="Cambria Math" panose="02040503050406030204" pitchFamily="18" charset="0"/>
                        </a:rPr>
                        <m:t>𝑘𝐶</m:t>
                      </m:r>
                      <m:r>
                        <a:rPr lang="fr-FR" sz="2400" b="0" i="1" noProof="0" smtClean="0">
                          <a:latin typeface="Cambria Math" panose="02040503050406030204" pitchFamily="18" charset="0"/>
                        </a:rPr>
                        <m:t> </m:t>
                      </m:r>
                      <m:r>
                        <a:rPr lang="fr-FR" sz="2400" b="0" i="1" noProof="0" smtClean="0">
                          <a:latin typeface="Cambria Math" panose="02040503050406030204" pitchFamily="18" charset="0"/>
                          <a:ea typeface="Cambria Math" panose="02040503050406030204" pitchFamily="18" charset="0"/>
                        </a:rPr>
                        <m:t>⟹</m:t>
                      </m:r>
                      <m:f>
                        <m:fPr>
                          <m:ctrlPr>
                            <a:rPr lang="fr-FR" sz="2400" i="1" noProof="0" smtClean="0">
                              <a:latin typeface="Cambria Math" panose="02040503050406030204" pitchFamily="18" charset="0"/>
                            </a:rPr>
                          </m:ctrlPr>
                        </m:fPr>
                        <m:num>
                          <m:r>
                            <a:rPr lang="fr-FR" sz="2400" b="0" i="1" noProof="0" smtClean="0">
                              <a:latin typeface="Cambria Math" panose="02040503050406030204" pitchFamily="18" charset="0"/>
                            </a:rPr>
                            <m:t>𝜕</m:t>
                          </m:r>
                          <m:r>
                            <a:rPr lang="fr-FR" sz="2400" b="0" i="1" noProof="0" smtClean="0">
                              <a:latin typeface="Cambria Math" panose="02040503050406030204" pitchFamily="18" charset="0"/>
                            </a:rPr>
                            <m:t>𝐶</m:t>
                          </m:r>
                        </m:num>
                        <m:den>
                          <m:r>
                            <a:rPr lang="fr-FR" sz="2400" b="0" i="1" noProof="0" smtClean="0">
                              <a:latin typeface="Cambria Math" panose="02040503050406030204" pitchFamily="18" charset="0"/>
                            </a:rPr>
                            <m:t>𝜕</m:t>
                          </m:r>
                          <m:r>
                            <a:rPr lang="fr-FR" sz="2400" b="0" i="1" noProof="0" smtClean="0">
                              <a:latin typeface="Cambria Math" panose="02040503050406030204" pitchFamily="18" charset="0"/>
                            </a:rPr>
                            <m:t>𝑡</m:t>
                          </m:r>
                        </m:den>
                      </m:f>
                      <m:r>
                        <a:rPr lang="fr-FR" sz="2400" b="0" i="1" noProof="0" smtClean="0">
                          <a:latin typeface="Cambria Math" panose="02040503050406030204" pitchFamily="18" charset="0"/>
                        </a:rPr>
                        <m:t>=</m:t>
                      </m:r>
                      <m:sSub>
                        <m:sSubPr>
                          <m:ctrlPr>
                            <a:rPr lang="fr-FR" sz="2400" i="1" noProof="0" smtClean="0">
                              <a:latin typeface="Cambria Math" panose="02040503050406030204" pitchFamily="18" charset="0"/>
                            </a:rPr>
                          </m:ctrlPr>
                        </m:sSubPr>
                        <m:e>
                          <m:r>
                            <a:rPr lang="fr-FR" sz="2400" b="0" i="1" noProof="0" smtClean="0">
                              <a:latin typeface="Cambria Math" panose="02040503050406030204" pitchFamily="18" charset="0"/>
                            </a:rPr>
                            <m:t>𝐷</m:t>
                          </m:r>
                        </m:e>
                        <m:sub>
                          <m:r>
                            <a:rPr lang="fr-FR" sz="2400" b="0" i="1" noProof="0" smtClean="0">
                              <a:latin typeface="Cambria Math" panose="02040503050406030204" pitchFamily="18" charset="0"/>
                            </a:rPr>
                            <m:t>𝑒𝑓𝑓</m:t>
                          </m:r>
                        </m:sub>
                      </m:sSub>
                      <m:d>
                        <m:dPr>
                          <m:ctrlPr>
                            <a:rPr lang="fr-FR" sz="2400" i="1" noProof="0" smtClean="0">
                              <a:latin typeface="Cambria Math" panose="02040503050406030204" pitchFamily="18" charset="0"/>
                            </a:rPr>
                          </m:ctrlPr>
                        </m:dPr>
                        <m:e>
                          <m:f>
                            <m:fPr>
                              <m:ctrlPr>
                                <a:rPr lang="fr-FR" sz="2400" i="1" noProof="0" smtClean="0">
                                  <a:latin typeface="Cambria Math" panose="02040503050406030204" pitchFamily="18" charset="0"/>
                                </a:rPr>
                              </m:ctrlPr>
                            </m:fPr>
                            <m:num>
                              <m:sSup>
                                <m:sSupPr>
                                  <m:ctrlPr>
                                    <a:rPr lang="fr-FR" sz="2400" i="1" noProof="0" smtClean="0">
                                      <a:latin typeface="Cambria Math" panose="02040503050406030204" pitchFamily="18" charset="0"/>
                                    </a:rPr>
                                  </m:ctrlPr>
                                </m:sSupPr>
                                <m:e>
                                  <m:r>
                                    <a:rPr lang="fr-FR" sz="2400" b="0" i="1" noProof="0" smtClean="0">
                                      <a:latin typeface="Cambria Math" panose="02040503050406030204" pitchFamily="18" charset="0"/>
                                    </a:rPr>
                                    <m:t>𝜕</m:t>
                                  </m:r>
                                </m:e>
                                <m:sup>
                                  <m:r>
                                    <a:rPr lang="fr-FR" sz="2400" b="0" i="1" noProof="0" smtClean="0">
                                      <a:latin typeface="Cambria Math" panose="02040503050406030204" pitchFamily="18" charset="0"/>
                                    </a:rPr>
                                    <m:t>2</m:t>
                                  </m:r>
                                </m:sup>
                              </m:sSup>
                              <m:r>
                                <a:rPr lang="fr-FR" sz="2400" b="0" i="1" noProof="0" smtClean="0">
                                  <a:latin typeface="Cambria Math" panose="02040503050406030204" pitchFamily="18" charset="0"/>
                                </a:rPr>
                                <m:t>𝐶</m:t>
                              </m:r>
                            </m:num>
                            <m:den>
                              <m:r>
                                <a:rPr lang="fr-FR" sz="2400" b="0" i="1" noProof="0" smtClean="0">
                                  <a:latin typeface="Cambria Math" panose="02040503050406030204" pitchFamily="18" charset="0"/>
                                </a:rPr>
                                <m:t>𝜕</m:t>
                              </m:r>
                              <m:sSup>
                                <m:sSupPr>
                                  <m:ctrlPr>
                                    <a:rPr lang="fr-FR" sz="2400" i="1" noProof="0" smtClean="0">
                                      <a:latin typeface="Cambria Math" panose="02040503050406030204" pitchFamily="18" charset="0"/>
                                    </a:rPr>
                                  </m:ctrlPr>
                                </m:sSupPr>
                                <m:e>
                                  <m:r>
                                    <a:rPr lang="fr-FR" sz="2400" b="0" i="1" noProof="0" smtClean="0">
                                      <a:latin typeface="Cambria Math" panose="02040503050406030204" pitchFamily="18" charset="0"/>
                                    </a:rPr>
                                    <m:t>𝑟</m:t>
                                  </m:r>
                                </m:e>
                                <m:sup>
                                  <m:r>
                                    <a:rPr lang="fr-FR" sz="2400" b="0" i="1" noProof="0" smtClean="0">
                                      <a:latin typeface="Cambria Math" panose="02040503050406030204" pitchFamily="18" charset="0"/>
                                    </a:rPr>
                                    <m:t>2</m:t>
                                  </m:r>
                                </m:sup>
                              </m:sSup>
                            </m:den>
                          </m:f>
                          <m:r>
                            <a:rPr lang="fr-FR" sz="2400" b="0" i="1" noProof="0" smtClean="0">
                              <a:latin typeface="Cambria Math" panose="02040503050406030204" pitchFamily="18" charset="0"/>
                            </a:rPr>
                            <m:t>+</m:t>
                          </m:r>
                          <m:f>
                            <m:fPr>
                              <m:ctrlPr>
                                <a:rPr lang="fr-FR" sz="2400" i="1" noProof="0" smtClean="0">
                                  <a:latin typeface="Cambria Math" panose="02040503050406030204" pitchFamily="18" charset="0"/>
                                </a:rPr>
                              </m:ctrlPr>
                            </m:fPr>
                            <m:num>
                              <m:r>
                                <a:rPr lang="fr-FR" sz="2400" b="0" i="1" noProof="0" smtClean="0">
                                  <a:latin typeface="Cambria Math" panose="02040503050406030204" pitchFamily="18" charset="0"/>
                                </a:rPr>
                                <m:t>1</m:t>
                              </m:r>
                            </m:num>
                            <m:den>
                              <m:r>
                                <a:rPr lang="fr-FR" sz="2400" b="0" i="1" noProof="0" smtClean="0">
                                  <a:latin typeface="Cambria Math" panose="02040503050406030204" pitchFamily="18" charset="0"/>
                                </a:rPr>
                                <m:t>𝑟</m:t>
                              </m:r>
                            </m:den>
                          </m:f>
                          <m:f>
                            <m:fPr>
                              <m:ctrlPr>
                                <a:rPr lang="fr-FR" sz="2400" i="1" noProof="0" smtClean="0">
                                  <a:latin typeface="Cambria Math" panose="02040503050406030204" pitchFamily="18" charset="0"/>
                                </a:rPr>
                              </m:ctrlPr>
                            </m:fPr>
                            <m:num>
                              <m:r>
                                <a:rPr lang="fr-FR" sz="2400" b="0" i="1" noProof="0" smtClean="0">
                                  <a:latin typeface="Cambria Math" panose="02040503050406030204" pitchFamily="18" charset="0"/>
                                </a:rPr>
                                <m:t>𝜕</m:t>
                              </m:r>
                              <m:r>
                                <a:rPr lang="fr-FR" sz="2400" b="0" i="1" noProof="0" smtClean="0">
                                  <a:latin typeface="Cambria Math" panose="02040503050406030204" pitchFamily="18" charset="0"/>
                                </a:rPr>
                                <m:t>𝐶</m:t>
                              </m:r>
                            </m:num>
                            <m:den>
                              <m:r>
                                <a:rPr lang="fr-FR" sz="2400" b="0" i="1" noProof="0" smtClean="0">
                                  <a:latin typeface="Cambria Math" panose="02040503050406030204" pitchFamily="18" charset="0"/>
                                </a:rPr>
                                <m:t>𝜕</m:t>
                              </m:r>
                              <m:r>
                                <a:rPr lang="fr-FR" sz="2400" b="0" i="1" noProof="0" smtClean="0">
                                  <a:latin typeface="Cambria Math" panose="02040503050406030204" pitchFamily="18" charset="0"/>
                                </a:rPr>
                                <m:t>𝑟</m:t>
                              </m:r>
                            </m:den>
                          </m:f>
                        </m:e>
                      </m:d>
                      <m:r>
                        <a:rPr lang="fr-FR" sz="2400" b="0" i="1" noProof="0" smtClean="0">
                          <a:latin typeface="Cambria Math" panose="02040503050406030204" pitchFamily="18" charset="0"/>
                        </a:rPr>
                        <m:t>− </m:t>
                      </m:r>
                      <m:r>
                        <a:rPr lang="fr-FR" sz="2400" b="0" i="1" noProof="0" smtClean="0">
                          <a:latin typeface="Cambria Math" panose="02040503050406030204" pitchFamily="18" charset="0"/>
                        </a:rPr>
                        <m:t>𝑘𝐶</m:t>
                      </m:r>
                    </m:oMath>
                  </m:oMathPara>
                </a14:m>
                <a:endParaRPr lang="fr-FR" sz="2400" noProof="0" dirty="0"/>
              </a:p>
              <a:p>
                <a:pPr marL="571500" indent="-571500" algn="just">
                  <a:buFont typeface="+mj-lt"/>
                  <a:buAutoNum type="romanLcPeriod"/>
                </a:pPr>
                <a:r>
                  <a:rPr lang="fr-FR" sz="2400" b="1" noProof="0" dirty="0"/>
                  <a:t>Implémentation des schémas de discrétisation d’ordre 2 pour </a:t>
                </a:r>
                <a14:m>
                  <m:oMath xmlns:m="http://schemas.openxmlformats.org/officeDocument/2006/math">
                    <m:sSub>
                      <m:sSubPr>
                        <m:ctrlPr>
                          <a:rPr lang="fr-FR" sz="2400" b="1" i="1" noProof="0" smtClean="0">
                            <a:latin typeface="Cambria Math" panose="02040503050406030204" pitchFamily="18" charset="0"/>
                          </a:rPr>
                        </m:ctrlPr>
                      </m:sSubPr>
                      <m:e>
                        <m:r>
                          <a:rPr lang="fr-FR" sz="2400" b="1" i="1" noProof="0" smtClean="0">
                            <a:latin typeface="Cambria Math" panose="02040503050406030204" pitchFamily="18" charset="0"/>
                          </a:rPr>
                          <m:t>𝑵</m:t>
                        </m:r>
                      </m:e>
                      <m:sub>
                        <m:r>
                          <a:rPr lang="fr-FR" sz="2400" b="1" i="1" noProof="0" smtClean="0">
                            <a:latin typeface="Cambria Math" panose="02040503050406030204" pitchFamily="18" charset="0"/>
                          </a:rPr>
                          <m:t>𝒕𝒐𝒕</m:t>
                        </m:r>
                      </m:sub>
                    </m:sSub>
                    <m:r>
                      <a:rPr lang="fr-FR" sz="2400" b="1" i="1" noProof="0" smtClean="0">
                        <a:latin typeface="Cambria Math" panose="02040503050406030204" pitchFamily="18" charset="0"/>
                      </a:rPr>
                      <m:t>=</m:t>
                    </m:r>
                    <m:r>
                      <a:rPr lang="fr-FR" sz="2400" b="1" i="1" noProof="0" smtClean="0">
                        <a:latin typeface="Cambria Math" panose="02040503050406030204" pitchFamily="18" charset="0"/>
                      </a:rPr>
                      <m:t>𝟓</m:t>
                    </m:r>
                  </m:oMath>
                </a14:m>
                <a:endParaRPr lang="fr-FR" sz="2400" b="1" noProof="0" dirty="0"/>
              </a:p>
              <a:p>
                <a:pPr marL="0" indent="0" algn="just">
                  <a:buNone/>
                </a:pPr>
                <a:r>
                  <a:rPr lang="fr-FR" sz="2400" u="sng" noProof="0" dirty="0"/>
                  <a:t>Nœud 1 </a:t>
                </a:r>
                <a:r>
                  <a:rPr lang="fr-FR" sz="2400" noProof="0" dirty="0"/>
                  <a:t>: Condition Neumann de symétrie discrétisée avec un schéma </a:t>
                </a:r>
                <a:r>
                  <a:rPr lang="fr-FR" sz="2400" noProof="0" dirty="0" err="1"/>
                  <a:t>Gear</a:t>
                </a:r>
                <a:endParaRPr lang="fr-FR" sz="2400" noProof="0" dirty="0"/>
              </a:p>
              <a:p>
                <a:pPr marL="0" indent="0" algn="just">
                  <a:buNone/>
                </a:pPr>
                <a14:m>
                  <m:oMathPara xmlns:m="http://schemas.openxmlformats.org/officeDocument/2006/math">
                    <m:oMathParaPr>
                      <m:jc m:val="centerGroup"/>
                    </m:oMathParaPr>
                    <m:oMath xmlns:m="http://schemas.openxmlformats.org/officeDocument/2006/math">
                      <m:f>
                        <m:fPr>
                          <m:ctrlPr>
                            <a:rPr lang="fr-FR" sz="2200" i="0" noProof="0" smtClean="0">
                              <a:latin typeface="Cambria Math" panose="02040503050406030204" pitchFamily="18" charset="0"/>
                            </a:rPr>
                          </m:ctrlPr>
                        </m:fPr>
                        <m:num>
                          <m:r>
                            <a:rPr lang="fr-FR" sz="2200" i="1" noProof="0" smtClean="0">
                              <a:latin typeface="Cambria Math" panose="02040503050406030204" pitchFamily="18" charset="0"/>
                            </a:rPr>
                            <m:t>−</m:t>
                          </m:r>
                          <m:sSubSup>
                            <m:sSubSupPr>
                              <m:ctrlPr>
                                <a:rPr lang="fr-FR" sz="2200" noProof="0" smtClean="0">
                                  <a:latin typeface="Cambria Math" panose="02040503050406030204" pitchFamily="18" charset="0"/>
                                </a:rPr>
                              </m:ctrlPr>
                            </m:sSubSupPr>
                            <m:e>
                              <m:r>
                                <a:rPr lang="fr-FR" sz="2200" i="1" noProof="0" smtClean="0">
                                  <a:latin typeface="Cambria Math" panose="02040503050406030204" pitchFamily="18" charset="0"/>
                                </a:rPr>
                                <m:t>𝐶</m:t>
                              </m:r>
                            </m:e>
                            <m:sub>
                              <m:r>
                                <a:rPr lang="fr-FR" sz="2200" i="1" noProof="0" smtClean="0">
                                  <a:latin typeface="Cambria Math" panose="02040503050406030204" pitchFamily="18" charset="0"/>
                                </a:rPr>
                                <m:t>𝑖</m:t>
                              </m:r>
                              <m:r>
                                <a:rPr lang="fr-FR" sz="2200" i="1" noProof="0" smtClean="0">
                                  <a:latin typeface="Cambria Math" panose="02040503050406030204" pitchFamily="18" charset="0"/>
                                </a:rPr>
                                <m:t>+2</m:t>
                              </m:r>
                            </m:sub>
                            <m:sup>
                              <m:r>
                                <a:rPr lang="fr-FR" sz="2200" i="1" noProof="0" smtClean="0">
                                  <a:latin typeface="Cambria Math" panose="02040503050406030204" pitchFamily="18" charset="0"/>
                                </a:rPr>
                                <m:t>𝑡</m:t>
                              </m:r>
                              <m:r>
                                <a:rPr lang="fr-FR" sz="2200" i="1" noProof="0" smtClean="0">
                                  <a:latin typeface="Cambria Math" panose="02040503050406030204" pitchFamily="18" charset="0"/>
                                </a:rPr>
                                <m:t>+1</m:t>
                              </m:r>
                            </m:sup>
                          </m:sSubSup>
                          <m:r>
                            <a:rPr lang="fr-FR" sz="2200" i="1" noProof="0" smtClean="0">
                              <a:latin typeface="Cambria Math" panose="02040503050406030204" pitchFamily="18" charset="0"/>
                            </a:rPr>
                            <m:t>+4</m:t>
                          </m:r>
                          <m:sSubSup>
                            <m:sSubSupPr>
                              <m:ctrlPr>
                                <a:rPr lang="fr-FR" sz="2200" i="0" noProof="0" smtClean="0">
                                  <a:latin typeface="Cambria Math" panose="02040503050406030204" pitchFamily="18" charset="0"/>
                                </a:rPr>
                              </m:ctrlPr>
                            </m:sSubSupPr>
                            <m:e>
                              <m:r>
                                <a:rPr lang="fr-FR" sz="2200" i="1" noProof="0" smtClean="0">
                                  <a:latin typeface="Cambria Math" panose="02040503050406030204" pitchFamily="18" charset="0"/>
                                </a:rPr>
                                <m:t>𝐶</m:t>
                              </m:r>
                            </m:e>
                            <m:sub>
                              <m:r>
                                <a:rPr lang="fr-FR" sz="2200" i="1" noProof="0" smtClean="0">
                                  <a:latin typeface="Cambria Math" panose="02040503050406030204" pitchFamily="18" charset="0"/>
                                </a:rPr>
                                <m:t>𝑖</m:t>
                              </m:r>
                              <m:r>
                                <a:rPr lang="fr-FR" sz="2200" i="1" noProof="0" smtClean="0">
                                  <a:latin typeface="Cambria Math" panose="02040503050406030204" pitchFamily="18" charset="0"/>
                                </a:rPr>
                                <m:t>+1</m:t>
                              </m:r>
                            </m:sub>
                            <m:sup>
                              <m:r>
                                <a:rPr lang="fr-FR" sz="2200" i="1" noProof="0" smtClean="0">
                                  <a:latin typeface="Cambria Math" panose="02040503050406030204" pitchFamily="18" charset="0"/>
                                </a:rPr>
                                <m:t>𝑡</m:t>
                              </m:r>
                              <m:r>
                                <a:rPr lang="fr-FR" sz="2200" i="1" noProof="0" smtClean="0">
                                  <a:latin typeface="Cambria Math" panose="02040503050406030204" pitchFamily="18" charset="0"/>
                                </a:rPr>
                                <m:t>+1</m:t>
                              </m:r>
                            </m:sup>
                          </m:sSubSup>
                          <m:r>
                            <a:rPr lang="fr-FR" sz="2200" i="1" noProof="0" smtClean="0">
                              <a:latin typeface="Cambria Math" panose="02040503050406030204" pitchFamily="18" charset="0"/>
                            </a:rPr>
                            <m:t>−3</m:t>
                          </m:r>
                          <m:sSubSup>
                            <m:sSubSupPr>
                              <m:ctrlPr>
                                <a:rPr lang="fr-FR" sz="2200" i="0" noProof="0" smtClean="0">
                                  <a:latin typeface="Cambria Math" panose="02040503050406030204" pitchFamily="18" charset="0"/>
                                </a:rPr>
                              </m:ctrlPr>
                            </m:sSubSupPr>
                            <m:e>
                              <m:r>
                                <a:rPr lang="fr-FR" sz="2200" i="1" noProof="0" smtClean="0">
                                  <a:latin typeface="Cambria Math" panose="02040503050406030204" pitchFamily="18" charset="0"/>
                                </a:rPr>
                                <m:t>𝐶</m:t>
                              </m:r>
                            </m:e>
                            <m:sub>
                              <m:r>
                                <a:rPr lang="fr-FR" sz="2200" i="1" noProof="0" smtClean="0">
                                  <a:latin typeface="Cambria Math" panose="02040503050406030204" pitchFamily="18" charset="0"/>
                                </a:rPr>
                                <m:t>𝑖</m:t>
                              </m:r>
                            </m:sub>
                            <m:sup>
                              <m:r>
                                <a:rPr lang="fr-FR" sz="2200" i="1" noProof="0" smtClean="0">
                                  <a:latin typeface="Cambria Math" panose="02040503050406030204" pitchFamily="18" charset="0"/>
                                </a:rPr>
                                <m:t>𝑡</m:t>
                              </m:r>
                              <m:r>
                                <a:rPr lang="fr-FR" sz="2200" i="1" noProof="0" smtClean="0">
                                  <a:latin typeface="Cambria Math" panose="02040503050406030204" pitchFamily="18" charset="0"/>
                                </a:rPr>
                                <m:t>+1</m:t>
                              </m:r>
                            </m:sup>
                          </m:sSubSup>
                        </m:num>
                        <m:den>
                          <m:r>
                            <a:rPr lang="fr-FR" sz="2200" i="1" noProof="0" smtClean="0">
                              <a:latin typeface="Cambria Math" panose="02040503050406030204" pitchFamily="18" charset="0"/>
                            </a:rPr>
                            <m:t>2</m:t>
                          </m:r>
                          <m:r>
                            <m:rPr>
                              <m:sty m:val="p"/>
                            </m:rPr>
                            <a:rPr lang="fr-FR" sz="2200" i="1" noProof="0" smtClean="0">
                              <a:latin typeface="Cambria Math" panose="02040503050406030204" pitchFamily="18" charset="0"/>
                            </a:rPr>
                            <m:t>Δ</m:t>
                          </m:r>
                          <m:r>
                            <a:rPr lang="fr-FR" sz="2200" i="1" noProof="0" smtClean="0">
                              <a:latin typeface="Cambria Math" panose="02040503050406030204" pitchFamily="18" charset="0"/>
                            </a:rPr>
                            <m:t>𝑟</m:t>
                          </m:r>
                        </m:den>
                      </m:f>
                      <m:r>
                        <a:rPr lang="fr-FR" sz="2200" i="1" noProof="0" smtClean="0">
                          <a:latin typeface="Cambria Math" panose="02040503050406030204" pitchFamily="18" charset="0"/>
                        </a:rPr>
                        <m:t>=0</m:t>
                      </m:r>
                      <m:r>
                        <a:rPr lang="fr-FR" sz="2200" i="1" noProof="0">
                          <a:latin typeface="Cambria Math" panose="02040503050406030204" pitchFamily="18" charset="0"/>
                          <a:ea typeface="Cambria Math" panose="02040503050406030204" pitchFamily="18" charset="0"/>
                        </a:rPr>
                        <m:t>⟹</m:t>
                      </m:r>
                      <m:f>
                        <m:fPr>
                          <m:ctrlPr>
                            <a:rPr lang="fr-FR" sz="2200" i="1" noProof="0" smtClean="0">
                              <a:latin typeface="Cambria Math" panose="02040503050406030204" pitchFamily="18" charset="0"/>
                            </a:rPr>
                          </m:ctrlPr>
                        </m:fPr>
                        <m:num>
                          <m:r>
                            <a:rPr lang="fr-FR" sz="2200" i="1" noProof="0" smtClean="0">
                              <a:latin typeface="Cambria Math" panose="02040503050406030204" pitchFamily="18" charset="0"/>
                            </a:rPr>
                            <m:t>−</m:t>
                          </m:r>
                          <m:sSubSup>
                            <m:sSubSupPr>
                              <m:ctrlPr>
                                <a:rPr lang="fr-FR" sz="2200" i="1" noProof="0" smtClean="0">
                                  <a:latin typeface="Cambria Math" panose="02040503050406030204" pitchFamily="18" charset="0"/>
                                </a:rPr>
                              </m:ctrlPr>
                            </m:sSubSupPr>
                            <m:e>
                              <m:r>
                                <a:rPr lang="fr-FR" sz="2200" i="1" noProof="0" smtClean="0">
                                  <a:latin typeface="Cambria Math" panose="02040503050406030204" pitchFamily="18" charset="0"/>
                                </a:rPr>
                                <m:t>𝐶</m:t>
                              </m:r>
                            </m:e>
                            <m:sub>
                              <m:r>
                                <a:rPr lang="fr-FR" sz="2200" b="0" i="1" noProof="0" smtClean="0">
                                  <a:latin typeface="Cambria Math" panose="02040503050406030204" pitchFamily="18" charset="0"/>
                                </a:rPr>
                                <m:t>3</m:t>
                              </m:r>
                            </m:sub>
                            <m:sup>
                              <m:r>
                                <a:rPr lang="fr-FR" sz="2200" i="1" noProof="0" smtClean="0">
                                  <a:latin typeface="Cambria Math" panose="02040503050406030204" pitchFamily="18" charset="0"/>
                                </a:rPr>
                                <m:t>𝑡</m:t>
                              </m:r>
                              <m:r>
                                <a:rPr lang="fr-FR" sz="2200" i="1" noProof="0" smtClean="0">
                                  <a:latin typeface="Cambria Math" panose="02040503050406030204" pitchFamily="18" charset="0"/>
                                </a:rPr>
                                <m:t>+1</m:t>
                              </m:r>
                            </m:sup>
                          </m:sSubSup>
                          <m:r>
                            <a:rPr lang="fr-FR" sz="2200" i="1" noProof="0" smtClean="0">
                              <a:latin typeface="Cambria Math" panose="02040503050406030204" pitchFamily="18" charset="0"/>
                            </a:rPr>
                            <m:t>+4</m:t>
                          </m:r>
                          <m:sSubSup>
                            <m:sSubSupPr>
                              <m:ctrlPr>
                                <a:rPr lang="fr-FR" sz="2200" i="1" noProof="0" smtClean="0">
                                  <a:latin typeface="Cambria Math" panose="02040503050406030204" pitchFamily="18" charset="0"/>
                                </a:rPr>
                              </m:ctrlPr>
                            </m:sSubSupPr>
                            <m:e>
                              <m:r>
                                <a:rPr lang="fr-FR" sz="2200" i="1" noProof="0" smtClean="0">
                                  <a:latin typeface="Cambria Math" panose="02040503050406030204" pitchFamily="18" charset="0"/>
                                </a:rPr>
                                <m:t>𝐶</m:t>
                              </m:r>
                            </m:e>
                            <m:sub>
                              <m:r>
                                <a:rPr lang="fr-FR" sz="2200" b="0" i="1" noProof="0" smtClean="0">
                                  <a:latin typeface="Cambria Math" panose="02040503050406030204" pitchFamily="18" charset="0"/>
                                </a:rPr>
                                <m:t>2</m:t>
                              </m:r>
                            </m:sub>
                            <m:sup>
                              <m:r>
                                <a:rPr lang="fr-FR" sz="2200" i="1" noProof="0" smtClean="0">
                                  <a:latin typeface="Cambria Math" panose="02040503050406030204" pitchFamily="18" charset="0"/>
                                </a:rPr>
                                <m:t>𝑡</m:t>
                              </m:r>
                              <m:r>
                                <a:rPr lang="fr-FR" sz="2200" i="1" noProof="0" smtClean="0">
                                  <a:latin typeface="Cambria Math" panose="02040503050406030204" pitchFamily="18" charset="0"/>
                                </a:rPr>
                                <m:t>+1</m:t>
                              </m:r>
                            </m:sup>
                          </m:sSubSup>
                          <m:r>
                            <a:rPr lang="fr-FR" sz="2200" i="1" noProof="0" smtClean="0">
                              <a:latin typeface="Cambria Math" panose="02040503050406030204" pitchFamily="18" charset="0"/>
                            </a:rPr>
                            <m:t>−3</m:t>
                          </m:r>
                          <m:sSubSup>
                            <m:sSubSupPr>
                              <m:ctrlPr>
                                <a:rPr lang="fr-FR" sz="2200" i="1" noProof="0" smtClean="0">
                                  <a:latin typeface="Cambria Math" panose="02040503050406030204" pitchFamily="18" charset="0"/>
                                </a:rPr>
                              </m:ctrlPr>
                            </m:sSubSupPr>
                            <m:e>
                              <m:r>
                                <a:rPr lang="fr-FR" sz="2200" i="1" noProof="0" smtClean="0">
                                  <a:latin typeface="Cambria Math" panose="02040503050406030204" pitchFamily="18" charset="0"/>
                                </a:rPr>
                                <m:t>𝐶</m:t>
                              </m:r>
                            </m:e>
                            <m:sub>
                              <m:r>
                                <a:rPr lang="fr-FR" sz="2200" b="0" i="1" noProof="0" smtClean="0">
                                  <a:latin typeface="Cambria Math" panose="02040503050406030204" pitchFamily="18" charset="0"/>
                                </a:rPr>
                                <m:t>1</m:t>
                              </m:r>
                            </m:sub>
                            <m:sup>
                              <m:r>
                                <a:rPr lang="fr-FR" sz="2200" i="1" noProof="0" smtClean="0">
                                  <a:latin typeface="Cambria Math" panose="02040503050406030204" pitchFamily="18" charset="0"/>
                                </a:rPr>
                                <m:t>𝑡</m:t>
                              </m:r>
                              <m:r>
                                <a:rPr lang="fr-FR" sz="2200" i="1" noProof="0" smtClean="0">
                                  <a:latin typeface="Cambria Math" panose="02040503050406030204" pitchFamily="18" charset="0"/>
                                </a:rPr>
                                <m:t>+1</m:t>
                              </m:r>
                            </m:sup>
                          </m:sSubSup>
                        </m:num>
                        <m:den>
                          <m:r>
                            <a:rPr lang="fr-FR" sz="2200" i="1" noProof="0" smtClean="0">
                              <a:latin typeface="Cambria Math" panose="02040503050406030204" pitchFamily="18" charset="0"/>
                            </a:rPr>
                            <m:t>2</m:t>
                          </m:r>
                          <m:r>
                            <m:rPr>
                              <m:sty m:val="p"/>
                            </m:rPr>
                            <a:rPr lang="fr-FR" sz="2200" i="1" noProof="0" smtClean="0">
                              <a:latin typeface="Cambria Math" panose="02040503050406030204" pitchFamily="18" charset="0"/>
                            </a:rPr>
                            <m:t>Δ</m:t>
                          </m:r>
                          <m:r>
                            <a:rPr lang="fr-FR" sz="2200" i="1" noProof="0" smtClean="0">
                              <a:latin typeface="Cambria Math" panose="02040503050406030204" pitchFamily="18" charset="0"/>
                            </a:rPr>
                            <m:t>𝑟</m:t>
                          </m:r>
                        </m:den>
                      </m:f>
                      <m:r>
                        <a:rPr lang="fr-FR" sz="2200" i="1" noProof="0" smtClean="0">
                          <a:latin typeface="Cambria Math" panose="02040503050406030204" pitchFamily="18" charset="0"/>
                        </a:rPr>
                        <m:t>=0</m:t>
                      </m:r>
                    </m:oMath>
                  </m:oMathPara>
                </a14:m>
                <a:endParaRPr lang="fr-FR" sz="2200" noProof="0" dirty="0"/>
              </a:p>
              <a:p>
                <a:pPr marL="0" indent="0" algn="just">
                  <a:buNone/>
                </a:pPr>
                <a:r>
                  <a:rPr lang="fr-FR" sz="2400" u="sng" noProof="0" dirty="0"/>
                  <a:t>Nœud 5 </a:t>
                </a:r>
                <a:r>
                  <a:rPr lang="fr-FR" sz="2400" noProof="0" dirty="0"/>
                  <a:t>: Condition de Dirichlet discrétisée</a:t>
                </a:r>
              </a:p>
              <a:p>
                <a:pPr marL="0" indent="0" algn="just">
                  <a:buNone/>
                </a:pPr>
                <a14:m>
                  <m:oMathPara xmlns:m="http://schemas.openxmlformats.org/officeDocument/2006/math">
                    <m:oMathParaPr>
                      <m:jc m:val="centerGroup"/>
                    </m:oMathParaPr>
                    <m:oMath xmlns:m="http://schemas.openxmlformats.org/officeDocument/2006/math">
                      <m:sSubSup>
                        <m:sSubSupPr>
                          <m:ctrlPr>
                            <a:rPr lang="fr-FR" sz="2200" i="1" noProof="0" smtClean="0">
                              <a:latin typeface="Cambria Math" panose="02040503050406030204" pitchFamily="18" charset="0"/>
                            </a:rPr>
                          </m:ctrlPr>
                        </m:sSubSupPr>
                        <m:e>
                          <m:r>
                            <a:rPr lang="fr-FR" sz="2200" i="1" noProof="0" smtClean="0">
                              <a:latin typeface="Cambria Math" panose="02040503050406030204" pitchFamily="18" charset="0"/>
                            </a:rPr>
                            <m:t>𝐶</m:t>
                          </m:r>
                        </m:e>
                        <m:sub>
                          <m:r>
                            <a:rPr lang="fr-FR" sz="2200" b="0" i="1" noProof="0" smtClean="0">
                              <a:latin typeface="Cambria Math" panose="02040503050406030204" pitchFamily="18" charset="0"/>
                            </a:rPr>
                            <m:t>𝑖</m:t>
                          </m:r>
                        </m:sub>
                        <m:sup>
                          <m:r>
                            <a:rPr lang="fr-FR" sz="2200" i="1" noProof="0" smtClean="0">
                              <a:latin typeface="Cambria Math" panose="02040503050406030204" pitchFamily="18" charset="0"/>
                            </a:rPr>
                            <m:t>𝑡</m:t>
                          </m:r>
                          <m:r>
                            <a:rPr lang="fr-FR" sz="2200" i="1" noProof="0" smtClean="0">
                              <a:latin typeface="Cambria Math" panose="02040503050406030204" pitchFamily="18" charset="0"/>
                            </a:rPr>
                            <m:t>+1</m:t>
                          </m:r>
                        </m:sup>
                      </m:sSubSup>
                      <m:r>
                        <a:rPr lang="fr-FR" sz="2200" b="0" i="1" noProof="0" smtClean="0">
                          <a:latin typeface="Cambria Math" panose="02040503050406030204" pitchFamily="18" charset="0"/>
                        </a:rPr>
                        <m:t>=</m:t>
                      </m:r>
                      <m:sSub>
                        <m:sSubPr>
                          <m:ctrlPr>
                            <a:rPr lang="fr-FR" sz="2200" i="1" noProof="0">
                              <a:latin typeface="Cambria Math" panose="02040503050406030204" pitchFamily="18" charset="0"/>
                            </a:rPr>
                          </m:ctrlPr>
                        </m:sSubPr>
                        <m:e>
                          <m:r>
                            <a:rPr lang="fr-FR" sz="2200" i="1" noProof="0">
                              <a:latin typeface="Cambria Math" panose="02040503050406030204" pitchFamily="18" charset="0"/>
                            </a:rPr>
                            <m:t>𝐶</m:t>
                          </m:r>
                        </m:e>
                        <m:sub>
                          <m:r>
                            <a:rPr lang="fr-FR" sz="2200" i="1" noProof="0">
                              <a:latin typeface="Cambria Math" panose="02040503050406030204" pitchFamily="18" charset="0"/>
                            </a:rPr>
                            <m:t>𝑒</m:t>
                          </m:r>
                        </m:sub>
                      </m:sSub>
                      <m:r>
                        <a:rPr lang="fr-FR" sz="2200" noProof="0">
                          <a:latin typeface="Cambria Math" panose="02040503050406030204" pitchFamily="18" charset="0"/>
                          <a:ea typeface="Cambria Math" panose="02040503050406030204" pitchFamily="18" charset="0"/>
                        </a:rPr>
                        <m:t>⟹</m:t>
                      </m:r>
                      <m:sSubSup>
                        <m:sSubSupPr>
                          <m:ctrlPr>
                            <a:rPr lang="fr-FR" sz="2200" i="1" noProof="0" smtClean="0">
                              <a:latin typeface="Cambria Math" panose="02040503050406030204" pitchFamily="18" charset="0"/>
                            </a:rPr>
                          </m:ctrlPr>
                        </m:sSubSupPr>
                        <m:e>
                          <m:r>
                            <a:rPr lang="fr-FR" sz="2200" i="1" noProof="0" smtClean="0">
                              <a:latin typeface="Cambria Math" panose="02040503050406030204" pitchFamily="18" charset="0"/>
                            </a:rPr>
                            <m:t>𝐶</m:t>
                          </m:r>
                        </m:e>
                        <m:sub>
                          <m:r>
                            <a:rPr lang="fr-FR" sz="2200" b="0" i="1" noProof="0" smtClean="0">
                              <a:latin typeface="Cambria Math" panose="02040503050406030204" pitchFamily="18" charset="0"/>
                            </a:rPr>
                            <m:t>5</m:t>
                          </m:r>
                        </m:sub>
                        <m:sup>
                          <m:r>
                            <a:rPr lang="fr-FR" sz="2200" i="1" noProof="0" smtClean="0">
                              <a:latin typeface="Cambria Math" panose="02040503050406030204" pitchFamily="18" charset="0"/>
                            </a:rPr>
                            <m:t>𝑡</m:t>
                          </m:r>
                          <m:r>
                            <a:rPr lang="fr-FR" sz="2200" i="1" noProof="0" smtClean="0">
                              <a:latin typeface="Cambria Math" panose="02040503050406030204" pitchFamily="18" charset="0"/>
                            </a:rPr>
                            <m:t>+1</m:t>
                          </m:r>
                        </m:sup>
                      </m:sSubSup>
                      <m:r>
                        <a:rPr lang="fr-FR" sz="2200" i="1" noProof="0">
                          <a:latin typeface="Cambria Math" panose="02040503050406030204" pitchFamily="18" charset="0"/>
                        </a:rPr>
                        <m:t>=</m:t>
                      </m:r>
                      <m:sSub>
                        <m:sSubPr>
                          <m:ctrlPr>
                            <a:rPr lang="fr-FR" sz="2200" i="1" noProof="0">
                              <a:latin typeface="Cambria Math" panose="02040503050406030204" pitchFamily="18" charset="0"/>
                            </a:rPr>
                          </m:ctrlPr>
                        </m:sSubPr>
                        <m:e>
                          <m:r>
                            <a:rPr lang="fr-FR" sz="2200" i="1" noProof="0">
                              <a:latin typeface="Cambria Math" panose="02040503050406030204" pitchFamily="18" charset="0"/>
                            </a:rPr>
                            <m:t>𝐶</m:t>
                          </m:r>
                        </m:e>
                        <m:sub>
                          <m:r>
                            <a:rPr lang="fr-FR" sz="2200" i="1" noProof="0">
                              <a:latin typeface="Cambria Math" panose="02040503050406030204" pitchFamily="18" charset="0"/>
                            </a:rPr>
                            <m:t>𝑒</m:t>
                          </m:r>
                        </m:sub>
                      </m:sSub>
                    </m:oMath>
                  </m:oMathPara>
                </a14:m>
                <a:endParaRPr lang="fr-FR" sz="2200" noProof="0" dirty="0"/>
              </a:p>
              <a:p>
                <a:pPr marL="0" indent="0" algn="just">
                  <a:buNone/>
                </a:pPr>
                <a:r>
                  <a:rPr lang="fr-FR" sz="2400" u="sng" noProof="0" dirty="0"/>
                  <a:t>Nœud 2-3-4 </a:t>
                </a:r>
                <a:r>
                  <a:rPr lang="fr-FR" sz="2400" noProof="0" dirty="0"/>
                  <a:t>: </a:t>
                </a:r>
                <a:endParaRPr lang="fr-FR" sz="2200" i="1" noProof="0" dirty="0">
                  <a:latin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f>
                        <m:fPr>
                          <m:ctrlPr>
                            <a:rPr lang="fr-FR" sz="2000" i="1" noProof="0" smtClean="0">
                              <a:latin typeface="Cambria Math" panose="02040503050406030204" pitchFamily="18" charset="0"/>
                            </a:rPr>
                          </m:ctrlPr>
                        </m:fPr>
                        <m:num>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up>
                              <m:r>
                                <a:rPr lang="fr-FR" sz="2000" i="1" noProof="0" smtClean="0">
                                  <a:latin typeface="Cambria Math" panose="02040503050406030204" pitchFamily="18" charset="0"/>
                                </a:rPr>
                                <m:t>𝑡</m:t>
                              </m:r>
                            </m:sup>
                          </m:sSubSup>
                        </m:num>
                        <m:den>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den>
                      </m:f>
                      <m:r>
                        <a:rPr lang="fr-FR" sz="2000" i="1" noProof="0">
                          <a:latin typeface="Cambria Math" panose="02040503050406030204" pitchFamily="18" charset="0"/>
                        </a:rPr>
                        <m:t>=</m:t>
                      </m:r>
                      <m:r>
                        <a:rPr lang="fr-FR" sz="2000" i="1" noProof="0" smtClean="0">
                          <a:latin typeface="Cambria Math" panose="02040503050406030204" pitchFamily="18" charset="0"/>
                        </a:rPr>
                        <m:t> </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noProof="0">
                              <a:latin typeface="Cambria Math" panose="02040503050406030204" pitchFamily="18" charset="0"/>
                            </a:rPr>
                            <m:t>eff</m:t>
                          </m:r>
                        </m:sub>
                      </m:sSub>
                      <m:d>
                        <m:dPr>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r>
                                    <a:rPr lang="fr-FR" sz="2000" i="1" noProof="0" smtClean="0">
                                      <a:latin typeface="Cambria Math" panose="02040503050406030204" pitchFamily="18" charset="0"/>
                                    </a:rPr>
                                    <m:t>+1</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−2 </m:t>
                              </m:r>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r>
                                    <a:rPr lang="fr-FR" sz="2000" i="1" noProof="0" smtClean="0">
                                      <a:latin typeface="Cambria Math" panose="02040503050406030204" pitchFamily="18" charset="0"/>
                                    </a:rPr>
                                    <m:t>−1</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num>
                            <m:den>
                              <m:r>
                                <m:rPr>
                                  <m:sty m:val="p"/>
                                </m:rPr>
                                <a:rPr lang="fr-FR" sz="2000" i="1" noProof="0" smtClean="0">
                                  <a:latin typeface="Cambria Math" panose="02040503050406030204" pitchFamily="18" charset="0"/>
                                </a:rPr>
                                <m:t>Δ</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den>
                          </m:f>
                          <m:r>
                            <a:rPr lang="fr-FR" sz="2000" i="1" noProof="0" smtClean="0">
                              <a:latin typeface="Cambria Math" panose="02040503050406030204" pitchFamily="18" charset="0"/>
                            </a:rPr>
                            <m:t>+</m:t>
                          </m:r>
                          <m:f>
                            <m:fPr>
                              <m:ctrlPr>
                                <a:rPr lang="fr-FR" sz="2000" i="1" noProof="0" smtClean="0">
                                  <a:latin typeface="Cambria Math" panose="02040503050406030204" pitchFamily="18" charset="0"/>
                                </a:rPr>
                              </m:ctrlPr>
                            </m:fPr>
                            <m:num>
                              <m:r>
                                <a:rPr lang="fr-FR" sz="2000" i="1" noProof="0" smtClean="0">
                                  <a:latin typeface="Cambria Math" panose="02040503050406030204" pitchFamily="18" charset="0"/>
                                </a:rPr>
                                <m:t>1</m:t>
                              </m:r>
                            </m:num>
                            <m:den>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𝑟</m:t>
                                  </m:r>
                                </m:e>
                                <m:sub>
                                  <m:r>
                                    <a:rPr lang="fr-FR" sz="2000" i="1" noProof="0" smtClean="0">
                                      <a:latin typeface="Cambria Math" panose="02040503050406030204" pitchFamily="18" charset="0"/>
                                    </a:rPr>
                                    <m:t>𝑖</m:t>
                                  </m:r>
                                </m:sub>
                              </m:sSub>
                            </m:den>
                          </m:f>
                          <m:f>
                            <m:fPr>
                              <m:ctrlPr>
                                <a:rPr lang="fr-FR" sz="2000" i="1" noProof="0" smtClean="0">
                                  <a:latin typeface="Cambria Math" panose="02040503050406030204" pitchFamily="18" charset="0"/>
                                </a:rPr>
                              </m:ctrlPr>
                            </m:fPr>
                            <m:num>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r>
                                    <a:rPr lang="fr-FR" sz="2000" i="1" noProof="0" smtClean="0">
                                      <a:latin typeface="Cambria Math" panose="02040503050406030204" pitchFamily="18" charset="0"/>
                                    </a:rPr>
                                    <m:t>+1</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r>
                                    <a:rPr lang="fr-FR" sz="2000" i="1" noProof="0" smtClean="0">
                                      <a:latin typeface="Cambria Math" panose="02040503050406030204" pitchFamily="18" charset="0"/>
                                    </a:rPr>
                                    <m:t>−1</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num>
                            <m:den>
                              <m:r>
                                <a:rPr lang="fr-FR" sz="2000" i="1" noProof="0" smtClean="0">
                                  <a:latin typeface="Cambria Math" panose="02040503050406030204" pitchFamily="18" charset="0"/>
                                </a:rPr>
                                <m:t>2</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𝑟</m:t>
                              </m:r>
                            </m:den>
                          </m:f>
                        </m:e>
                      </m:d>
                      <m:r>
                        <a:rPr lang="fr-FR" sz="2000" i="1" noProof="0" smtClean="0">
                          <a:latin typeface="Cambria Math" panose="02040503050406030204" pitchFamily="18" charset="0"/>
                        </a:rPr>
                        <m:t>−</m:t>
                      </m:r>
                      <m:r>
                        <a:rPr lang="fr-FR" sz="2000" i="1" noProof="0" smtClean="0">
                          <a:latin typeface="Cambria Math" panose="02040503050406030204" pitchFamily="18" charset="0"/>
                        </a:rPr>
                        <m:t>𝑘</m:t>
                      </m:r>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d>
                        <m:dPr>
                          <m:ctrlPr>
                            <a:rPr lang="fr-FR" sz="2000" i="1" noProof="0" smtClean="0">
                              <a:latin typeface="Cambria Math" panose="02040503050406030204" pitchFamily="18" charset="0"/>
                            </a:rPr>
                          </m:ctrlPr>
                        </m:dPr>
                        <m:e>
                          <m:r>
                            <m:rPr>
                              <m:sty m:val="p"/>
                            </m:rPr>
                            <a:rPr lang="fr-FR" sz="2000" i="1" noProof="0" smtClean="0">
                              <a:latin typeface="Cambria Math" panose="02040503050406030204" pitchFamily="18" charset="0"/>
                            </a:rPr>
                            <m:t>Δ</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r>
                            <a:rPr lang="fr-FR" sz="2000" i="1" noProof="0">
                              <a:latin typeface="Cambria Math" panose="02040503050406030204" pitchFamily="18" charset="0"/>
                            </a:rPr>
                            <m:t>+</m:t>
                          </m:r>
                          <m:r>
                            <a:rPr lang="fr-FR" sz="2000" i="1" noProof="0" smtClean="0">
                              <a:latin typeface="Cambria Math" panose="02040503050406030204" pitchFamily="18" charset="0"/>
                            </a:rPr>
                            <m:t>2</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noProof="0">
                                  <a:latin typeface="Cambria Math" panose="02040503050406030204" pitchFamily="18" charset="0"/>
                                </a:rPr>
                                <m:t>eff</m:t>
                              </m:r>
                            </m:sub>
                          </m:sSub>
                          <m:r>
                            <a:rPr lang="fr-FR" sz="2000" i="1" noProof="0" smtClean="0">
                              <a:latin typeface="Cambria Math" panose="02040503050406030204" pitchFamily="18" charset="0"/>
                            </a:rPr>
                            <m:t>+</m:t>
                          </m:r>
                          <m:r>
                            <a:rPr lang="fr-FR" sz="2000" i="1" noProof="0" smtClean="0">
                              <a:latin typeface="Cambria Math" panose="02040503050406030204" pitchFamily="18" charset="0"/>
                            </a:rPr>
                            <m:t>𝑘</m:t>
                          </m:r>
                          <m:r>
                            <m:rPr>
                              <m:sty m:val="p"/>
                            </m:rPr>
                            <a:rPr lang="fr-FR" sz="2000" i="1" noProof="0" smtClean="0">
                              <a:latin typeface="Cambria Math" panose="02040503050406030204" pitchFamily="18" charset="0"/>
                            </a:rPr>
                            <m:t>Δ</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r>
                            <a:rPr lang="fr-FR" sz="2000" i="1" noProof="0" smtClean="0">
                              <a:latin typeface="Cambria Math" panose="02040503050406030204" pitchFamily="18" charset="0"/>
                            </a:rPr>
                            <m:t> </m:t>
                          </m:r>
                        </m:e>
                      </m:d>
                      <m:r>
                        <a:rPr lang="fr-FR" sz="2000" i="1" noProof="0" smtClean="0">
                          <a:latin typeface="Cambria Math" panose="02040503050406030204" pitchFamily="18" charset="0"/>
                        </a:rPr>
                        <m:t> </m:t>
                      </m:r>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r>
                        <a:rPr lang="fr-FR" sz="2000" i="1" noProof="0" smtClean="0">
                          <a:latin typeface="Cambria Math" panose="02040503050406030204" pitchFamily="18" charset="0"/>
                        </a:rPr>
                        <m:t> </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noProof="0">
                              <a:latin typeface="Cambria Math" panose="02040503050406030204" pitchFamily="18" charset="0"/>
                            </a:rPr>
                            <m:t>eff</m:t>
                          </m:r>
                        </m:sub>
                      </m:sSub>
                      <m:d>
                        <m:dPr>
                          <m:ctrlPr>
                            <a:rPr lang="fr-FR" sz="2000" i="1" noProof="0" smtClean="0">
                              <a:latin typeface="Cambria Math" panose="02040503050406030204" pitchFamily="18" charset="0"/>
                            </a:rPr>
                          </m:ctrlPr>
                        </m:dPr>
                        <m:e>
                          <m:r>
                            <a:rPr lang="fr-FR" sz="2000" i="1" noProof="0" smtClean="0">
                              <a:latin typeface="Cambria Math" panose="02040503050406030204" pitchFamily="18" charset="0"/>
                            </a:rPr>
                            <m:t>1+</m:t>
                          </m:r>
                          <m:f>
                            <m:fPr>
                              <m:ctrlPr>
                                <a:rPr lang="fr-FR" sz="2000" i="1"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𝑟</m:t>
                              </m:r>
                            </m:num>
                            <m:den>
                              <m:r>
                                <a:rPr lang="fr-FR" sz="2000" i="1" noProof="0" smtClean="0">
                                  <a:latin typeface="Cambria Math" panose="02040503050406030204" pitchFamily="18" charset="0"/>
                                </a:rPr>
                                <m:t>2</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𝑟</m:t>
                                  </m:r>
                                </m:e>
                                <m:sub>
                                  <m:r>
                                    <a:rPr lang="fr-FR" sz="2000" i="1" noProof="0" smtClean="0">
                                      <a:latin typeface="Cambria Math" panose="02040503050406030204" pitchFamily="18" charset="0"/>
                                    </a:rPr>
                                    <m:t>𝑖</m:t>
                                  </m:r>
                                </m:sub>
                              </m:sSub>
                            </m:den>
                          </m:f>
                        </m:e>
                      </m:d>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r>
                            <a:rPr lang="fr-FR" sz="2000" i="1" noProof="0" smtClean="0">
                              <a:latin typeface="Cambria Math" panose="02040503050406030204" pitchFamily="18" charset="0"/>
                            </a:rPr>
                            <m:t>+1</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noProof="0">
                              <a:latin typeface="Cambria Math" panose="02040503050406030204" pitchFamily="18" charset="0"/>
                            </a:rPr>
                            <m:t>eff</m:t>
                          </m:r>
                        </m:sub>
                      </m:sSub>
                      <m:d>
                        <m:dPr>
                          <m:ctrlPr>
                            <a:rPr lang="fr-FR" sz="2000" i="1" noProof="0" smtClean="0">
                              <a:latin typeface="Cambria Math" panose="02040503050406030204" pitchFamily="18" charset="0"/>
                            </a:rPr>
                          </m:ctrlPr>
                        </m:dPr>
                        <m:e>
                          <m:r>
                            <a:rPr lang="fr-FR" sz="2000" i="1" noProof="0" smtClean="0">
                              <a:latin typeface="Cambria Math" panose="02040503050406030204" pitchFamily="18" charset="0"/>
                            </a:rPr>
                            <m:t>1−</m:t>
                          </m:r>
                          <m:f>
                            <m:fPr>
                              <m:ctrlPr>
                                <a:rPr lang="fr-FR" sz="2000" i="1"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𝑟</m:t>
                              </m:r>
                            </m:num>
                            <m:den>
                              <m:r>
                                <a:rPr lang="fr-FR" sz="2000" i="1" noProof="0" smtClean="0">
                                  <a:latin typeface="Cambria Math" panose="02040503050406030204" pitchFamily="18" charset="0"/>
                                </a:rPr>
                                <m:t>2</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𝑟</m:t>
                                  </m:r>
                                </m:e>
                                <m:sub>
                                  <m:r>
                                    <a:rPr lang="fr-FR" sz="2000" i="1" noProof="0" smtClean="0">
                                      <a:latin typeface="Cambria Math" panose="02040503050406030204" pitchFamily="18" charset="0"/>
                                    </a:rPr>
                                    <m:t>𝑖</m:t>
                                  </m:r>
                                </m:sub>
                              </m:sSub>
                            </m:den>
                          </m:f>
                        </m:e>
                      </m:d>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r>
                            <a:rPr lang="fr-FR" sz="2000" i="1" noProof="0" smtClean="0">
                              <a:latin typeface="Cambria Math" panose="02040503050406030204" pitchFamily="18" charset="0"/>
                            </a:rPr>
                            <m:t>−1</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up>
                          <m:r>
                            <a:rPr lang="fr-FR" sz="2000" i="1" noProof="0" smtClean="0">
                              <a:latin typeface="Cambria Math" panose="02040503050406030204" pitchFamily="18" charset="0"/>
                            </a:rPr>
                            <m:t>𝑡</m:t>
                          </m:r>
                        </m:sup>
                      </m:sSubSup>
                    </m:oMath>
                  </m:oMathPara>
                </a14:m>
                <a:endParaRPr lang="fr-FR" sz="2200" noProof="0" dirty="0"/>
              </a:p>
              <a:p>
                <a:pPr marL="0" indent="0" algn="just">
                  <a:buNone/>
                </a:pPr>
                <a:endParaRPr lang="fr-FR" sz="2400" noProof="0" dirty="0"/>
              </a:p>
            </p:txBody>
          </p:sp>
        </mc:Choice>
        <mc:Fallback>
          <p:sp>
            <p:nvSpPr>
              <p:cNvPr id="3" name="Espace réservé du contenu 2">
                <a:extLst>
                  <a:ext uri="{FF2B5EF4-FFF2-40B4-BE49-F238E27FC236}">
                    <a16:creationId xmlns:a16="http://schemas.microsoft.com/office/drawing/2014/main" id="{E9FDEB0A-F79B-49AD-8074-B16990F5395D}"/>
                  </a:ext>
                </a:extLst>
              </p:cNvPr>
              <p:cNvSpPr>
                <a:spLocks noGrp="1" noRot="1" noChangeAspect="1" noMove="1" noResize="1" noEditPoints="1" noAdjustHandles="1" noChangeArrowheads="1" noChangeShapeType="1" noTextEdit="1"/>
              </p:cNvSpPr>
              <p:nvPr>
                <p:ph idx="1"/>
              </p:nvPr>
            </p:nvSpPr>
            <p:spPr>
              <a:xfrm>
                <a:off x="862011" y="1422626"/>
                <a:ext cx="11095031" cy="5435374"/>
              </a:xfrm>
              <a:blipFill>
                <a:blip r:embed="rId2"/>
                <a:stretch>
                  <a:fillRect l="-879" t="-1570"/>
                </a:stretch>
              </a:blipFill>
            </p:spPr>
            <p:txBody>
              <a:bodyPr/>
              <a:lstStyle/>
              <a:p>
                <a:r>
                  <a:rPr lang="fr-FR">
                    <a:noFill/>
                  </a:rPr>
                  <a:t> </a:t>
                </a:r>
              </a:p>
            </p:txBody>
          </p:sp>
        </mc:Fallback>
      </mc:AlternateContent>
      <p:sp>
        <p:nvSpPr>
          <p:cNvPr id="5" name="Espace réservé du numéro de diapositive 4">
            <a:extLst>
              <a:ext uri="{FF2B5EF4-FFF2-40B4-BE49-F238E27FC236}">
                <a16:creationId xmlns:a16="http://schemas.microsoft.com/office/drawing/2014/main" id="{9D72CDAC-0045-4F59-95E2-3E0EFDB3C523}"/>
              </a:ext>
            </a:extLst>
          </p:cNvPr>
          <p:cNvSpPr>
            <a:spLocks noGrp="1"/>
          </p:cNvSpPr>
          <p:nvPr>
            <p:ph type="sldNum" sz="quarter" idx="12"/>
          </p:nvPr>
        </p:nvSpPr>
        <p:spPr/>
        <p:txBody>
          <a:bodyPr/>
          <a:lstStyle/>
          <a:p>
            <a:r>
              <a:rPr lang="fr-FR" noProof="0" dirty="0"/>
              <a:t>1</a:t>
            </a:r>
          </a:p>
        </p:txBody>
      </p:sp>
      <p:sp>
        <p:nvSpPr>
          <p:cNvPr id="8" name="Flèche : pentagone 7">
            <a:extLst>
              <a:ext uri="{FF2B5EF4-FFF2-40B4-BE49-F238E27FC236}">
                <a16:creationId xmlns:a16="http://schemas.microsoft.com/office/drawing/2014/main" id="{92719A68-95E9-4020-9175-E004C338763D}"/>
              </a:ext>
            </a:extLst>
          </p:cNvPr>
          <p:cNvSpPr/>
          <p:nvPr/>
        </p:nvSpPr>
        <p:spPr>
          <a:xfrm rot="5400000">
            <a:off x="-242354" y="477313"/>
            <a:ext cx="1439333" cy="484708"/>
          </a:xfrm>
          <a:prstGeom prst="homePlate">
            <a:avLst/>
          </a:prstGeom>
          <a:solidFill>
            <a:schemeClr val="accent6">
              <a:lumMod val="60000"/>
              <a:lumOff val="40000"/>
            </a:schemeClr>
          </a:solidFill>
          <a:ln w="3810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noProof="0" dirty="0"/>
          </a:p>
        </p:txBody>
      </p:sp>
      <p:sp>
        <p:nvSpPr>
          <p:cNvPr id="9" name="Flèche : chevron 8">
            <a:extLst>
              <a:ext uri="{FF2B5EF4-FFF2-40B4-BE49-F238E27FC236}">
                <a16:creationId xmlns:a16="http://schemas.microsoft.com/office/drawing/2014/main" id="{360AC41B-00A8-4E6C-9FBB-19D0E7B61040}"/>
              </a:ext>
            </a:extLst>
          </p:cNvPr>
          <p:cNvSpPr/>
          <p:nvPr/>
        </p:nvSpPr>
        <p:spPr>
          <a:xfrm rot="5400000">
            <a:off x="178860" y="1338800"/>
            <a:ext cx="596902" cy="484709"/>
          </a:xfrm>
          <a:prstGeom prst="chevron">
            <a:avLst/>
          </a:prstGeom>
          <a:solidFill>
            <a:schemeClr val="accent6">
              <a:lumMod val="60000"/>
              <a:lumOff val="4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solidFill>
                <a:schemeClr val="tx1"/>
              </a:solidFill>
            </a:endParaRPr>
          </a:p>
        </p:txBody>
      </p:sp>
      <p:cxnSp>
        <p:nvCxnSpPr>
          <p:cNvPr id="11" name="Connecteur droit 10">
            <a:extLst>
              <a:ext uri="{FF2B5EF4-FFF2-40B4-BE49-F238E27FC236}">
                <a16:creationId xmlns:a16="http://schemas.microsoft.com/office/drawing/2014/main" id="{D61C107B-CD5D-7DA9-120B-2BDC5069632B}"/>
              </a:ext>
            </a:extLst>
          </p:cNvPr>
          <p:cNvCxnSpPr/>
          <p:nvPr/>
        </p:nvCxnSpPr>
        <p:spPr>
          <a:xfrm>
            <a:off x="862010" y="1210734"/>
            <a:ext cx="10332000" cy="0"/>
          </a:xfrm>
          <a:prstGeom prst="line">
            <a:avLst/>
          </a:prstGeom>
          <a:ln w="28575"/>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588856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154ED-BEB1-5D58-5844-3EFFB7793FD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C872E5-BB6C-0113-E307-929B4C925984}"/>
              </a:ext>
            </a:extLst>
          </p:cNvPr>
          <p:cNvSpPr>
            <a:spLocks noGrp="1"/>
          </p:cNvSpPr>
          <p:nvPr>
            <p:ph type="title"/>
          </p:nvPr>
        </p:nvSpPr>
        <p:spPr>
          <a:xfrm>
            <a:off x="885824" y="420159"/>
            <a:ext cx="11306175" cy="790575"/>
          </a:xfrm>
        </p:spPr>
        <p:txBody>
          <a:bodyPr>
            <a:normAutofit/>
          </a:bodyPr>
          <a:lstStyle/>
          <a:p>
            <a:r>
              <a:rPr lang="fr-FR" noProof="0" dirty="0"/>
              <a:t>A. Implémentation du code instationnaire (Suite)</a:t>
            </a:r>
          </a:p>
        </p:txBody>
      </p:sp>
      <p:sp>
        <p:nvSpPr>
          <p:cNvPr id="3" name="Espace réservé du contenu 2">
            <a:extLst>
              <a:ext uri="{FF2B5EF4-FFF2-40B4-BE49-F238E27FC236}">
                <a16:creationId xmlns:a16="http://schemas.microsoft.com/office/drawing/2014/main" id="{85CFDAA5-2282-8DE4-F3E6-665847E18D2A}"/>
              </a:ext>
            </a:extLst>
          </p:cNvPr>
          <p:cNvSpPr>
            <a:spLocks noGrp="1"/>
          </p:cNvSpPr>
          <p:nvPr>
            <p:ph idx="1"/>
          </p:nvPr>
        </p:nvSpPr>
        <p:spPr>
          <a:xfrm>
            <a:off x="862011" y="1422626"/>
            <a:ext cx="10467975" cy="5138595"/>
          </a:xfrm>
        </p:spPr>
        <p:txBody>
          <a:bodyPr>
            <a:normAutofit/>
          </a:bodyPr>
          <a:lstStyle/>
          <a:p>
            <a:pPr marL="0" indent="0" algn="just">
              <a:buNone/>
            </a:pPr>
            <a:endParaRPr lang="fr-FR" noProof="0" dirty="0"/>
          </a:p>
          <a:p>
            <a:pPr marL="457200" lvl="1" indent="0" algn="just">
              <a:buNone/>
            </a:pPr>
            <a:endParaRPr lang="fr-FR" noProof="0" dirty="0"/>
          </a:p>
        </p:txBody>
      </p:sp>
      <p:sp>
        <p:nvSpPr>
          <p:cNvPr id="4" name="Espace réservé du pied de page 3">
            <a:extLst>
              <a:ext uri="{FF2B5EF4-FFF2-40B4-BE49-F238E27FC236}">
                <a16:creationId xmlns:a16="http://schemas.microsoft.com/office/drawing/2014/main" id="{5F83E811-9A49-D979-0BBC-22D3A11A7DDB}"/>
              </a:ext>
            </a:extLst>
          </p:cNvPr>
          <p:cNvSpPr>
            <a:spLocks noGrp="1"/>
          </p:cNvSpPr>
          <p:nvPr>
            <p:ph type="ftr" sz="quarter" idx="11"/>
          </p:nvPr>
        </p:nvSpPr>
        <p:spPr>
          <a:xfrm>
            <a:off x="3953933" y="6356350"/>
            <a:ext cx="4284133" cy="365125"/>
          </a:xfrm>
        </p:spPr>
        <p:txBody>
          <a:bodyPr/>
          <a:lstStyle/>
          <a:p>
            <a:r>
              <a:rPr lang="fr-FR" noProof="0" dirty="0"/>
              <a:t>MEC8211 - Vérification et Validation en modélisation numérique</a:t>
            </a:r>
          </a:p>
        </p:txBody>
      </p:sp>
      <p:sp>
        <p:nvSpPr>
          <p:cNvPr id="5" name="Espace réservé du numéro de diapositive 4">
            <a:extLst>
              <a:ext uri="{FF2B5EF4-FFF2-40B4-BE49-F238E27FC236}">
                <a16:creationId xmlns:a16="http://schemas.microsoft.com/office/drawing/2014/main" id="{1841664F-B92F-0D6F-BD42-3670B81226ED}"/>
              </a:ext>
            </a:extLst>
          </p:cNvPr>
          <p:cNvSpPr>
            <a:spLocks noGrp="1"/>
          </p:cNvSpPr>
          <p:nvPr>
            <p:ph type="sldNum" sz="quarter" idx="12"/>
          </p:nvPr>
        </p:nvSpPr>
        <p:spPr/>
        <p:txBody>
          <a:bodyPr/>
          <a:lstStyle/>
          <a:p>
            <a:r>
              <a:rPr lang="fr-FR" noProof="0" dirty="0"/>
              <a:t>2</a:t>
            </a:r>
          </a:p>
        </p:txBody>
      </p:sp>
      <p:sp>
        <p:nvSpPr>
          <p:cNvPr id="8" name="Flèche : pentagone 7">
            <a:extLst>
              <a:ext uri="{FF2B5EF4-FFF2-40B4-BE49-F238E27FC236}">
                <a16:creationId xmlns:a16="http://schemas.microsoft.com/office/drawing/2014/main" id="{94C48F75-FD0C-D88E-3C60-2D83A64DC362}"/>
              </a:ext>
            </a:extLst>
          </p:cNvPr>
          <p:cNvSpPr/>
          <p:nvPr/>
        </p:nvSpPr>
        <p:spPr>
          <a:xfrm rot="5400000">
            <a:off x="-242354" y="477313"/>
            <a:ext cx="1439333" cy="484708"/>
          </a:xfrm>
          <a:prstGeom prst="homePlate">
            <a:avLst/>
          </a:prstGeom>
          <a:solidFill>
            <a:schemeClr val="accent6">
              <a:lumMod val="60000"/>
              <a:lumOff val="40000"/>
            </a:schemeClr>
          </a:solidFill>
          <a:ln w="3810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noProof="0" dirty="0"/>
          </a:p>
        </p:txBody>
      </p:sp>
      <p:sp>
        <p:nvSpPr>
          <p:cNvPr id="9" name="Flèche : chevron 8">
            <a:extLst>
              <a:ext uri="{FF2B5EF4-FFF2-40B4-BE49-F238E27FC236}">
                <a16:creationId xmlns:a16="http://schemas.microsoft.com/office/drawing/2014/main" id="{88D16A10-67C0-617D-5840-E37F90E80680}"/>
              </a:ext>
            </a:extLst>
          </p:cNvPr>
          <p:cNvSpPr/>
          <p:nvPr/>
        </p:nvSpPr>
        <p:spPr>
          <a:xfrm rot="5400000">
            <a:off x="178860" y="1338800"/>
            <a:ext cx="596902" cy="484709"/>
          </a:xfrm>
          <a:prstGeom prst="chevron">
            <a:avLst/>
          </a:prstGeom>
          <a:solidFill>
            <a:schemeClr val="accent6">
              <a:lumMod val="60000"/>
              <a:lumOff val="4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solidFill>
                <a:schemeClr val="tx1"/>
              </a:solidFill>
            </a:endParaRPr>
          </a:p>
        </p:txBody>
      </p:sp>
      <p:cxnSp>
        <p:nvCxnSpPr>
          <p:cNvPr id="11" name="Connecteur droit 10">
            <a:extLst>
              <a:ext uri="{FF2B5EF4-FFF2-40B4-BE49-F238E27FC236}">
                <a16:creationId xmlns:a16="http://schemas.microsoft.com/office/drawing/2014/main" id="{E7D3D3EE-6245-A127-D784-C295510E1372}"/>
              </a:ext>
            </a:extLst>
          </p:cNvPr>
          <p:cNvCxnSpPr/>
          <p:nvPr/>
        </p:nvCxnSpPr>
        <p:spPr>
          <a:xfrm>
            <a:off x="862010" y="1210734"/>
            <a:ext cx="10332000" cy="0"/>
          </a:xfrm>
          <a:prstGeom prst="line">
            <a:avLst/>
          </a:prstGeom>
          <a:ln w="28575"/>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mc:Choice xmlns:a14="http://schemas.microsoft.com/office/drawing/2010/main" Requires="a14">
          <p:sp>
            <p:nvSpPr>
              <p:cNvPr id="6" name="Espace réservé du contenu 2">
                <a:extLst>
                  <a:ext uri="{FF2B5EF4-FFF2-40B4-BE49-F238E27FC236}">
                    <a16:creationId xmlns:a16="http://schemas.microsoft.com/office/drawing/2014/main" id="{B5ADAF49-1D6F-43B6-1CB8-F42F787959A3}"/>
                  </a:ext>
                </a:extLst>
              </p:cNvPr>
              <p:cNvSpPr txBox="1">
                <a:spLocks/>
              </p:cNvSpPr>
              <p:nvPr/>
            </p:nvSpPr>
            <p:spPr>
              <a:xfrm>
                <a:off x="838201" y="1422626"/>
                <a:ext cx="11306174" cy="54353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fr-FR" sz="2400" u="sng" noProof="0" dirty="0"/>
                  <a:t>Nœud 2-3-4 (Suite)</a:t>
                </a:r>
                <a:r>
                  <a:rPr lang="fr-FR" sz="2400" noProof="0" dirty="0"/>
                  <a:t> :</a:t>
                </a:r>
                <a:endParaRPr lang="fr-FR" sz="2200" noProof="0" dirty="0"/>
              </a:p>
              <a:p>
                <a:pPr marL="0" indent="0">
                  <a:buNone/>
                </a:pPr>
                <a:r>
                  <a:rPr lang="fr-FR" sz="2200" u="sng" noProof="0" dirty="0"/>
                  <a:t>Nœud 2</a:t>
                </a:r>
                <a:r>
                  <a:rPr lang="fr-FR" sz="2200" noProof="0" dirty="0"/>
                  <a:t> </a:t>
                </a:r>
                <a:r>
                  <a:rPr lang="fr-FR" sz="2400" noProof="0" dirty="0"/>
                  <a:t>: </a:t>
                </a:r>
                <a14:m>
                  <m:oMath xmlns:m="http://schemas.openxmlformats.org/officeDocument/2006/math">
                    <m:d>
                      <m:dPr>
                        <m:ctrlPr>
                          <a:rPr lang="fr-FR" sz="2000" i="1" noProof="0" smtClean="0">
                            <a:latin typeface="Cambria Math" panose="02040503050406030204" pitchFamily="18" charset="0"/>
                          </a:rPr>
                        </m:ctrlPr>
                      </m:dPr>
                      <m:e>
                        <m:r>
                          <m:rPr>
                            <m:sty m:val="p"/>
                          </m:rPr>
                          <a:rPr lang="fr-FR" sz="2000" i="1" noProof="0" smtClean="0">
                            <a:latin typeface="Cambria Math" panose="02040503050406030204" pitchFamily="18" charset="0"/>
                          </a:rPr>
                          <m:t>Δ</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r>
                          <a:rPr lang="fr-FR" sz="2000" i="1" noProof="0">
                            <a:latin typeface="Cambria Math" panose="02040503050406030204" pitchFamily="18" charset="0"/>
                          </a:rPr>
                          <m:t>+</m:t>
                        </m:r>
                        <m:r>
                          <a:rPr lang="fr-FR" sz="2000" i="1" noProof="0" smtClean="0">
                            <a:latin typeface="Cambria Math" panose="02040503050406030204" pitchFamily="18" charset="0"/>
                          </a:rPr>
                          <m:t>2</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noProof="0">
                                <a:latin typeface="Cambria Math" panose="02040503050406030204" pitchFamily="18" charset="0"/>
                              </a:rPr>
                              <m:t>eff</m:t>
                            </m:r>
                          </m:sub>
                        </m:sSub>
                        <m:r>
                          <a:rPr lang="fr-FR" sz="2000" i="1" noProof="0" smtClean="0">
                            <a:latin typeface="Cambria Math" panose="02040503050406030204" pitchFamily="18" charset="0"/>
                          </a:rPr>
                          <m:t>+</m:t>
                        </m:r>
                        <m:r>
                          <a:rPr lang="fr-FR" sz="2000" i="1" noProof="0" smtClean="0">
                            <a:latin typeface="Cambria Math" panose="02040503050406030204" pitchFamily="18" charset="0"/>
                          </a:rPr>
                          <m:t>𝑘</m:t>
                        </m:r>
                        <m:r>
                          <m:rPr>
                            <m:sty m:val="p"/>
                          </m:rPr>
                          <a:rPr lang="fr-FR" sz="2000" i="1" noProof="0" smtClean="0">
                            <a:latin typeface="Cambria Math" panose="02040503050406030204" pitchFamily="18" charset="0"/>
                          </a:rPr>
                          <m:t>Δ</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r>
                          <a:rPr lang="fr-FR" sz="2000" i="1" noProof="0" smtClean="0">
                            <a:latin typeface="Cambria Math" panose="02040503050406030204" pitchFamily="18" charset="0"/>
                          </a:rPr>
                          <m:t> </m:t>
                        </m:r>
                      </m:e>
                    </m:d>
                    <m:r>
                      <a:rPr lang="fr-FR" sz="2000" i="1" noProof="0" smtClean="0">
                        <a:latin typeface="Cambria Math" panose="02040503050406030204" pitchFamily="18" charset="0"/>
                      </a:rPr>
                      <m:t> </m:t>
                    </m:r>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b="0" i="1" noProof="0" smtClean="0">
                            <a:latin typeface="Cambria Math" panose="02040503050406030204" pitchFamily="18" charset="0"/>
                          </a:rPr>
                          <m:t>2</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r>
                      <a:rPr lang="fr-FR" sz="2000" i="1" noProof="0" smtClean="0">
                        <a:latin typeface="Cambria Math" panose="02040503050406030204" pitchFamily="18" charset="0"/>
                      </a:rPr>
                      <m:t> </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noProof="0">
                            <a:latin typeface="Cambria Math" panose="02040503050406030204" pitchFamily="18" charset="0"/>
                          </a:rPr>
                          <m:t>eff</m:t>
                        </m:r>
                      </m:sub>
                    </m:sSub>
                    <m:d>
                      <m:dPr>
                        <m:ctrlPr>
                          <a:rPr lang="fr-FR" sz="2000" i="1" noProof="0" smtClean="0">
                            <a:latin typeface="Cambria Math" panose="02040503050406030204" pitchFamily="18" charset="0"/>
                          </a:rPr>
                        </m:ctrlPr>
                      </m:dPr>
                      <m:e>
                        <m:r>
                          <a:rPr lang="fr-FR" sz="2000" i="1" noProof="0" smtClean="0">
                            <a:latin typeface="Cambria Math" panose="02040503050406030204" pitchFamily="18" charset="0"/>
                          </a:rPr>
                          <m:t>1+</m:t>
                        </m:r>
                        <m:f>
                          <m:fPr>
                            <m:ctrlPr>
                              <a:rPr lang="fr-FR" sz="2000" i="1"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𝑟</m:t>
                            </m:r>
                          </m:num>
                          <m:den>
                            <m:r>
                              <a:rPr lang="fr-FR" sz="2000" i="1" noProof="0" smtClean="0">
                                <a:latin typeface="Cambria Math" panose="02040503050406030204" pitchFamily="18" charset="0"/>
                              </a:rPr>
                              <m:t>2</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𝑟</m:t>
                                </m:r>
                              </m:e>
                              <m:sub>
                                <m:r>
                                  <a:rPr lang="fr-FR" sz="2000" b="0" i="1" noProof="0" smtClean="0">
                                    <a:latin typeface="Cambria Math" panose="02040503050406030204" pitchFamily="18" charset="0"/>
                                  </a:rPr>
                                  <m:t>2</m:t>
                                </m:r>
                              </m:sub>
                            </m:sSub>
                          </m:den>
                        </m:f>
                      </m:e>
                    </m:d>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b="0" i="1" noProof="0" smtClean="0">
                            <a:latin typeface="Cambria Math" panose="02040503050406030204" pitchFamily="18" charset="0"/>
                          </a:rPr>
                          <m:t>3</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noProof="0">
                            <a:latin typeface="Cambria Math" panose="02040503050406030204" pitchFamily="18" charset="0"/>
                          </a:rPr>
                          <m:t>eff</m:t>
                        </m:r>
                      </m:sub>
                    </m:sSub>
                    <m:d>
                      <m:dPr>
                        <m:ctrlPr>
                          <a:rPr lang="fr-FR" sz="2000" i="1" noProof="0" smtClean="0">
                            <a:latin typeface="Cambria Math" panose="02040503050406030204" pitchFamily="18" charset="0"/>
                          </a:rPr>
                        </m:ctrlPr>
                      </m:dPr>
                      <m:e>
                        <m:r>
                          <a:rPr lang="fr-FR" sz="2000" i="1" noProof="0" smtClean="0">
                            <a:latin typeface="Cambria Math" panose="02040503050406030204" pitchFamily="18" charset="0"/>
                          </a:rPr>
                          <m:t>1−</m:t>
                        </m:r>
                        <m:f>
                          <m:fPr>
                            <m:ctrlPr>
                              <a:rPr lang="fr-FR" sz="2000" i="1"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𝑟</m:t>
                            </m:r>
                          </m:num>
                          <m:den>
                            <m:r>
                              <a:rPr lang="fr-FR" sz="2000" i="1" noProof="0" smtClean="0">
                                <a:latin typeface="Cambria Math" panose="02040503050406030204" pitchFamily="18" charset="0"/>
                              </a:rPr>
                              <m:t>2</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𝑟</m:t>
                                </m:r>
                              </m:e>
                              <m:sub>
                                <m:r>
                                  <a:rPr lang="fr-FR" sz="2000" b="0" i="1" noProof="0" smtClean="0">
                                    <a:latin typeface="Cambria Math" panose="02040503050406030204" pitchFamily="18" charset="0"/>
                                  </a:rPr>
                                  <m:t>2</m:t>
                                </m:r>
                              </m:sub>
                            </m:sSub>
                          </m:den>
                        </m:f>
                      </m:e>
                    </m:d>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b="0" i="1" noProof="0" smtClean="0">
                            <a:latin typeface="Cambria Math" panose="02040503050406030204" pitchFamily="18" charset="0"/>
                          </a:rPr>
                          <m:t>1</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b="0" i="1" noProof="0" smtClean="0">
                            <a:latin typeface="Cambria Math" panose="02040503050406030204" pitchFamily="18" charset="0"/>
                          </a:rPr>
                          <m:t>2</m:t>
                        </m:r>
                      </m:sub>
                      <m:sup>
                        <m:r>
                          <a:rPr lang="fr-FR" sz="2000" i="1" noProof="0" smtClean="0">
                            <a:latin typeface="Cambria Math" panose="02040503050406030204" pitchFamily="18" charset="0"/>
                          </a:rPr>
                          <m:t>𝑡</m:t>
                        </m:r>
                      </m:sup>
                    </m:sSubSup>
                  </m:oMath>
                </a14:m>
                <a:endParaRPr lang="fr-FR" noProof="0" dirty="0"/>
              </a:p>
              <a:p>
                <a:pPr marL="0" indent="0" algn="just">
                  <a:buNone/>
                </a:pPr>
                <a:r>
                  <a:rPr lang="fr-FR" sz="2200" u="sng" noProof="0" dirty="0"/>
                  <a:t>Nœud 3</a:t>
                </a:r>
                <a:r>
                  <a:rPr lang="fr-FR" sz="2200" b="1" noProof="0" dirty="0"/>
                  <a:t> </a:t>
                </a:r>
                <a:r>
                  <a:rPr lang="fr-FR" sz="2400" noProof="0" dirty="0"/>
                  <a:t>: </a:t>
                </a:r>
                <a14:m>
                  <m:oMath xmlns:m="http://schemas.openxmlformats.org/officeDocument/2006/math">
                    <m:d>
                      <m:dPr>
                        <m:ctrlPr>
                          <a:rPr lang="fr-FR" sz="2000" i="1" noProof="0" smtClean="0">
                            <a:latin typeface="Cambria Math" panose="02040503050406030204" pitchFamily="18" charset="0"/>
                          </a:rPr>
                        </m:ctrlPr>
                      </m:dPr>
                      <m:e>
                        <m:r>
                          <m:rPr>
                            <m:sty m:val="p"/>
                          </m:rPr>
                          <a:rPr lang="fr-FR" sz="2000" i="1" noProof="0" smtClean="0">
                            <a:latin typeface="Cambria Math" panose="02040503050406030204" pitchFamily="18" charset="0"/>
                          </a:rPr>
                          <m:t>Δ</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r>
                          <a:rPr lang="fr-FR" sz="2000" i="1" noProof="0">
                            <a:latin typeface="Cambria Math" panose="02040503050406030204" pitchFamily="18" charset="0"/>
                          </a:rPr>
                          <m:t>+</m:t>
                        </m:r>
                        <m:r>
                          <a:rPr lang="fr-FR" sz="2000" i="1" noProof="0" smtClean="0">
                            <a:latin typeface="Cambria Math" panose="02040503050406030204" pitchFamily="18" charset="0"/>
                          </a:rPr>
                          <m:t>2</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noProof="0">
                                <a:latin typeface="Cambria Math" panose="02040503050406030204" pitchFamily="18" charset="0"/>
                              </a:rPr>
                              <m:t>eff</m:t>
                            </m:r>
                          </m:sub>
                        </m:sSub>
                        <m:r>
                          <a:rPr lang="fr-FR" sz="2000" i="1" noProof="0" smtClean="0">
                            <a:latin typeface="Cambria Math" panose="02040503050406030204" pitchFamily="18" charset="0"/>
                          </a:rPr>
                          <m:t>+</m:t>
                        </m:r>
                        <m:r>
                          <a:rPr lang="fr-FR" sz="2000" i="1" noProof="0" smtClean="0">
                            <a:latin typeface="Cambria Math" panose="02040503050406030204" pitchFamily="18" charset="0"/>
                          </a:rPr>
                          <m:t>𝑘</m:t>
                        </m:r>
                        <m:r>
                          <m:rPr>
                            <m:sty m:val="p"/>
                          </m:rPr>
                          <a:rPr lang="fr-FR" sz="2000" i="1" noProof="0" smtClean="0">
                            <a:latin typeface="Cambria Math" panose="02040503050406030204" pitchFamily="18" charset="0"/>
                          </a:rPr>
                          <m:t>Δ</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r>
                          <a:rPr lang="fr-FR" sz="2000" i="1" noProof="0" smtClean="0">
                            <a:latin typeface="Cambria Math" panose="02040503050406030204" pitchFamily="18" charset="0"/>
                          </a:rPr>
                          <m:t> </m:t>
                        </m:r>
                      </m:e>
                    </m:d>
                    <m:r>
                      <a:rPr lang="fr-FR" sz="2000" i="1" noProof="0" smtClean="0">
                        <a:latin typeface="Cambria Math" panose="02040503050406030204" pitchFamily="18" charset="0"/>
                      </a:rPr>
                      <m:t> </m:t>
                    </m:r>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b="0" i="1" noProof="0" smtClean="0">
                            <a:latin typeface="Cambria Math" panose="02040503050406030204" pitchFamily="18" charset="0"/>
                          </a:rPr>
                          <m:t>3</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r>
                      <a:rPr lang="fr-FR" sz="2000" i="1" noProof="0" smtClean="0">
                        <a:latin typeface="Cambria Math" panose="02040503050406030204" pitchFamily="18" charset="0"/>
                      </a:rPr>
                      <m:t> </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noProof="0">
                            <a:latin typeface="Cambria Math" panose="02040503050406030204" pitchFamily="18" charset="0"/>
                          </a:rPr>
                          <m:t>eff</m:t>
                        </m:r>
                      </m:sub>
                    </m:sSub>
                    <m:d>
                      <m:dPr>
                        <m:ctrlPr>
                          <a:rPr lang="fr-FR" sz="2000" i="1" noProof="0" smtClean="0">
                            <a:latin typeface="Cambria Math" panose="02040503050406030204" pitchFamily="18" charset="0"/>
                          </a:rPr>
                        </m:ctrlPr>
                      </m:dPr>
                      <m:e>
                        <m:r>
                          <a:rPr lang="fr-FR" sz="2000" i="1" noProof="0" smtClean="0">
                            <a:latin typeface="Cambria Math" panose="02040503050406030204" pitchFamily="18" charset="0"/>
                          </a:rPr>
                          <m:t>1+</m:t>
                        </m:r>
                        <m:f>
                          <m:fPr>
                            <m:ctrlPr>
                              <a:rPr lang="fr-FR" sz="2000" i="1"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𝑟</m:t>
                            </m:r>
                          </m:num>
                          <m:den>
                            <m:r>
                              <a:rPr lang="fr-FR" sz="2000" i="1" noProof="0" smtClean="0">
                                <a:latin typeface="Cambria Math" panose="02040503050406030204" pitchFamily="18" charset="0"/>
                              </a:rPr>
                              <m:t>2</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𝑟</m:t>
                                </m:r>
                              </m:e>
                              <m:sub>
                                <m:r>
                                  <a:rPr lang="fr-FR" sz="2000" b="0" i="1" noProof="0" smtClean="0">
                                    <a:latin typeface="Cambria Math" panose="02040503050406030204" pitchFamily="18" charset="0"/>
                                  </a:rPr>
                                  <m:t>3</m:t>
                                </m:r>
                              </m:sub>
                            </m:sSub>
                          </m:den>
                        </m:f>
                      </m:e>
                    </m:d>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b="0" i="1" noProof="0" smtClean="0">
                            <a:latin typeface="Cambria Math" panose="02040503050406030204" pitchFamily="18" charset="0"/>
                          </a:rPr>
                          <m:t>4</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noProof="0">
                            <a:latin typeface="Cambria Math" panose="02040503050406030204" pitchFamily="18" charset="0"/>
                          </a:rPr>
                          <m:t>eff</m:t>
                        </m:r>
                      </m:sub>
                    </m:sSub>
                    <m:d>
                      <m:dPr>
                        <m:ctrlPr>
                          <a:rPr lang="fr-FR" sz="2000" i="1" noProof="0" smtClean="0">
                            <a:latin typeface="Cambria Math" panose="02040503050406030204" pitchFamily="18" charset="0"/>
                          </a:rPr>
                        </m:ctrlPr>
                      </m:dPr>
                      <m:e>
                        <m:r>
                          <a:rPr lang="fr-FR" sz="2000" i="1" noProof="0" smtClean="0">
                            <a:latin typeface="Cambria Math" panose="02040503050406030204" pitchFamily="18" charset="0"/>
                          </a:rPr>
                          <m:t>1−</m:t>
                        </m:r>
                        <m:f>
                          <m:fPr>
                            <m:ctrlPr>
                              <a:rPr lang="fr-FR" sz="2000" i="1"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𝑟</m:t>
                            </m:r>
                          </m:num>
                          <m:den>
                            <m:r>
                              <a:rPr lang="fr-FR" sz="2000" i="1" noProof="0" smtClean="0">
                                <a:latin typeface="Cambria Math" panose="02040503050406030204" pitchFamily="18" charset="0"/>
                              </a:rPr>
                              <m:t>2</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𝑟</m:t>
                                </m:r>
                              </m:e>
                              <m:sub>
                                <m:r>
                                  <a:rPr lang="fr-FR" sz="2000" b="0" i="1" noProof="0" smtClean="0">
                                    <a:latin typeface="Cambria Math" panose="02040503050406030204" pitchFamily="18" charset="0"/>
                                  </a:rPr>
                                  <m:t>3</m:t>
                                </m:r>
                              </m:sub>
                            </m:sSub>
                          </m:den>
                        </m:f>
                      </m:e>
                    </m:d>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b="0" i="1" noProof="0" smtClean="0">
                            <a:latin typeface="Cambria Math" panose="02040503050406030204" pitchFamily="18" charset="0"/>
                          </a:rPr>
                          <m:t>2</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b="0" i="1" noProof="0" smtClean="0">
                            <a:latin typeface="Cambria Math" panose="02040503050406030204" pitchFamily="18" charset="0"/>
                          </a:rPr>
                          <m:t>3</m:t>
                        </m:r>
                      </m:sub>
                      <m:sup>
                        <m:r>
                          <a:rPr lang="fr-FR" sz="2000" i="1" noProof="0" smtClean="0">
                            <a:latin typeface="Cambria Math" panose="02040503050406030204" pitchFamily="18" charset="0"/>
                          </a:rPr>
                          <m:t>𝑡</m:t>
                        </m:r>
                      </m:sup>
                    </m:sSubSup>
                  </m:oMath>
                </a14:m>
                <a:endParaRPr lang="fr-FR" noProof="0" dirty="0"/>
              </a:p>
              <a:p>
                <a:pPr marL="0" indent="0" algn="just">
                  <a:buNone/>
                </a:pPr>
                <a:r>
                  <a:rPr lang="fr-FR" sz="2200" u="sng" noProof="0" dirty="0"/>
                  <a:t>Nœud 4</a:t>
                </a:r>
                <a:r>
                  <a:rPr lang="fr-FR" sz="2200" noProof="0" dirty="0"/>
                  <a:t> </a:t>
                </a:r>
                <a:r>
                  <a:rPr lang="fr-FR" sz="2400" noProof="0" dirty="0"/>
                  <a:t>: </a:t>
                </a:r>
                <a14:m>
                  <m:oMath xmlns:m="http://schemas.openxmlformats.org/officeDocument/2006/math">
                    <m:d>
                      <m:dPr>
                        <m:ctrlPr>
                          <a:rPr lang="fr-FR" sz="2000" i="1" noProof="0" smtClean="0">
                            <a:latin typeface="Cambria Math" panose="02040503050406030204" pitchFamily="18" charset="0"/>
                          </a:rPr>
                        </m:ctrlPr>
                      </m:dPr>
                      <m:e>
                        <m:r>
                          <m:rPr>
                            <m:sty m:val="p"/>
                          </m:rPr>
                          <a:rPr lang="fr-FR" sz="2000" i="1" noProof="0" smtClean="0">
                            <a:latin typeface="Cambria Math" panose="02040503050406030204" pitchFamily="18" charset="0"/>
                          </a:rPr>
                          <m:t>Δ</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r>
                          <a:rPr lang="fr-FR" sz="2000" i="1" noProof="0">
                            <a:latin typeface="Cambria Math" panose="02040503050406030204" pitchFamily="18" charset="0"/>
                          </a:rPr>
                          <m:t>+</m:t>
                        </m:r>
                        <m:r>
                          <a:rPr lang="fr-FR" sz="2000" i="1" noProof="0" smtClean="0">
                            <a:latin typeface="Cambria Math" panose="02040503050406030204" pitchFamily="18" charset="0"/>
                          </a:rPr>
                          <m:t>2</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noProof="0">
                                <a:latin typeface="Cambria Math" panose="02040503050406030204" pitchFamily="18" charset="0"/>
                              </a:rPr>
                              <m:t>eff</m:t>
                            </m:r>
                          </m:sub>
                        </m:sSub>
                        <m:r>
                          <a:rPr lang="fr-FR" sz="2000" i="1" noProof="0" smtClean="0">
                            <a:latin typeface="Cambria Math" panose="02040503050406030204" pitchFamily="18" charset="0"/>
                          </a:rPr>
                          <m:t>+</m:t>
                        </m:r>
                        <m:r>
                          <a:rPr lang="fr-FR" sz="2000" i="1" noProof="0" smtClean="0">
                            <a:latin typeface="Cambria Math" panose="02040503050406030204" pitchFamily="18" charset="0"/>
                          </a:rPr>
                          <m:t>𝑘</m:t>
                        </m:r>
                        <m:r>
                          <m:rPr>
                            <m:sty m:val="p"/>
                          </m:rPr>
                          <a:rPr lang="fr-FR" sz="2000" i="1" noProof="0" smtClean="0">
                            <a:latin typeface="Cambria Math" panose="02040503050406030204" pitchFamily="18" charset="0"/>
                          </a:rPr>
                          <m:t>Δ</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r>
                          <a:rPr lang="fr-FR" sz="2000" i="1" noProof="0" smtClean="0">
                            <a:latin typeface="Cambria Math" panose="02040503050406030204" pitchFamily="18" charset="0"/>
                          </a:rPr>
                          <m:t> </m:t>
                        </m:r>
                      </m:e>
                    </m:d>
                    <m:r>
                      <a:rPr lang="fr-FR" sz="2000" i="1" noProof="0" smtClean="0">
                        <a:latin typeface="Cambria Math" panose="02040503050406030204" pitchFamily="18" charset="0"/>
                      </a:rPr>
                      <m:t> </m:t>
                    </m:r>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b="0" i="1" noProof="0" smtClean="0">
                            <a:latin typeface="Cambria Math" panose="02040503050406030204" pitchFamily="18" charset="0"/>
                          </a:rPr>
                          <m:t>4</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r>
                      <a:rPr lang="fr-FR" sz="2000" i="1" noProof="0" smtClean="0">
                        <a:latin typeface="Cambria Math" panose="02040503050406030204" pitchFamily="18" charset="0"/>
                      </a:rPr>
                      <m:t> </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noProof="0">
                            <a:latin typeface="Cambria Math" panose="02040503050406030204" pitchFamily="18" charset="0"/>
                          </a:rPr>
                          <m:t>eff</m:t>
                        </m:r>
                      </m:sub>
                    </m:sSub>
                    <m:d>
                      <m:dPr>
                        <m:ctrlPr>
                          <a:rPr lang="fr-FR" sz="2000" i="1" noProof="0" smtClean="0">
                            <a:latin typeface="Cambria Math" panose="02040503050406030204" pitchFamily="18" charset="0"/>
                          </a:rPr>
                        </m:ctrlPr>
                      </m:dPr>
                      <m:e>
                        <m:r>
                          <a:rPr lang="fr-FR" sz="2000" i="1" noProof="0" smtClean="0">
                            <a:latin typeface="Cambria Math" panose="02040503050406030204" pitchFamily="18" charset="0"/>
                          </a:rPr>
                          <m:t>1+</m:t>
                        </m:r>
                        <m:f>
                          <m:fPr>
                            <m:ctrlPr>
                              <a:rPr lang="fr-FR" sz="2000" i="1"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𝑟</m:t>
                            </m:r>
                          </m:num>
                          <m:den>
                            <m:r>
                              <a:rPr lang="fr-FR" sz="2000" i="1" noProof="0" smtClean="0">
                                <a:latin typeface="Cambria Math" panose="02040503050406030204" pitchFamily="18" charset="0"/>
                              </a:rPr>
                              <m:t>2</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𝑟</m:t>
                                </m:r>
                              </m:e>
                              <m:sub>
                                <m:r>
                                  <a:rPr lang="fr-FR" sz="2000" b="0" i="1" noProof="0" smtClean="0">
                                    <a:latin typeface="Cambria Math" panose="02040503050406030204" pitchFamily="18" charset="0"/>
                                  </a:rPr>
                                  <m:t>4</m:t>
                                </m:r>
                              </m:sub>
                            </m:sSub>
                          </m:den>
                        </m:f>
                      </m:e>
                    </m:d>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b="0" i="1" noProof="0" smtClean="0">
                            <a:latin typeface="Cambria Math" panose="02040503050406030204" pitchFamily="18" charset="0"/>
                          </a:rPr>
                          <m:t>5</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noProof="0">
                            <a:latin typeface="Cambria Math" panose="02040503050406030204" pitchFamily="18" charset="0"/>
                          </a:rPr>
                          <m:t>eff</m:t>
                        </m:r>
                      </m:sub>
                    </m:sSub>
                    <m:d>
                      <m:dPr>
                        <m:ctrlPr>
                          <a:rPr lang="fr-FR" sz="2000" i="1" noProof="0" smtClean="0">
                            <a:latin typeface="Cambria Math" panose="02040503050406030204" pitchFamily="18" charset="0"/>
                          </a:rPr>
                        </m:ctrlPr>
                      </m:dPr>
                      <m:e>
                        <m:r>
                          <a:rPr lang="fr-FR" sz="2000" i="1" noProof="0" smtClean="0">
                            <a:latin typeface="Cambria Math" panose="02040503050406030204" pitchFamily="18" charset="0"/>
                          </a:rPr>
                          <m:t>1−</m:t>
                        </m:r>
                        <m:f>
                          <m:fPr>
                            <m:ctrlPr>
                              <a:rPr lang="fr-FR" sz="2000" i="1"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𝑟</m:t>
                            </m:r>
                          </m:num>
                          <m:den>
                            <m:r>
                              <a:rPr lang="fr-FR" sz="2000" i="1" noProof="0" smtClean="0">
                                <a:latin typeface="Cambria Math" panose="02040503050406030204" pitchFamily="18" charset="0"/>
                              </a:rPr>
                              <m:t>2</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𝑟</m:t>
                                </m:r>
                              </m:e>
                              <m:sub>
                                <m:r>
                                  <a:rPr lang="fr-FR" sz="2000" b="0" i="1" noProof="0" smtClean="0">
                                    <a:latin typeface="Cambria Math" panose="02040503050406030204" pitchFamily="18" charset="0"/>
                                  </a:rPr>
                                  <m:t>4</m:t>
                                </m:r>
                              </m:sub>
                            </m:sSub>
                          </m:den>
                        </m:f>
                      </m:e>
                    </m:d>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b="0" i="1" noProof="0" smtClean="0">
                            <a:latin typeface="Cambria Math" panose="02040503050406030204" pitchFamily="18" charset="0"/>
                          </a:rPr>
                          <m:t>3</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sSubSup>
                      <m:sSubSupPr>
                        <m:ctrlPr>
                          <a:rPr lang="fr-FR" sz="2000" i="1"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b="0" i="1" noProof="0" smtClean="0">
                            <a:latin typeface="Cambria Math" panose="02040503050406030204" pitchFamily="18" charset="0"/>
                          </a:rPr>
                          <m:t>4</m:t>
                        </m:r>
                      </m:sub>
                      <m:sup>
                        <m:r>
                          <a:rPr lang="fr-FR" sz="2000" i="1" noProof="0" smtClean="0">
                            <a:latin typeface="Cambria Math" panose="02040503050406030204" pitchFamily="18" charset="0"/>
                          </a:rPr>
                          <m:t>𝑡</m:t>
                        </m:r>
                      </m:sup>
                    </m:sSubSup>
                  </m:oMath>
                </a14:m>
                <a:endParaRPr lang="fr-FR" sz="2000" noProof="0" dirty="0"/>
              </a:p>
              <a:p>
                <a:pPr marL="514350" indent="-514350" algn="just">
                  <a:buFont typeface="+mj-lt"/>
                  <a:buAutoNum type="romanLcPeriod" startAt="2"/>
                </a:pPr>
                <a:r>
                  <a:rPr lang="fr-FR" sz="2400" b="1" noProof="0" dirty="0"/>
                  <a:t>Procédure de résolution du problème</a:t>
                </a:r>
              </a:p>
              <a:p>
                <a:pPr marL="0" indent="0" algn="just">
                  <a:buNone/>
                </a:pPr>
                <a:r>
                  <a:rPr lang="fr-FR" sz="2400" noProof="0" dirty="0"/>
                  <a:t>La procédure est très similaire à celle du problème stationnaire puisqu'on résout toujours un système à N inconnu et N équations, mais maintenant, pour chaque pas de temps :</a:t>
                </a:r>
              </a:p>
              <a:p>
                <a:pPr marL="0" indent="0" algn="just">
                  <a:buNone/>
                </a:pPr>
                <a:endParaRPr lang="fr-FR" sz="2400" noProof="0" dirty="0"/>
              </a:p>
              <a:p>
                <a:pPr marL="0" indent="0" algn="just">
                  <a:buNone/>
                </a:pPr>
                <a14:m>
                  <m:oMathPara xmlns:m="http://schemas.openxmlformats.org/officeDocument/2006/math">
                    <m:oMathParaPr>
                      <m:jc m:val="centerGroup"/>
                    </m:oMathParaPr>
                    <m:oMath xmlns:m="http://schemas.openxmlformats.org/officeDocument/2006/math">
                      <m:r>
                        <a:rPr lang="fr-FR" b="1" i="0" noProof="0" smtClean="0">
                          <a:latin typeface="Cambria Math" panose="02040503050406030204" pitchFamily="18" charset="0"/>
                        </a:rPr>
                        <m:t>𝐀</m:t>
                      </m:r>
                      <m:sSup>
                        <m:sSupPr>
                          <m:ctrlPr>
                            <a:rPr lang="fr-FR" i="1" noProof="0" smtClean="0">
                              <a:latin typeface="Cambria Math" panose="02040503050406030204" pitchFamily="18" charset="0"/>
                            </a:rPr>
                          </m:ctrlPr>
                        </m:sSupPr>
                        <m:e>
                          <m:r>
                            <a:rPr lang="fr-FR" b="1" i="0" noProof="0" smtClean="0">
                              <a:latin typeface="Cambria Math" panose="02040503050406030204" pitchFamily="18" charset="0"/>
                            </a:rPr>
                            <m:t>𝐂</m:t>
                          </m:r>
                        </m:e>
                        <m:sup>
                          <m:r>
                            <a:rPr lang="fr-FR" b="0" i="1" noProof="0" smtClean="0">
                              <a:latin typeface="Cambria Math" panose="02040503050406030204" pitchFamily="18" charset="0"/>
                            </a:rPr>
                            <m:t>𝑡</m:t>
                          </m:r>
                          <m:r>
                            <a:rPr lang="fr-FR" b="0" i="1" noProof="0" smtClean="0">
                              <a:latin typeface="Cambria Math" panose="02040503050406030204" pitchFamily="18" charset="0"/>
                            </a:rPr>
                            <m:t>+1</m:t>
                          </m:r>
                        </m:sup>
                      </m:sSup>
                      <m:r>
                        <a:rPr lang="fr-FR" b="0" i="1" noProof="0" smtClean="0">
                          <a:latin typeface="Cambria Math" panose="02040503050406030204" pitchFamily="18" charset="0"/>
                        </a:rPr>
                        <m:t>=</m:t>
                      </m:r>
                      <m:sSup>
                        <m:sSupPr>
                          <m:ctrlPr>
                            <a:rPr lang="fr-FR" b="0" i="1" noProof="0" smtClean="0">
                              <a:latin typeface="Cambria Math" panose="02040503050406030204" pitchFamily="18" charset="0"/>
                            </a:rPr>
                          </m:ctrlPr>
                        </m:sSupPr>
                        <m:e>
                          <m:r>
                            <a:rPr lang="fr-FR" b="1" i="0" noProof="0" smtClean="0">
                              <a:latin typeface="Cambria Math" panose="02040503050406030204" pitchFamily="18" charset="0"/>
                            </a:rPr>
                            <m:t>𝐂</m:t>
                          </m:r>
                        </m:e>
                        <m:sup>
                          <m:r>
                            <a:rPr lang="fr-FR" b="0" i="1" noProof="0" smtClean="0">
                              <a:latin typeface="Cambria Math" panose="02040503050406030204" pitchFamily="18" charset="0"/>
                            </a:rPr>
                            <m:t>𝑡</m:t>
                          </m:r>
                        </m:sup>
                      </m:sSup>
                      <m:r>
                        <a:rPr lang="fr-FR" b="0" i="1" noProof="0" smtClean="0">
                          <a:latin typeface="Cambria Math" panose="02040503050406030204" pitchFamily="18" charset="0"/>
                        </a:rPr>
                        <m:t>,  </m:t>
                      </m:r>
                      <m:sSup>
                        <m:sSupPr>
                          <m:ctrlPr>
                            <a:rPr lang="fr-FR" i="1" noProof="0">
                              <a:latin typeface="Cambria Math" panose="02040503050406030204" pitchFamily="18" charset="0"/>
                            </a:rPr>
                          </m:ctrlPr>
                        </m:sSupPr>
                        <m:e>
                          <m:r>
                            <a:rPr lang="fr-FR" b="1" noProof="0">
                              <a:latin typeface="Cambria Math" panose="02040503050406030204" pitchFamily="18" charset="0"/>
                            </a:rPr>
                            <m:t>𝐂</m:t>
                          </m:r>
                        </m:e>
                        <m:sup>
                          <m:r>
                            <a:rPr lang="fr-FR" i="1" noProof="0">
                              <a:latin typeface="Cambria Math" panose="02040503050406030204" pitchFamily="18" charset="0"/>
                            </a:rPr>
                            <m:t>𝑡</m:t>
                          </m:r>
                          <m:r>
                            <a:rPr lang="fr-FR" i="1" noProof="0">
                              <a:latin typeface="Cambria Math" panose="02040503050406030204" pitchFamily="18" charset="0"/>
                            </a:rPr>
                            <m:t>+1</m:t>
                          </m:r>
                        </m:sup>
                      </m:sSup>
                      <m:r>
                        <a:rPr lang="fr-FR" b="0" i="1" noProof="0" smtClean="0">
                          <a:latin typeface="Cambria Math" panose="02040503050406030204" pitchFamily="18" charset="0"/>
                        </a:rPr>
                        <m:t>={</m:t>
                      </m:r>
                      <m:sSubSup>
                        <m:sSubSupPr>
                          <m:ctrlPr>
                            <a:rPr lang="fr-FR" b="0" i="1" noProof="0" smtClean="0">
                              <a:latin typeface="Cambria Math" panose="02040503050406030204" pitchFamily="18" charset="0"/>
                            </a:rPr>
                          </m:ctrlPr>
                        </m:sSubSupPr>
                        <m:e>
                          <m:r>
                            <a:rPr lang="fr-FR" b="0" i="1" noProof="0">
                              <a:latin typeface="Cambria Math" panose="02040503050406030204" pitchFamily="18" charset="0"/>
                            </a:rPr>
                            <m:t>𝐶</m:t>
                          </m:r>
                        </m:e>
                        <m:sub>
                          <m:r>
                            <a:rPr lang="fr-FR" b="0" i="1" noProof="0" smtClean="0">
                              <a:latin typeface="Cambria Math" panose="02040503050406030204" pitchFamily="18" charset="0"/>
                            </a:rPr>
                            <m:t>1</m:t>
                          </m:r>
                        </m:sub>
                        <m:sup>
                          <m:r>
                            <a:rPr lang="fr-FR" b="0" i="1" noProof="0" smtClean="0">
                              <a:latin typeface="Cambria Math" panose="02040503050406030204" pitchFamily="18" charset="0"/>
                            </a:rPr>
                            <m:t>𝑡</m:t>
                          </m:r>
                          <m:r>
                            <a:rPr lang="fr-FR" b="0" i="1" noProof="0" smtClean="0">
                              <a:latin typeface="Cambria Math" panose="02040503050406030204" pitchFamily="18" charset="0"/>
                            </a:rPr>
                            <m:t>+1</m:t>
                          </m:r>
                        </m:sup>
                      </m:sSubSup>
                      <m:r>
                        <a:rPr lang="fr-FR" b="0" i="1" noProof="0" smtClean="0">
                          <a:latin typeface="Cambria Math" panose="02040503050406030204" pitchFamily="18" charset="0"/>
                        </a:rPr>
                        <m:t>,</m:t>
                      </m:r>
                      <m:sSubSup>
                        <m:sSubSupPr>
                          <m:ctrlPr>
                            <a:rPr lang="fr-FR" i="1" noProof="0" smtClean="0">
                              <a:latin typeface="Cambria Math" panose="02040503050406030204" pitchFamily="18" charset="0"/>
                            </a:rPr>
                          </m:ctrlPr>
                        </m:sSubSupPr>
                        <m:e>
                          <m:r>
                            <a:rPr lang="fr-FR" i="1" noProof="0">
                              <a:latin typeface="Cambria Math" panose="02040503050406030204" pitchFamily="18" charset="0"/>
                            </a:rPr>
                            <m:t>𝐶</m:t>
                          </m:r>
                        </m:e>
                        <m:sub>
                          <m:r>
                            <a:rPr lang="fr-FR" b="0" i="1" noProof="0" smtClean="0">
                              <a:latin typeface="Cambria Math" panose="02040503050406030204" pitchFamily="18" charset="0"/>
                            </a:rPr>
                            <m:t>2</m:t>
                          </m:r>
                        </m:sub>
                        <m:sup>
                          <m:r>
                            <a:rPr lang="fr-FR" i="1" noProof="0" smtClean="0">
                              <a:latin typeface="Cambria Math" panose="02040503050406030204" pitchFamily="18" charset="0"/>
                            </a:rPr>
                            <m:t>𝑡</m:t>
                          </m:r>
                          <m:r>
                            <a:rPr lang="fr-FR" i="1" noProof="0" smtClean="0">
                              <a:latin typeface="Cambria Math" panose="02040503050406030204" pitchFamily="18" charset="0"/>
                            </a:rPr>
                            <m:t>+1</m:t>
                          </m:r>
                        </m:sup>
                      </m:sSubSup>
                      <m:r>
                        <a:rPr lang="fr-FR" b="0" i="1" noProof="0" smtClean="0">
                          <a:latin typeface="Cambria Math" panose="02040503050406030204" pitchFamily="18" charset="0"/>
                        </a:rPr>
                        <m:t>, …,</m:t>
                      </m:r>
                      <m:sSubSup>
                        <m:sSubSupPr>
                          <m:ctrlPr>
                            <a:rPr lang="fr-FR" i="1" noProof="0" smtClean="0">
                              <a:latin typeface="Cambria Math" panose="02040503050406030204" pitchFamily="18" charset="0"/>
                            </a:rPr>
                          </m:ctrlPr>
                        </m:sSubSupPr>
                        <m:e>
                          <m:r>
                            <a:rPr lang="fr-FR" i="1" noProof="0">
                              <a:latin typeface="Cambria Math" panose="02040503050406030204" pitchFamily="18" charset="0"/>
                            </a:rPr>
                            <m:t>𝐶</m:t>
                          </m:r>
                        </m:e>
                        <m:sub>
                          <m:r>
                            <a:rPr lang="fr-FR" b="0" i="1" noProof="0" smtClean="0">
                              <a:latin typeface="Cambria Math" panose="02040503050406030204" pitchFamily="18" charset="0"/>
                            </a:rPr>
                            <m:t>𝑛</m:t>
                          </m:r>
                        </m:sub>
                        <m:sup>
                          <m:r>
                            <a:rPr lang="fr-FR" i="1" noProof="0" smtClean="0">
                              <a:latin typeface="Cambria Math" panose="02040503050406030204" pitchFamily="18" charset="0"/>
                            </a:rPr>
                            <m:t>𝑡</m:t>
                          </m:r>
                          <m:r>
                            <a:rPr lang="fr-FR" i="1" noProof="0" smtClean="0">
                              <a:latin typeface="Cambria Math" panose="02040503050406030204" pitchFamily="18" charset="0"/>
                            </a:rPr>
                            <m:t>+1</m:t>
                          </m:r>
                        </m:sup>
                      </m:sSubSup>
                      <m:r>
                        <a:rPr lang="fr-FR" b="0" i="1" noProof="0" smtClean="0">
                          <a:latin typeface="Cambria Math" panose="02040503050406030204" pitchFamily="18" charset="0"/>
                        </a:rPr>
                        <m:t>}</m:t>
                      </m:r>
                    </m:oMath>
                  </m:oMathPara>
                </a14:m>
                <a:endParaRPr lang="fr-FR" noProof="0" dirty="0"/>
              </a:p>
              <a:p>
                <a:pPr marL="0" indent="0" algn="just">
                  <a:buNone/>
                </a:pPr>
                <a:endParaRPr lang="fr-FR" noProof="0" dirty="0"/>
              </a:p>
            </p:txBody>
          </p:sp>
        </mc:Choice>
        <mc:Fallback>
          <p:sp>
            <p:nvSpPr>
              <p:cNvPr id="6" name="Espace réservé du contenu 2">
                <a:extLst>
                  <a:ext uri="{FF2B5EF4-FFF2-40B4-BE49-F238E27FC236}">
                    <a16:creationId xmlns:a16="http://schemas.microsoft.com/office/drawing/2014/main" id="{B5ADAF49-1D6F-43B6-1CB8-F42F787959A3}"/>
                  </a:ext>
                </a:extLst>
              </p:cNvPr>
              <p:cNvSpPr txBox="1">
                <a:spLocks noRot="1" noChangeAspect="1" noMove="1" noResize="1" noEditPoints="1" noAdjustHandles="1" noChangeArrowheads="1" noChangeShapeType="1" noTextEdit="1"/>
              </p:cNvSpPr>
              <p:nvPr/>
            </p:nvSpPr>
            <p:spPr>
              <a:xfrm>
                <a:off x="838201" y="1422626"/>
                <a:ext cx="11306174" cy="5435374"/>
              </a:xfrm>
              <a:prstGeom prst="rect">
                <a:avLst/>
              </a:prstGeom>
              <a:blipFill>
                <a:blip r:embed="rId2"/>
                <a:stretch>
                  <a:fillRect l="-863" t="-1570" r="-809"/>
                </a:stretch>
              </a:blipFill>
            </p:spPr>
            <p:txBody>
              <a:bodyPr/>
              <a:lstStyle/>
              <a:p>
                <a:r>
                  <a:rPr lang="fr-FR">
                    <a:noFill/>
                  </a:rPr>
                  <a:t> </a:t>
                </a:r>
              </a:p>
            </p:txBody>
          </p:sp>
        </mc:Fallback>
      </mc:AlternateContent>
    </p:spTree>
    <p:extLst>
      <p:ext uri="{BB962C8B-B14F-4D97-AF65-F5344CB8AC3E}">
        <p14:creationId xmlns:p14="http://schemas.microsoft.com/office/powerpoint/2010/main" val="1841433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8BE58-E1A5-ABCC-1FF7-C746910077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17AC3DD-4BC0-94A7-D6F1-254010CD9541}"/>
              </a:ext>
            </a:extLst>
          </p:cNvPr>
          <p:cNvSpPr>
            <a:spLocks noGrp="1"/>
          </p:cNvSpPr>
          <p:nvPr>
            <p:ph type="title"/>
          </p:nvPr>
        </p:nvSpPr>
        <p:spPr>
          <a:xfrm>
            <a:off x="885824" y="420159"/>
            <a:ext cx="11306175" cy="790575"/>
          </a:xfrm>
        </p:spPr>
        <p:txBody>
          <a:bodyPr>
            <a:normAutofit/>
          </a:bodyPr>
          <a:lstStyle/>
          <a:p>
            <a:r>
              <a:rPr lang="fr-FR" noProof="0" dirty="0"/>
              <a:t>A. Implémentation du code instationnaire (Suite)</a:t>
            </a:r>
          </a:p>
        </p:txBody>
      </p:sp>
      <p:sp>
        <p:nvSpPr>
          <p:cNvPr id="5" name="Espace réservé du numéro de diapositive 4">
            <a:extLst>
              <a:ext uri="{FF2B5EF4-FFF2-40B4-BE49-F238E27FC236}">
                <a16:creationId xmlns:a16="http://schemas.microsoft.com/office/drawing/2014/main" id="{4DD0155C-FB77-C131-6C14-51CBACC60D18}"/>
              </a:ext>
            </a:extLst>
          </p:cNvPr>
          <p:cNvSpPr>
            <a:spLocks noGrp="1"/>
          </p:cNvSpPr>
          <p:nvPr>
            <p:ph type="sldNum" sz="quarter" idx="12"/>
          </p:nvPr>
        </p:nvSpPr>
        <p:spPr/>
        <p:txBody>
          <a:bodyPr/>
          <a:lstStyle/>
          <a:p>
            <a:r>
              <a:rPr lang="fr-FR" noProof="0" dirty="0"/>
              <a:t>3</a:t>
            </a:r>
          </a:p>
        </p:txBody>
      </p:sp>
      <p:sp>
        <p:nvSpPr>
          <p:cNvPr id="8" name="Flèche : pentagone 7">
            <a:extLst>
              <a:ext uri="{FF2B5EF4-FFF2-40B4-BE49-F238E27FC236}">
                <a16:creationId xmlns:a16="http://schemas.microsoft.com/office/drawing/2014/main" id="{A5DE29DE-C1D8-321C-6AF9-E70807217F99}"/>
              </a:ext>
            </a:extLst>
          </p:cNvPr>
          <p:cNvSpPr/>
          <p:nvPr/>
        </p:nvSpPr>
        <p:spPr>
          <a:xfrm rot="5400000">
            <a:off x="-242354" y="477313"/>
            <a:ext cx="1439333" cy="484708"/>
          </a:xfrm>
          <a:prstGeom prst="homePlate">
            <a:avLst/>
          </a:prstGeom>
          <a:solidFill>
            <a:schemeClr val="accent6">
              <a:lumMod val="60000"/>
              <a:lumOff val="40000"/>
            </a:schemeClr>
          </a:solidFill>
          <a:ln w="3810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noProof="0" dirty="0"/>
          </a:p>
        </p:txBody>
      </p:sp>
      <p:sp>
        <p:nvSpPr>
          <p:cNvPr id="9" name="Flèche : chevron 8">
            <a:extLst>
              <a:ext uri="{FF2B5EF4-FFF2-40B4-BE49-F238E27FC236}">
                <a16:creationId xmlns:a16="http://schemas.microsoft.com/office/drawing/2014/main" id="{5E84BDE3-EFA7-27B3-B9EE-5E745B313B56}"/>
              </a:ext>
            </a:extLst>
          </p:cNvPr>
          <p:cNvSpPr/>
          <p:nvPr/>
        </p:nvSpPr>
        <p:spPr>
          <a:xfrm rot="5400000">
            <a:off x="178860" y="1338800"/>
            <a:ext cx="596902" cy="484709"/>
          </a:xfrm>
          <a:prstGeom prst="chevron">
            <a:avLst/>
          </a:prstGeom>
          <a:solidFill>
            <a:schemeClr val="accent6">
              <a:lumMod val="60000"/>
              <a:lumOff val="4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solidFill>
                <a:schemeClr val="tx1"/>
              </a:solidFill>
            </a:endParaRPr>
          </a:p>
        </p:txBody>
      </p:sp>
      <p:cxnSp>
        <p:nvCxnSpPr>
          <p:cNvPr id="11" name="Connecteur droit 10">
            <a:extLst>
              <a:ext uri="{FF2B5EF4-FFF2-40B4-BE49-F238E27FC236}">
                <a16:creationId xmlns:a16="http://schemas.microsoft.com/office/drawing/2014/main" id="{A9D26DE9-0D02-A303-7264-40DD704DE465}"/>
              </a:ext>
            </a:extLst>
          </p:cNvPr>
          <p:cNvCxnSpPr/>
          <p:nvPr/>
        </p:nvCxnSpPr>
        <p:spPr>
          <a:xfrm>
            <a:off x="862010" y="1210734"/>
            <a:ext cx="10332000" cy="0"/>
          </a:xfrm>
          <a:prstGeom prst="line">
            <a:avLst/>
          </a:prstGeom>
          <a:ln w="28575"/>
        </p:spPr>
        <p:style>
          <a:lnRef idx="3">
            <a:schemeClr val="accent6"/>
          </a:lnRef>
          <a:fillRef idx="0">
            <a:schemeClr val="accent6"/>
          </a:fillRef>
          <a:effectRef idx="2">
            <a:schemeClr val="accent6"/>
          </a:effectRef>
          <a:fontRef idx="minor">
            <a:schemeClr val="tx1"/>
          </a:fontRef>
        </p:style>
      </p:cxnSp>
      <p:sp>
        <p:nvSpPr>
          <p:cNvPr id="6" name="Espace réservé du contenu 2">
            <a:extLst>
              <a:ext uri="{FF2B5EF4-FFF2-40B4-BE49-F238E27FC236}">
                <a16:creationId xmlns:a16="http://schemas.microsoft.com/office/drawing/2014/main" id="{8B539B3C-0290-DA9C-4F4D-53A0240DCAB5}"/>
              </a:ext>
            </a:extLst>
          </p:cNvPr>
          <p:cNvSpPr txBox="1">
            <a:spLocks/>
          </p:cNvSpPr>
          <p:nvPr/>
        </p:nvSpPr>
        <p:spPr>
          <a:xfrm>
            <a:off x="838201" y="1422626"/>
            <a:ext cx="11306174" cy="54353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fr-FR" noProof="0" dirty="0"/>
          </a:p>
        </p:txBody>
      </p:sp>
      <mc:AlternateContent xmlns:mc="http://schemas.openxmlformats.org/markup-compatibility/2006">
        <mc:Choice xmlns:a14="http://schemas.microsoft.com/office/drawing/2010/main" Requires="a14">
          <p:sp>
            <p:nvSpPr>
              <p:cNvPr id="7" name="Espace réservé du contenu 2">
                <a:extLst>
                  <a:ext uri="{FF2B5EF4-FFF2-40B4-BE49-F238E27FC236}">
                    <a16:creationId xmlns:a16="http://schemas.microsoft.com/office/drawing/2014/main" id="{1A60360D-9F80-4CBD-7A3E-EC52678F1AF0}"/>
                  </a:ext>
                </a:extLst>
              </p:cNvPr>
              <p:cNvSpPr txBox="1">
                <a:spLocks/>
              </p:cNvSpPr>
              <p:nvPr/>
            </p:nvSpPr>
            <p:spPr>
              <a:xfrm>
                <a:off x="885826" y="1439334"/>
                <a:ext cx="11306174" cy="54353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Font typeface="+mj-lt"/>
                  <a:buAutoNum type="romanLcPeriod" startAt="3"/>
                </a:pPr>
                <a:r>
                  <a:rPr lang="fr-FR" sz="2400" b="1" noProof="0" dirty="0"/>
                  <a:t>Erreur de troncature du schéma de discrétisation</a:t>
                </a:r>
              </a:p>
              <a:p>
                <a:pPr marL="0" indent="0" algn="just">
                  <a:buNone/>
                </a:pPr>
                <a:r>
                  <a:rPr lang="fr-FR" sz="2400" noProof="0" dirty="0"/>
                  <a:t>Séries de Taylor de la concentration en fonction du temps et de l’espace :</a:t>
                </a:r>
              </a:p>
              <a:p>
                <a:pPr marL="0" indent="0" algn="just">
                  <a:lnSpc>
                    <a:spcPct val="100000"/>
                  </a:lnSpc>
                  <a:spcBef>
                    <a:spcPts val="1800"/>
                  </a:spcBef>
                  <a:spcAft>
                    <a:spcPts val="600"/>
                  </a:spcAft>
                  <a:buNone/>
                </a:pPr>
                <a14:m>
                  <m:oMathPara xmlns:m="http://schemas.openxmlformats.org/officeDocument/2006/math">
                    <m:oMathParaPr>
                      <m:jc m:val="centerGroup"/>
                    </m:oMathParaPr>
                    <m:oMath xmlns:m="http://schemas.openxmlformats.org/officeDocument/2006/math">
                      <m:sSubSup>
                        <m:sSubSupPr>
                          <m:ctrlPr>
                            <a:rPr lang="fr-FR" sz="2000"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b="0" i="1" noProof="0" smtClean="0">
                          <a:latin typeface="Cambria Math" panose="02040503050406030204" pitchFamily="18" charset="0"/>
                        </a:rPr>
                        <m:t>=</m:t>
                      </m:r>
                      <m:sSubSup>
                        <m:sSubSupPr>
                          <m:ctrlPr>
                            <a:rPr lang="fr-FR" sz="2000" i="0"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up>
                          <m:r>
                            <a:rPr lang="fr-FR" sz="2000" i="1" noProof="0" smtClean="0">
                              <a:latin typeface="Cambria Math" panose="02040503050406030204" pitchFamily="18" charset="0"/>
                            </a:rPr>
                            <m:t>𝑡</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r>
                                    <a:rPr lang="fr-FR" sz="2000" i="1" noProof="0" smtClean="0">
                                      <a:latin typeface="Cambria Math" panose="02040503050406030204" pitchFamily="18" charset="0"/>
                                    </a:rPr>
                                    <m:t>𝜕</m:t>
                                  </m:r>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r>
                                    <a:rPr lang="fr-FR" sz="2000" i="1" noProof="0" smtClean="0">
                                      <a:latin typeface="Cambria Math" panose="02040503050406030204" pitchFamily="18" charset="0"/>
                                    </a:rPr>
                                    <m:t>𝑡</m:t>
                                  </m:r>
                                </m:den>
                              </m:f>
                            </m:e>
                          </m:d>
                        </m:e>
                        <m:sub>
                          <m:r>
                            <a:rPr lang="fr-FR" sz="2000" b="0" i="1" noProof="0" smtClean="0">
                              <a:latin typeface="Cambria Math" panose="02040503050406030204" pitchFamily="18" charset="0"/>
                            </a:rPr>
                            <m:t>𝑖</m:t>
                          </m:r>
                        </m:sub>
                        <m:sup>
                          <m:r>
                            <a:rPr lang="fr-FR" sz="2000" b="0" i="1" noProof="0" smtClean="0">
                              <a:latin typeface="Cambria Math" panose="02040503050406030204" pitchFamily="18" charset="0"/>
                            </a:rPr>
                            <m:t>𝑡</m:t>
                          </m:r>
                        </m:sup>
                      </m:sSubSup>
                      <m:r>
                        <a:rPr lang="fr-FR" sz="2000" i="1" noProof="0" smtClean="0">
                          <a:latin typeface="Cambria Math" panose="02040503050406030204" pitchFamily="18" charset="0"/>
                        </a:rPr>
                        <m:t>+</m:t>
                      </m:r>
                      <m:f>
                        <m:fPr>
                          <m:ctrlPr>
                            <a:rPr lang="fr-FR" sz="2000" i="0"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2</m:t>
                              </m:r>
                            </m:sup>
                          </m:sSup>
                        </m:num>
                        <m:den>
                          <m:r>
                            <a:rPr lang="fr-FR" sz="2000" i="1" noProof="0" smtClean="0">
                              <a:latin typeface="Cambria Math" panose="02040503050406030204" pitchFamily="18" charset="0"/>
                            </a:rPr>
                            <m:t>2</m:t>
                          </m:r>
                        </m:den>
                      </m:f>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m:t>
                                      </m:r>
                                    </m:e>
                                    <m:sup>
                                      <m:r>
                                        <a:rPr lang="fr-FR" sz="2000" i="1" noProof="0" smtClean="0">
                                          <a:latin typeface="Cambria Math" panose="02040503050406030204" pitchFamily="18" charset="0"/>
                                        </a:rPr>
                                        <m:t>2</m:t>
                                      </m:r>
                                    </m:sup>
                                  </m:sSup>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2</m:t>
                                      </m:r>
                                    </m:sup>
                                  </m:sSup>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sup>
                      </m:sSubSup>
                      <m:r>
                        <a:rPr lang="fr-FR" sz="2000" i="1" noProof="0" smtClean="0">
                          <a:latin typeface="Cambria Math" panose="02040503050406030204" pitchFamily="18" charset="0"/>
                        </a:rPr>
                        <m:t>+</m:t>
                      </m:r>
                      <m:f>
                        <m:fPr>
                          <m:ctrlPr>
                            <a:rPr lang="fr-FR" sz="2000" i="0"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3</m:t>
                              </m:r>
                            </m:sup>
                          </m:sSup>
                        </m:num>
                        <m:den>
                          <m:r>
                            <a:rPr lang="fr-FR" sz="2000" i="1" noProof="0" smtClean="0">
                              <a:latin typeface="Cambria Math" panose="02040503050406030204" pitchFamily="18" charset="0"/>
                            </a:rPr>
                            <m:t>6</m:t>
                          </m:r>
                        </m:den>
                      </m:f>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m:t>
                                      </m:r>
                                    </m:e>
                                    <m:sup>
                                      <m:r>
                                        <a:rPr lang="fr-FR" sz="2000" i="1" noProof="0" smtClean="0">
                                          <a:latin typeface="Cambria Math" panose="02040503050406030204" pitchFamily="18" charset="0"/>
                                        </a:rPr>
                                        <m:t>3</m:t>
                                      </m:r>
                                    </m:sup>
                                  </m:sSup>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3</m:t>
                                      </m:r>
                                    </m:sup>
                                  </m:sSup>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sup>
                      </m:sSubSup>
                      <m:r>
                        <a:rPr lang="fr-FR" sz="2000" b="0" i="1" noProof="0" smtClean="0">
                          <a:latin typeface="Cambria Math" panose="02040503050406030204" pitchFamily="18" charset="0"/>
                        </a:rPr>
                        <m:t>+</m:t>
                      </m:r>
                      <m:r>
                        <a:rPr lang="fr-FR" sz="2000" i="1" noProof="0" smtClean="0">
                          <a:latin typeface="Cambria Math" panose="02040503050406030204" pitchFamily="18" charset="0"/>
                        </a:rPr>
                        <m:t>𝑂</m:t>
                      </m:r>
                      <m:d>
                        <m:dPr>
                          <m:ctrlPr>
                            <a:rPr lang="fr-FR" sz="2000" i="0" noProof="0" smtClean="0">
                              <a:latin typeface="Cambria Math" panose="02040503050406030204" pitchFamily="18" charset="0"/>
                            </a:rPr>
                          </m:ctrlPr>
                        </m:dPr>
                        <m:e>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4</m:t>
                              </m:r>
                            </m:sup>
                          </m:sSup>
                        </m:e>
                      </m:d>
                    </m:oMath>
                  </m:oMathPara>
                </a14:m>
                <a:endParaRPr lang="fr-FR" sz="2000" noProof="0" dirty="0"/>
              </a:p>
              <a:p>
                <a:pPr marL="0" indent="0" algn="just">
                  <a:lnSpc>
                    <a:spcPct val="100000"/>
                  </a:lnSpc>
                  <a:spcBef>
                    <a:spcPts val="1800"/>
                  </a:spcBef>
                  <a:spcAft>
                    <a:spcPts val="600"/>
                  </a:spcAft>
                  <a:buNone/>
                </a:pPr>
                <a14:m>
                  <m:oMathPara xmlns:m="http://schemas.openxmlformats.org/officeDocument/2006/math">
                    <m:oMathParaPr>
                      <m:jc m:val="centerGroup"/>
                    </m:oMathParaPr>
                    <m:oMath xmlns:m="http://schemas.openxmlformats.org/officeDocument/2006/math">
                      <m:sSubSup>
                        <m:sSubSupPr>
                          <m:ctrlPr>
                            <a:rPr lang="fr-FR" sz="2000"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r>
                            <a:rPr lang="fr-FR" sz="2000" i="1" noProof="0" smtClean="0">
                              <a:latin typeface="Cambria Math" panose="02040503050406030204" pitchFamily="18" charset="0"/>
                            </a:rPr>
                            <m:t>+1</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sSubSup>
                        <m:sSubSupPr>
                          <m:ctrlPr>
                            <a:rPr lang="fr-FR" sz="2000" i="0"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b="0" i="1" noProof="0" smtClean="0">
                          <a:latin typeface="Cambria Math" panose="02040503050406030204" pitchFamily="18" charset="0"/>
                        </a:rPr>
                        <m:t>+</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𝑟</m:t>
                      </m:r>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r>
                                    <a:rPr lang="fr-FR" sz="2000" i="1" noProof="0" smtClean="0">
                                      <a:latin typeface="Cambria Math" panose="02040503050406030204" pitchFamily="18" charset="0"/>
                                    </a:rPr>
                                    <m:t>𝜕</m:t>
                                  </m:r>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r>
                                    <a:rPr lang="fr-FR" sz="2000" i="1" noProof="0" smtClean="0">
                                      <a:latin typeface="Cambria Math" panose="02040503050406030204" pitchFamily="18" charset="0"/>
                                    </a:rPr>
                                    <m:t>𝑡</m:t>
                                  </m:r>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r>
                            <a:rPr lang="fr-FR" sz="2000" b="0" i="1" noProof="0" smtClean="0">
                              <a:latin typeface="Cambria Math" panose="02040503050406030204" pitchFamily="18" charset="0"/>
                            </a:rPr>
                            <m:t>+1</m:t>
                          </m:r>
                        </m:sup>
                      </m:sSubSup>
                      <m:r>
                        <a:rPr lang="fr-FR" sz="2000" i="1" noProof="0" smtClean="0">
                          <a:latin typeface="Cambria Math" panose="02040503050406030204" pitchFamily="18" charset="0"/>
                        </a:rPr>
                        <m:t>+</m:t>
                      </m:r>
                      <m:f>
                        <m:fPr>
                          <m:ctrlPr>
                            <a:rPr lang="fr-FR" sz="2000" i="0"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num>
                        <m:den>
                          <m:r>
                            <a:rPr lang="fr-FR" sz="2000" i="1" noProof="0" smtClean="0">
                              <a:latin typeface="Cambria Math" panose="02040503050406030204" pitchFamily="18" charset="0"/>
                            </a:rPr>
                            <m:t>2</m:t>
                          </m:r>
                        </m:den>
                      </m:f>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m:t>
                                      </m:r>
                                    </m:e>
                                    <m:sup>
                                      <m:r>
                                        <a:rPr lang="fr-FR" sz="2000" i="1" noProof="0" smtClean="0">
                                          <a:latin typeface="Cambria Math" panose="02040503050406030204" pitchFamily="18" charset="0"/>
                                        </a:rPr>
                                        <m:t>2</m:t>
                                      </m:r>
                                    </m:sup>
                                  </m:sSup>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2</m:t>
                                      </m:r>
                                    </m:sup>
                                  </m:sSup>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r>
                            <a:rPr lang="fr-FR" sz="2000" b="0" i="1" noProof="0" smtClean="0">
                              <a:latin typeface="Cambria Math" panose="02040503050406030204" pitchFamily="18" charset="0"/>
                            </a:rPr>
                            <m:t>+1</m:t>
                          </m:r>
                        </m:sup>
                      </m:sSubSup>
                      <m:r>
                        <a:rPr lang="fr-FR" sz="2000" i="1" noProof="0" smtClean="0">
                          <a:latin typeface="Cambria Math" panose="02040503050406030204" pitchFamily="18" charset="0"/>
                        </a:rPr>
                        <m:t>+</m:t>
                      </m:r>
                      <m:f>
                        <m:fPr>
                          <m:ctrlPr>
                            <a:rPr lang="fr-FR" sz="2000" i="0"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3</m:t>
                              </m:r>
                            </m:sup>
                          </m:sSup>
                        </m:num>
                        <m:den>
                          <m:r>
                            <a:rPr lang="fr-FR" sz="2000" i="1" noProof="0" smtClean="0">
                              <a:latin typeface="Cambria Math" panose="02040503050406030204" pitchFamily="18" charset="0"/>
                            </a:rPr>
                            <m:t>6</m:t>
                          </m:r>
                        </m:den>
                      </m:f>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m:t>
                                      </m:r>
                                    </m:e>
                                    <m:sup>
                                      <m:r>
                                        <a:rPr lang="fr-FR" sz="2000" i="1" noProof="0" smtClean="0">
                                          <a:latin typeface="Cambria Math" panose="02040503050406030204" pitchFamily="18" charset="0"/>
                                        </a:rPr>
                                        <m:t>3</m:t>
                                      </m:r>
                                    </m:sup>
                                  </m:sSup>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3</m:t>
                                      </m:r>
                                    </m:sup>
                                  </m:sSup>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r>
                            <a:rPr lang="fr-FR" sz="2000" b="0" i="1" noProof="0" smtClean="0">
                              <a:latin typeface="Cambria Math" panose="02040503050406030204" pitchFamily="18" charset="0"/>
                            </a:rPr>
                            <m:t>+1</m:t>
                          </m:r>
                        </m:sup>
                      </m:sSubSup>
                      <m:r>
                        <a:rPr lang="fr-FR" sz="2000" i="1" noProof="0" smtClean="0">
                          <a:latin typeface="Cambria Math" panose="02040503050406030204" pitchFamily="18" charset="0"/>
                        </a:rPr>
                        <m:t>+</m:t>
                      </m:r>
                      <m:r>
                        <a:rPr lang="fr-FR" sz="2000" i="1" noProof="0" smtClean="0">
                          <a:latin typeface="Cambria Math" panose="02040503050406030204" pitchFamily="18" charset="0"/>
                        </a:rPr>
                        <m:t>𝑂</m:t>
                      </m:r>
                      <m:d>
                        <m:dPr>
                          <m:ctrlPr>
                            <a:rPr lang="fr-FR" sz="2000" i="0" noProof="0" smtClean="0">
                              <a:latin typeface="Cambria Math" panose="02040503050406030204" pitchFamily="18" charset="0"/>
                            </a:rPr>
                          </m:ctrlPr>
                        </m:dPr>
                        <m:e>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4</m:t>
                              </m:r>
                            </m:sup>
                          </m:sSup>
                        </m:e>
                      </m:d>
                    </m:oMath>
                  </m:oMathPara>
                </a14:m>
                <a:endParaRPr lang="fr-FR" noProof="0" dirty="0"/>
              </a:p>
              <a:p>
                <a:pPr marL="0" indent="0" algn="just">
                  <a:spcBef>
                    <a:spcPts val="1800"/>
                  </a:spcBef>
                  <a:spcAft>
                    <a:spcPts val="600"/>
                  </a:spcAft>
                  <a:buNone/>
                </a:pPr>
                <a14:m>
                  <m:oMathPara xmlns:m="http://schemas.openxmlformats.org/officeDocument/2006/math">
                    <m:oMathParaPr>
                      <m:jc m:val="centerGroup"/>
                    </m:oMathParaPr>
                    <m:oMath xmlns:m="http://schemas.openxmlformats.org/officeDocument/2006/math">
                      <m:sSubSup>
                        <m:sSubSupPr>
                          <m:ctrlPr>
                            <a:rPr lang="fr-FR" sz="2000"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r>
                            <a:rPr lang="fr-FR" sz="2000" i="1" noProof="0" smtClean="0">
                              <a:latin typeface="Cambria Math" panose="02040503050406030204" pitchFamily="18" charset="0"/>
                            </a:rPr>
                            <m:t>−1</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sSubSup>
                        <m:sSubSupPr>
                          <m:ctrlPr>
                            <a:rPr lang="fr-FR" sz="2000" i="0"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𝑟</m:t>
                      </m:r>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r>
                                    <a:rPr lang="fr-FR" sz="2000" i="1" noProof="0" smtClean="0">
                                      <a:latin typeface="Cambria Math" panose="02040503050406030204" pitchFamily="18" charset="0"/>
                                    </a:rPr>
                                    <m:t>𝜕</m:t>
                                  </m:r>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r>
                                    <a:rPr lang="fr-FR" sz="2000" i="1" noProof="0" smtClean="0">
                                      <a:latin typeface="Cambria Math" panose="02040503050406030204" pitchFamily="18" charset="0"/>
                                    </a:rPr>
                                    <m:t>𝑡</m:t>
                                  </m:r>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r>
                            <a:rPr lang="fr-FR" sz="2000" i="1" noProof="0">
                              <a:latin typeface="Cambria Math" panose="02040503050406030204" pitchFamily="18" charset="0"/>
                            </a:rPr>
                            <m:t>+1</m:t>
                          </m:r>
                        </m:sup>
                      </m:sSubSup>
                      <m:r>
                        <a:rPr lang="fr-FR" sz="2000" i="1" noProof="0" smtClean="0">
                          <a:latin typeface="Cambria Math" panose="02040503050406030204" pitchFamily="18" charset="0"/>
                        </a:rPr>
                        <m:t>+</m:t>
                      </m:r>
                      <m:f>
                        <m:fPr>
                          <m:ctrlPr>
                            <a:rPr lang="fr-FR" sz="2000" i="0"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num>
                        <m:den>
                          <m:r>
                            <a:rPr lang="fr-FR" sz="2000" i="1" noProof="0" smtClean="0">
                              <a:latin typeface="Cambria Math" panose="02040503050406030204" pitchFamily="18" charset="0"/>
                            </a:rPr>
                            <m:t>2</m:t>
                          </m:r>
                        </m:den>
                      </m:f>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m:t>
                                      </m:r>
                                    </m:e>
                                    <m:sup>
                                      <m:r>
                                        <a:rPr lang="fr-FR" sz="2000" i="1" noProof="0" smtClean="0">
                                          <a:latin typeface="Cambria Math" panose="02040503050406030204" pitchFamily="18" charset="0"/>
                                        </a:rPr>
                                        <m:t>2</m:t>
                                      </m:r>
                                    </m:sup>
                                  </m:sSup>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2</m:t>
                                      </m:r>
                                    </m:sup>
                                  </m:sSup>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r>
                            <a:rPr lang="fr-FR" sz="2000" i="1" noProof="0">
                              <a:latin typeface="Cambria Math" panose="02040503050406030204" pitchFamily="18" charset="0"/>
                            </a:rPr>
                            <m:t>+1</m:t>
                          </m:r>
                        </m:sup>
                      </m:sSubSup>
                      <m:r>
                        <a:rPr lang="fr-FR" sz="2000" i="1" noProof="0" smtClean="0">
                          <a:latin typeface="Cambria Math" panose="02040503050406030204" pitchFamily="18" charset="0"/>
                        </a:rPr>
                        <m:t>−</m:t>
                      </m:r>
                      <m:f>
                        <m:fPr>
                          <m:ctrlPr>
                            <a:rPr lang="fr-FR" sz="2000" i="0"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3</m:t>
                              </m:r>
                            </m:sup>
                          </m:sSup>
                        </m:num>
                        <m:den>
                          <m:r>
                            <a:rPr lang="fr-FR" sz="2000" i="1" noProof="0" smtClean="0">
                              <a:latin typeface="Cambria Math" panose="02040503050406030204" pitchFamily="18" charset="0"/>
                            </a:rPr>
                            <m:t>6</m:t>
                          </m:r>
                        </m:den>
                      </m:f>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m:t>
                                      </m:r>
                                    </m:e>
                                    <m:sup>
                                      <m:r>
                                        <a:rPr lang="fr-FR" sz="2000" i="1" noProof="0" smtClean="0">
                                          <a:latin typeface="Cambria Math" panose="02040503050406030204" pitchFamily="18" charset="0"/>
                                        </a:rPr>
                                        <m:t>3</m:t>
                                      </m:r>
                                    </m:sup>
                                  </m:sSup>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3</m:t>
                                      </m:r>
                                    </m:sup>
                                  </m:sSup>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r>
                            <a:rPr lang="fr-FR" sz="2000" i="1" noProof="0">
                              <a:latin typeface="Cambria Math" panose="02040503050406030204" pitchFamily="18" charset="0"/>
                            </a:rPr>
                            <m:t>+1</m:t>
                          </m:r>
                        </m:sup>
                      </m:sSubSup>
                      <m:r>
                        <a:rPr lang="fr-FR" sz="2000" i="1" noProof="0" smtClean="0">
                          <a:latin typeface="Cambria Math" panose="02040503050406030204" pitchFamily="18" charset="0"/>
                        </a:rPr>
                        <m:t>+</m:t>
                      </m:r>
                      <m:r>
                        <a:rPr lang="fr-FR" sz="2000" i="1" noProof="0" smtClean="0">
                          <a:latin typeface="Cambria Math" panose="02040503050406030204" pitchFamily="18" charset="0"/>
                        </a:rPr>
                        <m:t>𝑂</m:t>
                      </m:r>
                      <m:d>
                        <m:dPr>
                          <m:ctrlPr>
                            <a:rPr lang="fr-FR" sz="2000" i="0" noProof="0" smtClean="0">
                              <a:latin typeface="Cambria Math" panose="02040503050406030204" pitchFamily="18" charset="0"/>
                            </a:rPr>
                          </m:ctrlPr>
                        </m:dPr>
                        <m:e>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4</m:t>
                              </m:r>
                            </m:sup>
                          </m:sSup>
                        </m:e>
                      </m:d>
                    </m:oMath>
                  </m:oMathPara>
                </a14:m>
                <a:endParaRPr lang="fr-FR" noProof="0" dirty="0"/>
              </a:p>
              <a:p>
                <a:pPr marL="0" indent="0" algn="just">
                  <a:lnSpc>
                    <a:spcPct val="100000"/>
                  </a:lnSpc>
                  <a:buNone/>
                </a:pPr>
                <a:r>
                  <a:rPr lang="fr-FR" sz="2400" noProof="0" dirty="0"/>
                  <a:t>On développe par la suite chaque terme du résidu :</a:t>
                </a:r>
              </a:p>
              <a:p>
                <a:pPr marL="0" indent="0" algn="just">
                  <a:lnSpc>
                    <a:spcPct val="100000"/>
                  </a:lnSpc>
                  <a:buNone/>
                </a:pPr>
                <a14:m>
                  <m:oMathPara xmlns:m="http://schemas.openxmlformats.org/officeDocument/2006/math">
                    <m:oMathParaPr>
                      <m:jc m:val="centerGroup"/>
                    </m:oMathParaPr>
                    <m:oMath xmlns:m="http://schemas.openxmlformats.org/officeDocument/2006/math">
                      <m:f>
                        <m:fPr>
                          <m:ctrlPr>
                            <a:rPr lang="fr-FR" sz="2000" i="0" noProof="0" smtClean="0">
                              <a:latin typeface="Cambria Math" panose="02040503050406030204" pitchFamily="18" charset="0"/>
                            </a:rPr>
                          </m:ctrlPr>
                        </m:fPr>
                        <m:num>
                          <m:sSubSup>
                            <m:sSubSupPr>
                              <m:ctrlPr>
                                <a:rPr lang="fr-FR" sz="2000"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sSubSup>
                            <m:sSubSupPr>
                              <m:ctrlPr>
                                <a:rPr lang="fr-FR" sz="2000" i="0"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up>
                              <m:r>
                                <a:rPr lang="fr-FR" sz="2000" i="1" noProof="0" smtClean="0">
                                  <a:latin typeface="Cambria Math" panose="02040503050406030204" pitchFamily="18" charset="0"/>
                                </a:rPr>
                                <m:t>𝑡</m:t>
                              </m:r>
                            </m:sup>
                          </m:sSubSup>
                        </m:num>
                        <m:den>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den>
                      </m:f>
                      <m:r>
                        <a:rPr lang="fr-FR" sz="2000" i="1" noProof="0" smtClean="0">
                          <a:latin typeface="Cambria Math" panose="02040503050406030204" pitchFamily="18" charset="0"/>
                        </a:rPr>
                        <m:t>=</m:t>
                      </m:r>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r>
                                    <a:rPr lang="fr-FR" sz="2000" i="1" noProof="0" smtClean="0">
                                      <a:latin typeface="Cambria Math" panose="02040503050406030204" pitchFamily="18" charset="0"/>
                                    </a:rPr>
                                    <m:t>𝜕</m:t>
                                  </m:r>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r>
                                    <a:rPr lang="fr-FR" sz="2000" i="1" noProof="0" smtClean="0">
                                      <a:latin typeface="Cambria Math" panose="02040503050406030204" pitchFamily="18" charset="0"/>
                                    </a:rPr>
                                    <m:t>𝑡</m:t>
                                  </m:r>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sup>
                      </m:sSubSup>
                      <m:r>
                        <a:rPr lang="fr-FR" sz="2000" i="1" noProof="0" smtClean="0">
                          <a:latin typeface="Cambria Math" panose="02040503050406030204" pitchFamily="18" charset="0"/>
                        </a:rPr>
                        <m:t>+</m:t>
                      </m:r>
                      <m:f>
                        <m:fPr>
                          <m:ctrlPr>
                            <a:rPr lang="fr-FR" sz="2000" i="0"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𝑡</m:t>
                          </m:r>
                        </m:num>
                        <m:den>
                          <m:r>
                            <a:rPr lang="fr-FR" sz="2000" i="1" noProof="0" smtClean="0">
                              <a:latin typeface="Cambria Math" panose="02040503050406030204" pitchFamily="18" charset="0"/>
                            </a:rPr>
                            <m:t>2</m:t>
                          </m:r>
                        </m:den>
                      </m:f>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m:t>
                                      </m:r>
                                    </m:e>
                                    <m:sup>
                                      <m:r>
                                        <a:rPr lang="fr-FR" sz="2000" i="1" noProof="0" smtClean="0">
                                          <a:latin typeface="Cambria Math" panose="02040503050406030204" pitchFamily="18" charset="0"/>
                                        </a:rPr>
                                        <m:t>2</m:t>
                                      </m:r>
                                    </m:sup>
                                  </m:sSup>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2</m:t>
                                      </m:r>
                                    </m:sup>
                                  </m:sSup>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sup>
                      </m:sSubSup>
                      <m:r>
                        <a:rPr lang="fr-FR" sz="2000" i="1" noProof="0" smtClean="0">
                          <a:latin typeface="Cambria Math" panose="02040503050406030204" pitchFamily="18" charset="0"/>
                        </a:rPr>
                        <m:t>+</m:t>
                      </m:r>
                      <m:f>
                        <m:fPr>
                          <m:ctrlPr>
                            <a:rPr lang="fr-FR" sz="2000" i="0"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2</m:t>
                              </m:r>
                            </m:sup>
                          </m:sSup>
                        </m:num>
                        <m:den>
                          <m:r>
                            <a:rPr lang="fr-FR" sz="2000" i="1" noProof="0" smtClean="0">
                              <a:latin typeface="Cambria Math" panose="02040503050406030204" pitchFamily="18" charset="0"/>
                            </a:rPr>
                            <m:t>6</m:t>
                          </m:r>
                        </m:den>
                      </m:f>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m:t>
                                      </m:r>
                                    </m:e>
                                    <m:sup>
                                      <m:r>
                                        <a:rPr lang="fr-FR" sz="2000" i="1" noProof="0" smtClean="0">
                                          <a:latin typeface="Cambria Math" panose="02040503050406030204" pitchFamily="18" charset="0"/>
                                        </a:rPr>
                                        <m:t>3</m:t>
                                      </m:r>
                                    </m:sup>
                                  </m:sSup>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3</m:t>
                                      </m:r>
                                    </m:sup>
                                  </m:sSup>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sup>
                      </m:sSubSup>
                      <m:r>
                        <a:rPr lang="fr-FR" sz="2000" i="1" noProof="0" smtClean="0">
                          <a:latin typeface="Cambria Math" panose="02040503050406030204" pitchFamily="18" charset="0"/>
                        </a:rPr>
                        <m:t>+</m:t>
                      </m:r>
                      <m:r>
                        <a:rPr lang="fr-FR" sz="2000" i="1" noProof="0" smtClean="0">
                          <a:latin typeface="Cambria Math" panose="02040503050406030204" pitchFamily="18" charset="0"/>
                        </a:rPr>
                        <m:t>𝑂</m:t>
                      </m:r>
                      <m:d>
                        <m:dPr>
                          <m:ctrlPr>
                            <a:rPr lang="fr-FR" sz="2000" i="0" noProof="0" smtClean="0">
                              <a:latin typeface="Cambria Math" panose="02040503050406030204" pitchFamily="18" charset="0"/>
                            </a:rPr>
                          </m:ctrlPr>
                        </m:dPr>
                        <m:e>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3</m:t>
                              </m:r>
                            </m:sup>
                          </m:sSup>
                        </m:e>
                      </m:d>
                    </m:oMath>
                  </m:oMathPara>
                </a14:m>
                <a:endParaRPr lang="fr-FR" noProof="0" dirty="0"/>
              </a:p>
              <a:p>
                <a:pPr marL="0" indent="0" algn="just">
                  <a:buNone/>
                </a:pPr>
                <a:endParaRPr lang="fr-FR" sz="2400" noProof="0" dirty="0"/>
              </a:p>
            </p:txBody>
          </p:sp>
        </mc:Choice>
        <mc:Fallback>
          <p:sp>
            <p:nvSpPr>
              <p:cNvPr id="7" name="Espace réservé du contenu 2">
                <a:extLst>
                  <a:ext uri="{FF2B5EF4-FFF2-40B4-BE49-F238E27FC236}">
                    <a16:creationId xmlns:a16="http://schemas.microsoft.com/office/drawing/2014/main" id="{1A60360D-9F80-4CBD-7A3E-EC52678F1AF0}"/>
                  </a:ext>
                </a:extLst>
              </p:cNvPr>
              <p:cNvSpPr txBox="1">
                <a:spLocks noRot="1" noChangeAspect="1" noMove="1" noResize="1" noEditPoints="1" noAdjustHandles="1" noChangeArrowheads="1" noChangeShapeType="1" noTextEdit="1"/>
              </p:cNvSpPr>
              <p:nvPr/>
            </p:nvSpPr>
            <p:spPr>
              <a:xfrm>
                <a:off x="885826" y="1439334"/>
                <a:ext cx="11306174" cy="5435374"/>
              </a:xfrm>
              <a:prstGeom prst="rect">
                <a:avLst/>
              </a:prstGeom>
              <a:blipFill>
                <a:blip r:embed="rId2"/>
                <a:stretch>
                  <a:fillRect l="-863" t="-1682"/>
                </a:stretch>
              </a:blipFill>
            </p:spPr>
            <p:txBody>
              <a:bodyPr/>
              <a:lstStyle/>
              <a:p>
                <a:r>
                  <a:rPr lang="fr-FR">
                    <a:noFill/>
                  </a:rPr>
                  <a:t> </a:t>
                </a:r>
              </a:p>
            </p:txBody>
          </p:sp>
        </mc:Fallback>
      </mc:AlternateContent>
    </p:spTree>
    <p:extLst>
      <p:ext uri="{BB962C8B-B14F-4D97-AF65-F5344CB8AC3E}">
        <p14:creationId xmlns:p14="http://schemas.microsoft.com/office/powerpoint/2010/main" val="439160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1C85A-D1F5-F217-3E15-7049B097256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9C0D6DE-51AC-1AE2-D3EA-36A28AF1ACD4}"/>
              </a:ext>
            </a:extLst>
          </p:cNvPr>
          <p:cNvSpPr>
            <a:spLocks noGrp="1"/>
          </p:cNvSpPr>
          <p:nvPr>
            <p:ph type="title"/>
          </p:nvPr>
        </p:nvSpPr>
        <p:spPr>
          <a:xfrm>
            <a:off x="885824" y="420159"/>
            <a:ext cx="11306175" cy="790575"/>
          </a:xfrm>
        </p:spPr>
        <p:txBody>
          <a:bodyPr>
            <a:normAutofit/>
          </a:bodyPr>
          <a:lstStyle/>
          <a:p>
            <a:r>
              <a:rPr lang="fr-FR" noProof="0" dirty="0"/>
              <a:t>A. Implémentation du code instationnaire (Suite)</a:t>
            </a:r>
          </a:p>
        </p:txBody>
      </p:sp>
      <p:sp>
        <p:nvSpPr>
          <p:cNvPr id="5" name="Espace réservé du numéro de diapositive 4">
            <a:extLst>
              <a:ext uri="{FF2B5EF4-FFF2-40B4-BE49-F238E27FC236}">
                <a16:creationId xmlns:a16="http://schemas.microsoft.com/office/drawing/2014/main" id="{0549C62F-AF3C-C4A2-1E14-8F2AEC364B7A}"/>
              </a:ext>
            </a:extLst>
          </p:cNvPr>
          <p:cNvSpPr>
            <a:spLocks noGrp="1"/>
          </p:cNvSpPr>
          <p:nvPr>
            <p:ph type="sldNum" sz="quarter" idx="12"/>
          </p:nvPr>
        </p:nvSpPr>
        <p:spPr/>
        <p:txBody>
          <a:bodyPr/>
          <a:lstStyle/>
          <a:p>
            <a:r>
              <a:rPr lang="fr-FR" noProof="0" dirty="0"/>
              <a:t>4</a:t>
            </a:r>
          </a:p>
        </p:txBody>
      </p:sp>
      <p:sp>
        <p:nvSpPr>
          <p:cNvPr id="8" name="Flèche : pentagone 7">
            <a:extLst>
              <a:ext uri="{FF2B5EF4-FFF2-40B4-BE49-F238E27FC236}">
                <a16:creationId xmlns:a16="http://schemas.microsoft.com/office/drawing/2014/main" id="{BF58C401-FC08-DFE8-D1C0-4D9C5BBBEEB8}"/>
              </a:ext>
            </a:extLst>
          </p:cNvPr>
          <p:cNvSpPr/>
          <p:nvPr/>
        </p:nvSpPr>
        <p:spPr>
          <a:xfrm rot="5400000">
            <a:off x="-242354" y="477313"/>
            <a:ext cx="1439333" cy="484708"/>
          </a:xfrm>
          <a:prstGeom prst="homePlate">
            <a:avLst/>
          </a:prstGeom>
          <a:solidFill>
            <a:schemeClr val="accent6">
              <a:lumMod val="60000"/>
              <a:lumOff val="40000"/>
            </a:schemeClr>
          </a:solidFill>
          <a:ln w="3810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noProof="0" dirty="0"/>
          </a:p>
        </p:txBody>
      </p:sp>
      <p:sp>
        <p:nvSpPr>
          <p:cNvPr id="9" name="Flèche : chevron 8">
            <a:extLst>
              <a:ext uri="{FF2B5EF4-FFF2-40B4-BE49-F238E27FC236}">
                <a16:creationId xmlns:a16="http://schemas.microsoft.com/office/drawing/2014/main" id="{E231F388-6569-9DB3-5CE8-E9B26CFF0D88}"/>
              </a:ext>
            </a:extLst>
          </p:cNvPr>
          <p:cNvSpPr/>
          <p:nvPr/>
        </p:nvSpPr>
        <p:spPr>
          <a:xfrm rot="5400000">
            <a:off x="178860" y="1338800"/>
            <a:ext cx="596902" cy="484709"/>
          </a:xfrm>
          <a:prstGeom prst="chevron">
            <a:avLst/>
          </a:prstGeom>
          <a:solidFill>
            <a:schemeClr val="accent6">
              <a:lumMod val="60000"/>
              <a:lumOff val="4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solidFill>
                <a:schemeClr val="tx1"/>
              </a:solidFill>
            </a:endParaRPr>
          </a:p>
        </p:txBody>
      </p:sp>
      <p:cxnSp>
        <p:nvCxnSpPr>
          <p:cNvPr id="11" name="Connecteur droit 10">
            <a:extLst>
              <a:ext uri="{FF2B5EF4-FFF2-40B4-BE49-F238E27FC236}">
                <a16:creationId xmlns:a16="http://schemas.microsoft.com/office/drawing/2014/main" id="{4F1ACDF5-0EFD-AADD-5839-89BE1D5D72D3}"/>
              </a:ext>
            </a:extLst>
          </p:cNvPr>
          <p:cNvCxnSpPr/>
          <p:nvPr/>
        </p:nvCxnSpPr>
        <p:spPr>
          <a:xfrm>
            <a:off x="862010" y="1210734"/>
            <a:ext cx="10332000" cy="0"/>
          </a:xfrm>
          <a:prstGeom prst="line">
            <a:avLst/>
          </a:prstGeom>
          <a:ln w="28575"/>
        </p:spPr>
        <p:style>
          <a:lnRef idx="3">
            <a:schemeClr val="accent6"/>
          </a:lnRef>
          <a:fillRef idx="0">
            <a:schemeClr val="accent6"/>
          </a:fillRef>
          <a:effectRef idx="2">
            <a:schemeClr val="accent6"/>
          </a:effectRef>
          <a:fontRef idx="minor">
            <a:schemeClr val="tx1"/>
          </a:fontRef>
        </p:style>
      </p:cxnSp>
      <p:sp>
        <p:nvSpPr>
          <p:cNvPr id="6" name="Espace réservé du pied de page 3">
            <a:extLst>
              <a:ext uri="{FF2B5EF4-FFF2-40B4-BE49-F238E27FC236}">
                <a16:creationId xmlns:a16="http://schemas.microsoft.com/office/drawing/2014/main" id="{80B02B44-4CD4-DCD1-5211-5CD4DA5B0AE9}"/>
              </a:ext>
            </a:extLst>
          </p:cNvPr>
          <p:cNvSpPr>
            <a:spLocks noGrp="1"/>
          </p:cNvSpPr>
          <p:nvPr>
            <p:ph type="ftr" sz="quarter" idx="11"/>
          </p:nvPr>
        </p:nvSpPr>
        <p:spPr>
          <a:xfrm>
            <a:off x="3953933" y="6356350"/>
            <a:ext cx="4284133" cy="365125"/>
          </a:xfrm>
        </p:spPr>
        <p:txBody>
          <a:bodyPr/>
          <a:lstStyle/>
          <a:p>
            <a:r>
              <a:rPr lang="fr-FR" noProof="0" dirty="0"/>
              <a:t>MEC8211 - Vérification et Validation en modélisation numérique</a:t>
            </a:r>
          </a:p>
        </p:txBody>
      </p:sp>
      <mc:AlternateContent xmlns:mc="http://schemas.openxmlformats.org/markup-compatibility/2006">
        <mc:Choice xmlns:a14="http://schemas.microsoft.com/office/drawing/2010/main" Requires="a14">
          <p:sp>
            <p:nvSpPr>
              <p:cNvPr id="4" name="Espace réservé du contenu 2">
                <a:extLst>
                  <a:ext uri="{FF2B5EF4-FFF2-40B4-BE49-F238E27FC236}">
                    <a16:creationId xmlns:a16="http://schemas.microsoft.com/office/drawing/2014/main" id="{DAA5ED0F-4117-342B-8592-1189ABC36E4D}"/>
                  </a:ext>
                </a:extLst>
              </p:cNvPr>
              <p:cNvSpPr txBox="1">
                <a:spLocks/>
              </p:cNvSpPr>
              <p:nvPr/>
            </p:nvSpPr>
            <p:spPr>
              <a:xfrm>
                <a:off x="885826" y="1439334"/>
                <a:ext cx="11306174" cy="54353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Font typeface="+mj-lt"/>
                  <a:buAutoNum type="romanLcPeriod" startAt="3"/>
                </a:pPr>
                <a:r>
                  <a:rPr lang="fr-FR" sz="2400" b="1" noProof="0" dirty="0"/>
                  <a:t>Erreur de troncature du schéma de discrétisation (Suite)</a:t>
                </a:r>
              </a:p>
              <a:p>
                <a:pPr marL="0" indent="0" algn="just">
                  <a:lnSpc>
                    <a:spcPct val="100000"/>
                  </a:lnSpc>
                  <a:buNone/>
                </a:pPr>
                <a14:m>
                  <m:oMathPara xmlns:m="http://schemas.openxmlformats.org/officeDocument/2006/math">
                    <m:oMathParaPr>
                      <m:jc m:val="centerGroup"/>
                    </m:oMathParaPr>
                    <m:oMath xmlns:m="http://schemas.openxmlformats.org/officeDocument/2006/math">
                      <m:f>
                        <m:fPr>
                          <m:ctrlPr>
                            <a:rPr lang="fr-FR" sz="2000" i="0" noProof="0" smtClean="0">
                              <a:latin typeface="Cambria Math" panose="02040503050406030204" pitchFamily="18" charset="0"/>
                            </a:rPr>
                          </m:ctrlPr>
                        </m:fPr>
                        <m:num>
                          <m:sSubSup>
                            <m:sSubSupPr>
                              <m:ctrlPr>
                                <a:rPr lang="fr-FR" sz="2000"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r>
                                <a:rPr lang="fr-FR" sz="2000" i="1" noProof="0" smtClean="0">
                                  <a:latin typeface="Cambria Math" panose="02040503050406030204" pitchFamily="18" charset="0"/>
                                </a:rPr>
                                <m:t>+1</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−2 </m:t>
                          </m:r>
                          <m:sSubSup>
                            <m:sSubSupPr>
                              <m:ctrlPr>
                                <a:rPr lang="fr-FR" sz="2000" i="0"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sSubSup>
                            <m:sSubSupPr>
                              <m:ctrlPr>
                                <a:rPr lang="fr-FR" sz="2000" i="0"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r>
                                <a:rPr lang="fr-FR" sz="2000" i="1" noProof="0" smtClean="0">
                                  <a:latin typeface="Cambria Math" panose="02040503050406030204" pitchFamily="18" charset="0"/>
                                </a:rPr>
                                <m:t>−1</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num>
                        <m:den>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den>
                      </m:f>
                      <m:r>
                        <a:rPr lang="fr-FR" sz="2000" i="1" noProof="0" smtClean="0">
                          <a:latin typeface="Cambria Math" panose="02040503050406030204" pitchFamily="18" charset="0"/>
                        </a:rPr>
                        <m:t> </m:t>
                      </m:r>
                      <m:r>
                        <a:rPr lang="fr-FR" sz="2000" b="0" i="0" noProof="0" smtClean="0">
                          <a:latin typeface="Cambria Math" panose="02040503050406030204" pitchFamily="18" charset="0"/>
                        </a:rPr>
                        <m:t>=</m:t>
                      </m:r>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m:t>
                                      </m:r>
                                    </m:e>
                                    <m:sup>
                                      <m:r>
                                        <a:rPr lang="fr-FR" sz="2000" i="1" noProof="0" smtClean="0">
                                          <a:latin typeface="Cambria Math" panose="02040503050406030204" pitchFamily="18" charset="0"/>
                                        </a:rPr>
                                        <m:t>2</m:t>
                                      </m:r>
                                    </m:sup>
                                  </m:sSup>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2</m:t>
                                      </m:r>
                                    </m:sup>
                                  </m:sSup>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r>
                            <a:rPr lang="fr-FR" sz="2000" i="1" noProof="0">
                              <a:latin typeface="Cambria Math" panose="02040503050406030204" pitchFamily="18" charset="0"/>
                            </a:rPr>
                            <m:t>+1</m:t>
                          </m:r>
                        </m:sup>
                      </m:sSubSup>
                      <m:r>
                        <a:rPr lang="fr-FR" sz="2000" i="1" noProof="0" smtClean="0">
                          <a:latin typeface="Cambria Math" panose="02040503050406030204" pitchFamily="18" charset="0"/>
                        </a:rPr>
                        <m:t>+</m:t>
                      </m:r>
                      <m:f>
                        <m:fPr>
                          <m:ctrlPr>
                            <a:rPr lang="fr-FR" sz="2000" i="0"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num>
                        <m:den>
                          <m:r>
                            <a:rPr lang="fr-FR" sz="2000" i="1" noProof="0" smtClean="0">
                              <a:latin typeface="Cambria Math" panose="02040503050406030204" pitchFamily="18" charset="0"/>
                            </a:rPr>
                            <m:t>12</m:t>
                          </m:r>
                        </m:den>
                      </m:f>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m:t>
                                      </m:r>
                                    </m:e>
                                    <m:sup>
                                      <m:r>
                                        <a:rPr lang="fr-FR" sz="2000" b="0" i="1" noProof="0" smtClean="0">
                                          <a:latin typeface="Cambria Math" panose="02040503050406030204" pitchFamily="18" charset="0"/>
                                        </a:rPr>
                                        <m:t>4</m:t>
                                      </m:r>
                                    </m:sup>
                                  </m:sSup>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b="0" i="1" noProof="0" smtClean="0">
                                          <a:latin typeface="Cambria Math" panose="02040503050406030204" pitchFamily="18" charset="0"/>
                                        </a:rPr>
                                        <m:t>4</m:t>
                                      </m:r>
                                    </m:sup>
                                  </m:sSup>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r>
                            <a:rPr lang="fr-FR" sz="2000" i="1" noProof="0">
                              <a:latin typeface="Cambria Math" panose="02040503050406030204" pitchFamily="18" charset="0"/>
                            </a:rPr>
                            <m:t>+1</m:t>
                          </m:r>
                        </m:sup>
                      </m:sSubSup>
                      <m:r>
                        <a:rPr lang="fr-FR" sz="2000" i="1" noProof="0" smtClean="0">
                          <a:latin typeface="Cambria Math" panose="02040503050406030204" pitchFamily="18" charset="0"/>
                        </a:rPr>
                        <m:t>+</m:t>
                      </m:r>
                      <m:r>
                        <a:rPr lang="fr-FR" sz="2000" i="1" noProof="0" smtClean="0">
                          <a:latin typeface="Cambria Math" panose="02040503050406030204" pitchFamily="18" charset="0"/>
                        </a:rPr>
                        <m:t>𝑂</m:t>
                      </m:r>
                      <m:d>
                        <m:dPr>
                          <m:ctrlPr>
                            <a:rPr lang="fr-FR" sz="2000" i="0" noProof="0" smtClean="0">
                              <a:latin typeface="Cambria Math" panose="02040503050406030204" pitchFamily="18" charset="0"/>
                            </a:rPr>
                          </m:ctrlPr>
                        </m:dPr>
                        <m:e>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4</m:t>
                              </m:r>
                            </m:sup>
                          </m:sSup>
                        </m:e>
                      </m:d>
                    </m:oMath>
                  </m:oMathPara>
                </a14:m>
                <a:endParaRPr lang="fr-FR" noProof="0" dirty="0"/>
              </a:p>
              <a:p>
                <a:pPr marL="0" indent="0" algn="just">
                  <a:lnSpc>
                    <a:spcPct val="100000"/>
                  </a:lnSpc>
                  <a:buNone/>
                </a:pPr>
                <a14:m>
                  <m:oMathPara xmlns:m="http://schemas.openxmlformats.org/officeDocument/2006/math">
                    <m:oMathParaPr>
                      <m:jc m:val="centerGroup"/>
                    </m:oMathParaPr>
                    <m:oMath xmlns:m="http://schemas.openxmlformats.org/officeDocument/2006/math">
                      <m:f>
                        <m:fPr>
                          <m:ctrlPr>
                            <a:rPr lang="fr-FR" sz="2000" i="0" noProof="0" smtClean="0">
                              <a:latin typeface="Cambria Math" panose="02040503050406030204" pitchFamily="18" charset="0"/>
                            </a:rPr>
                          </m:ctrlPr>
                        </m:fPr>
                        <m:num>
                          <m:sSubSup>
                            <m:sSubSupPr>
                              <m:ctrlPr>
                                <a:rPr lang="fr-FR" sz="2000"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r>
                                <a:rPr lang="fr-FR" sz="2000" i="1" noProof="0" smtClean="0">
                                  <a:latin typeface="Cambria Math" panose="02040503050406030204" pitchFamily="18" charset="0"/>
                                </a:rPr>
                                <m:t>+1</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r>
                            <a:rPr lang="fr-FR" sz="2000" i="1" noProof="0" smtClean="0">
                              <a:latin typeface="Cambria Math" panose="02040503050406030204" pitchFamily="18" charset="0"/>
                            </a:rPr>
                            <m:t>−</m:t>
                          </m:r>
                          <m:sSubSup>
                            <m:sSubSupPr>
                              <m:ctrlPr>
                                <a:rPr lang="fr-FR" sz="2000" i="0" noProof="0" smtClean="0">
                                  <a:latin typeface="Cambria Math" panose="02040503050406030204" pitchFamily="18" charset="0"/>
                                </a:rPr>
                              </m:ctrlPr>
                            </m:sSubSup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r>
                                <a:rPr lang="fr-FR" sz="2000" i="1" noProof="0" smtClean="0">
                                  <a:latin typeface="Cambria Math" panose="02040503050406030204" pitchFamily="18" charset="0"/>
                                </a:rPr>
                                <m:t>−1</m:t>
                              </m:r>
                            </m:sub>
                            <m:sup>
                              <m:r>
                                <a:rPr lang="fr-FR" sz="2000" i="1" noProof="0" smtClean="0">
                                  <a:latin typeface="Cambria Math" panose="02040503050406030204" pitchFamily="18" charset="0"/>
                                </a:rPr>
                                <m:t>𝑡</m:t>
                              </m:r>
                              <m:r>
                                <a:rPr lang="fr-FR" sz="2000" i="1" noProof="0" smtClean="0">
                                  <a:latin typeface="Cambria Math" panose="02040503050406030204" pitchFamily="18" charset="0"/>
                                </a:rPr>
                                <m:t>+1</m:t>
                              </m:r>
                            </m:sup>
                          </m:sSubSup>
                        </m:num>
                        <m:den>
                          <m:r>
                            <a:rPr lang="fr-FR" sz="2000" i="1" noProof="0" smtClean="0">
                              <a:latin typeface="Cambria Math" panose="02040503050406030204" pitchFamily="18" charset="0"/>
                            </a:rPr>
                            <m:t>2</m:t>
                          </m:r>
                          <m:r>
                            <m:rPr>
                              <m:sty m:val="p"/>
                            </m:rPr>
                            <a:rPr lang="fr-FR" sz="2000" i="1" noProof="0" smtClean="0">
                              <a:latin typeface="Cambria Math" panose="02040503050406030204" pitchFamily="18" charset="0"/>
                            </a:rPr>
                            <m:t>Δ</m:t>
                          </m:r>
                          <m:r>
                            <a:rPr lang="fr-FR" sz="2000" i="1" noProof="0" smtClean="0">
                              <a:latin typeface="Cambria Math" panose="02040503050406030204" pitchFamily="18" charset="0"/>
                            </a:rPr>
                            <m:t>𝑟</m:t>
                          </m:r>
                        </m:den>
                      </m:f>
                      <m:r>
                        <a:rPr lang="fr-FR" sz="2000" i="1" noProof="0" smtClean="0">
                          <a:latin typeface="Cambria Math" panose="02040503050406030204" pitchFamily="18" charset="0"/>
                        </a:rPr>
                        <m:t>=</m:t>
                      </m:r>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r>
                                    <a:rPr lang="fr-FR" sz="2000" i="1" noProof="0" smtClean="0">
                                      <a:latin typeface="Cambria Math" panose="02040503050406030204" pitchFamily="18" charset="0"/>
                                    </a:rPr>
                                    <m:t>𝜕</m:t>
                                  </m:r>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r>
                                    <a:rPr lang="fr-FR" sz="2000" i="1" noProof="0" smtClean="0">
                                      <a:latin typeface="Cambria Math" panose="02040503050406030204" pitchFamily="18" charset="0"/>
                                    </a:rPr>
                                    <m:t>𝑡</m:t>
                                  </m:r>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r>
                            <a:rPr lang="fr-FR" sz="2000" i="1" noProof="0">
                              <a:latin typeface="Cambria Math" panose="02040503050406030204" pitchFamily="18" charset="0"/>
                            </a:rPr>
                            <m:t>+1</m:t>
                          </m:r>
                        </m:sup>
                      </m:sSubSup>
                      <m:r>
                        <a:rPr lang="fr-FR" sz="2000" i="1" noProof="0" smtClean="0">
                          <a:latin typeface="Cambria Math" panose="02040503050406030204" pitchFamily="18" charset="0"/>
                        </a:rPr>
                        <m:t>+</m:t>
                      </m:r>
                      <m:f>
                        <m:fPr>
                          <m:ctrlPr>
                            <a:rPr lang="fr-FR" sz="2000" i="0" noProof="0" smtClean="0">
                              <a:latin typeface="Cambria Math" panose="02040503050406030204" pitchFamily="18" charset="0"/>
                            </a:rPr>
                          </m:ctrlPr>
                        </m:fPr>
                        <m:num>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num>
                        <m:den>
                          <m:r>
                            <a:rPr lang="fr-FR" sz="2000" i="1" noProof="0" smtClean="0">
                              <a:latin typeface="Cambria Math" panose="02040503050406030204" pitchFamily="18" charset="0"/>
                            </a:rPr>
                            <m:t>6</m:t>
                          </m:r>
                        </m:den>
                      </m:f>
                      <m:sSubSup>
                        <m:sSubSupPr>
                          <m:ctrlPr>
                            <a:rPr lang="fr-FR" sz="2000" i="1" noProof="0" smtClean="0">
                              <a:latin typeface="Cambria Math" panose="02040503050406030204" pitchFamily="18" charset="0"/>
                            </a:rPr>
                          </m:ctrlPr>
                        </m:sSubSupPr>
                        <m:e>
                          <m:d>
                            <m:dPr>
                              <m:begChr m:val=""/>
                              <m:endChr m:val="|"/>
                              <m:ctrlPr>
                                <a:rPr lang="fr-FR" sz="2000" i="1" noProof="0" smtClean="0">
                                  <a:latin typeface="Cambria Math" panose="02040503050406030204" pitchFamily="18" charset="0"/>
                                </a:rPr>
                              </m:ctrlPr>
                            </m:dPr>
                            <m:e>
                              <m:f>
                                <m:fPr>
                                  <m:ctrlPr>
                                    <a:rPr lang="fr-FR" sz="2000" i="1" noProof="0" smtClean="0">
                                      <a:latin typeface="Cambria Math" panose="02040503050406030204" pitchFamily="18" charset="0"/>
                                    </a:rPr>
                                  </m:ctrlPr>
                                </m:fPr>
                                <m:num>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m:t>
                                      </m:r>
                                    </m:e>
                                    <m:sup>
                                      <m:r>
                                        <a:rPr lang="fr-FR" sz="2000" i="1" noProof="0" smtClean="0">
                                          <a:latin typeface="Cambria Math" panose="02040503050406030204" pitchFamily="18" charset="0"/>
                                        </a:rPr>
                                        <m:t>3</m:t>
                                      </m:r>
                                    </m:sup>
                                  </m:sSup>
                                  <m:r>
                                    <a:rPr lang="fr-FR" sz="2000" i="1" noProof="0" smtClean="0">
                                      <a:latin typeface="Cambria Math" panose="02040503050406030204" pitchFamily="18" charset="0"/>
                                    </a:rPr>
                                    <m:t>𝐶</m:t>
                                  </m:r>
                                </m:num>
                                <m:den>
                                  <m:r>
                                    <a:rPr lang="fr-FR" sz="2000" i="1" noProof="0" smtClean="0">
                                      <a:latin typeface="Cambria Math" panose="02040503050406030204" pitchFamily="18" charset="0"/>
                                    </a:rPr>
                                    <m:t>𝜕</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𝑡</m:t>
                                      </m:r>
                                    </m:e>
                                    <m:sup>
                                      <m:r>
                                        <a:rPr lang="fr-FR" sz="2000" i="1" noProof="0" smtClean="0">
                                          <a:latin typeface="Cambria Math" panose="02040503050406030204" pitchFamily="18" charset="0"/>
                                        </a:rPr>
                                        <m:t>3</m:t>
                                      </m:r>
                                    </m:sup>
                                  </m:sSup>
                                </m:den>
                              </m:f>
                            </m:e>
                          </m:d>
                        </m:e>
                        <m:sub>
                          <m:r>
                            <a:rPr lang="fr-FR" sz="2000" i="1" noProof="0">
                              <a:latin typeface="Cambria Math" panose="02040503050406030204" pitchFamily="18" charset="0"/>
                            </a:rPr>
                            <m:t>𝑖</m:t>
                          </m:r>
                        </m:sub>
                        <m:sup>
                          <m:r>
                            <a:rPr lang="fr-FR" sz="2000" i="1" noProof="0">
                              <a:latin typeface="Cambria Math" panose="02040503050406030204" pitchFamily="18" charset="0"/>
                            </a:rPr>
                            <m:t>𝑡</m:t>
                          </m:r>
                          <m:r>
                            <a:rPr lang="fr-FR" sz="2000" i="1" noProof="0">
                              <a:latin typeface="Cambria Math" panose="02040503050406030204" pitchFamily="18" charset="0"/>
                            </a:rPr>
                            <m:t>+1</m:t>
                          </m:r>
                        </m:sup>
                      </m:sSubSup>
                      <m:r>
                        <a:rPr lang="fr-FR" sz="2000" i="1" noProof="0" smtClean="0">
                          <a:latin typeface="Cambria Math" panose="02040503050406030204" pitchFamily="18" charset="0"/>
                        </a:rPr>
                        <m:t>+</m:t>
                      </m:r>
                      <m:r>
                        <a:rPr lang="fr-FR" sz="2000" i="1" noProof="0" smtClean="0">
                          <a:latin typeface="Cambria Math" panose="02040503050406030204" pitchFamily="18" charset="0"/>
                        </a:rPr>
                        <m:t>𝑂</m:t>
                      </m:r>
                      <m:d>
                        <m:dPr>
                          <m:ctrlPr>
                            <a:rPr lang="fr-FR" sz="2000" i="0" noProof="0" smtClean="0">
                              <a:latin typeface="Cambria Math" panose="02040503050406030204" pitchFamily="18" charset="0"/>
                            </a:rPr>
                          </m:ctrlPr>
                        </m:dPr>
                        <m:e>
                          <m:r>
                            <m:rPr>
                              <m:sty m:val="p"/>
                            </m:rPr>
                            <a:rPr lang="fr-FR" sz="2000" i="1" noProof="0" smtClean="0">
                              <a:latin typeface="Cambria Math" panose="02040503050406030204" pitchFamily="18" charset="0"/>
                            </a:rPr>
                            <m:t>Δ</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4</m:t>
                              </m:r>
                            </m:sup>
                          </m:sSup>
                        </m:e>
                      </m:d>
                    </m:oMath>
                  </m:oMathPara>
                </a14:m>
                <a:endParaRPr lang="fr-FR" noProof="0" dirty="0"/>
              </a:p>
              <a:p>
                <a:pPr marL="0" indent="0" algn="just">
                  <a:lnSpc>
                    <a:spcPct val="100000"/>
                  </a:lnSpc>
                  <a:buNone/>
                </a:pPr>
                <a:r>
                  <a:rPr lang="fr-FR" sz="2400" noProof="0" dirty="0"/>
                  <a:t>Finalement, on substitue les développements dans le résidu et on obtient une erreur :</a:t>
                </a:r>
              </a:p>
              <a:p>
                <a:pPr marL="0" indent="0" algn="just">
                  <a:lnSpc>
                    <a:spcPct val="100000"/>
                  </a:lnSpc>
                  <a:buNone/>
                </a:pPr>
                <a:endParaRPr lang="fr-FR" sz="2400" noProof="0" dirty="0"/>
              </a:p>
              <a:p>
                <a:pPr marL="0" indent="0" algn="just">
                  <a:lnSpc>
                    <a:spcPct val="100000"/>
                  </a:lnSpc>
                  <a:buNone/>
                </a:pPr>
                <a14:m>
                  <m:oMathPara xmlns:m="http://schemas.openxmlformats.org/officeDocument/2006/math">
                    <m:oMathParaPr>
                      <m:jc m:val="centerGroup"/>
                    </m:oMathParaPr>
                    <m:oMath xmlns:m="http://schemas.openxmlformats.org/officeDocument/2006/math">
                      <m:r>
                        <a:rPr lang="fr-FR" sz="2400" b="0" i="1" noProof="0" smtClean="0">
                          <a:latin typeface="Cambria Math" panose="02040503050406030204" pitchFamily="18" charset="0"/>
                        </a:rPr>
                        <m:t>𝑇</m:t>
                      </m:r>
                      <m:sSub>
                        <m:sSubPr>
                          <m:ctrlPr>
                            <a:rPr lang="fr-FR" sz="2400" b="0" i="1" noProof="0" smtClean="0">
                              <a:latin typeface="Cambria Math" panose="02040503050406030204" pitchFamily="18" charset="0"/>
                            </a:rPr>
                          </m:ctrlPr>
                        </m:sSubPr>
                        <m:e>
                          <m:r>
                            <a:rPr lang="fr-FR" sz="2400" b="0" i="1" noProof="0" smtClean="0">
                              <a:latin typeface="Cambria Math" panose="02040503050406030204" pitchFamily="18" charset="0"/>
                            </a:rPr>
                            <m:t>𝐸</m:t>
                          </m:r>
                        </m:e>
                        <m:sub>
                          <m:r>
                            <a:rPr lang="fr-FR" sz="2400" b="0" i="1" noProof="0" smtClean="0">
                              <a:latin typeface="Cambria Math" panose="02040503050406030204" pitchFamily="18" charset="0"/>
                            </a:rPr>
                            <m:t>h</m:t>
                          </m:r>
                        </m:sub>
                      </m:sSub>
                      <m:d>
                        <m:dPr>
                          <m:ctrlPr>
                            <a:rPr lang="fr-FR" sz="2400" b="0" i="1" noProof="0" smtClean="0">
                              <a:latin typeface="Cambria Math" panose="02040503050406030204" pitchFamily="18" charset="0"/>
                            </a:rPr>
                          </m:ctrlPr>
                        </m:dPr>
                        <m:e>
                          <m:r>
                            <a:rPr lang="fr-FR" sz="2400" b="0" i="1" noProof="0" smtClean="0">
                              <a:latin typeface="Cambria Math" panose="02040503050406030204" pitchFamily="18" charset="0"/>
                            </a:rPr>
                            <m:t>𝐶</m:t>
                          </m:r>
                        </m:e>
                      </m:d>
                      <m:r>
                        <a:rPr lang="fr-FR" sz="2400" b="0" i="1" noProof="0" smtClean="0">
                          <a:latin typeface="Cambria Math" panose="02040503050406030204" pitchFamily="18" charset="0"/>
                        </a:rPr>
                        <m:t>=</m:t>
                      </m:r>
                      <m:d>
                        <m:dPr>
                          <m:ctrlPr>
                            <a:rPr lang="fr-FR" sz="2400" b="0" i="1" noProof="0" smtClean="0">
                              <a:latin typeface="Cambria Math" panose="02040503050406030204" pitchFamily="18" charset="0"/>
                            </a:rPr>
                          </m:ctrlPr>
                        </m:dPr>
                        <m:e>
                          <m:f>
                            <m:fPr>
                              <m:ctrlPr>
                                <a:rPr lang="fr-FR" sz="2400" b="0" i="1" noProof="0" smtClean="0">
                                  <a:latin typeface="Cambria Math" panose="02040503050406030204" pitchFamily="18" charset="0"/>
                                </a:rPr>
                              </m:ctrlPr>
                            </m:fPr>
                            <m:num>
                              <m:r>
                                <a:rPr lang="fr-FR" sz="2400" b="0" i="1" noProof="0" smtClean="0">
                                  <a:latin typeface="Cambria Math" panose="02040503050406030204" pitchFamily="18" charset="0"/>
                                </a:rPr>
                                <m:t>1</m:t>
                              </m:r>
                            </m:num>
                            <m:den>
                              <m:r>
                                <a:rPr lang="fr-FR" sz="2400" b="0" i="1" noProof="0" smtClean="0">
                                  <a:latin typeface="Cambria Math" panose="02040503050406030204" pitchFamily="18" charset="0"/>
                                </a:rPr>
                                <m:t>2</m:t>
                              </m:r>
                            </m:den>
                          </m:f>
                          <m:f>
                            <m:fPr>
                              <m:ctrlPr>
                                <a:rPr lang="fr-FR" sz="2400" i="1" noProof="0">
                                  <a:latin typeface="Cambria Math" panose="02040503050406030204" pitchFamily="18" charset="0"/>
                                </a:rPr>
                              </m:ctrlPr>
                            </m:fPr>
                            <m:num>
                              <m:sSup>
                                <m:sSupPr>
                                  <m:ctrlPr>
                                    <a:rPr lang="fr-FR" sz="2400" i="1" noProof="0">
                                      <a:latin typeface="Cambria Math" panose="02040503050406030204" pitchFamily="18" charset="0"/>
                                    </a:rPr>
                                  </m:ctrlPr>
                                </m:sSupPr>
                                <m:e>
                                  <m:r>
                                    <a:rPr lang="fr-FR" sz="2400" i="1" noProof="0">
                                      <a:latin typeface="Cambria Math" panose="02040503050406030204" pitchFamily="18" charset="0"/>
                                    </a:rPr>
                                    <m:t>𝜕</m:t>
                                  </m:r>
                                </m:e>
                                <m:sup>
                                  <m:r>
                                    <a:rPr lang="fr-FR" sz="2400" i="1" noProof="0">
                                      <a:latin typeface="Cambria Math" panose="02040503050406030204" pitchFamily="18" charset="0"/>
                                    </a:rPr>
                                    <m:t>2</m:t>
                                  </m:r>
                                </m:sup>
                              </m:sSup>
                              <m:r>
                                <a:rPr lang="fr-FR" sz="2400" i="1" noProof="0">
                                  <a:latin typeface="Cambria Math" panose="02040503050406030204" pitchFamily="18" charset="0"/>
                                </a:rPr>
                                <m:t>𝐶</m:t>
                              </m:r>
                            </m:num>
                            <m:den>
                              <m:r>
                                <a:rPr lang="fr-FR" sz="2400" i="1" noProof="0">
                                  <a:latin typeface="Cambria Math" panose="02040503050406030204" pitchFamily="18" charset="0"/>
                                </a:rPr>
                                <m:t>𝜕</m:t>
                              </m:r>
                              <m:sSup>
                                <m:sSupPr>
                                  <m:ctrlPr>
                                    <a:rPr lang="fr-FR" sz="2400" i="1" noProof="0">
                                      <a:latin typeface="Cambria Math" panose="02040503050406030204" pitchFamily="18" charset="0"/>
                                    </a:rPr>
                                  </m:ctrlPr>
                                </m:sSupPr>
                                <m:e>
                                  <m:r>
                                    <a:rPr lang="fr-FR" sz="2400" i="1" noProof="0">
                                      <a:latin typeface="Cambria Math" panose="02040503050406030204" pitchFamily="18" charset="0"/>
                                    </a:rPr>
                                    <m:t>𝑡</m:t>
                                  </m:r>
                                </m:e>
                                <m:sup>
                                  <m:r>
                                    <a:rPr lang="fr-FR" sz="2400" i="1" noProof="0">
                                      <a:latin typeface="Cambria Math" panose="02040503050406030204" pitchFamily="18" charset="0"/>
                                    </a:rPr>
                                    <m:t>2</m:t>
                                  </m:r>
                                </m:sup>
                              </m:sSup>
                            </m:den>
                          </m:f>
                        </m:e>
                      </m:d>
                      <m:r>
                        <a:rPr lang="fr-FR" sz="2400" b="0" i="1" noProof="0" smtClean="0">
                          <a:solidFill>
                            <a:srgbClr val="FF0000"/>
                          </a:solidFill>
                          <a:latin typeface="Cambria Math" panose="02040503050406030204" pitchFamily="18" charset="0"/>
                        </a:rPr>
                        <m:t>𝛥</m:t>
                      </m:r>
                      <m:r>
                        <a:rPr lang="fr-FR" sz="2400" b="0" i="1" noProof="0" smtClean="0">
                          <a:solidFill>
                            <a:srgbClr val="FF0000"/>
                          </a:solidFill>
                          <a:latin typeface="Cambria Math" panose="02040503050406030204" pitchFamily="18" charset="0"/>
                        </a:rPr>
                        <m:t>𝑡</m:t>
                      </m:r>
                      <m:r>
                        <a:rPr lang="fr-FR" sz="2400" b="0" i="1" noProof="0" smtClean="0">
                          <a:latin typeface="Cambria Math" panose="02040503050406030204" pitchFamily="18" charset="0"/>
                        </a:rPr>
                        <m:t>+</m:t>
                      </m:r>
                      <m:d>
                        <m:dPr>
                          <m:ctrlPr>
                            <a:rPr lang="fr-FR" sz="2400" i="1" noProof="0">
                              <a:latin typeface="Cambria Math" panose="02040503050406030204" pitchFamily="18" charset="0"/>
                            </a:rPr>
                          </m:ctrlPr>
                        </m:dPr>
                        <m:e>
                          <m:f>
                            <m:fPr>
                              <m:ctrlPr>
                                <a:rPr lang="fr-FR" sz="2400" i="1" noProof="0">
                                  <a:latin typeface="Cambria Math" panose="02040503050406030204" pitchFamily="18" charset="0"/>
                                </a:rPr>
                              </m:ctrlPr>
                            </m:fPr>
                            <m:num>
                              <m:r>
                                <a:rPr lang="fr-FR" sz="2400" i="1" noProof="0">
                                  <a:latin typeface="Cambria Math" panose="02040503050406030204" pitchFamily="18" charset="0"/>
                                </a:rPr>
                                <m:t>1</m:t>
                              </m:r>
                            </m:num>
                            <m:den>
                              <m:r>
                                <a:rPr lang="fr-FR" sz="2400" b="0" i="1" noProof="0" smtClean="0">
                                  <a:latin typeface="Cambria Math" panose="02040503050406030204" pitchFamily="18" charset="0"/>
                                </a:rPr>
                                <m:t>6</m:t>
                              </m:r>
                            </m:den>
                          </m:f>
                          <m:f>
                            <m:fPr>
                              <m:ctrlPr>
                                <a:rPr lang="fr-FR" sz="2400" i="1" noProof="0">
                                  <a:latin typeface="Cambria Math" panose="02040503050406030204" pitchFamily="18" charset="0"/>
                                </a:rPr>
                              </m:ctrlPr>
                            </m:fPr>
                            <m:num>
                              <m:sSup>
                                <m:sSupPr>
                                  <m:ctrlPr>
                                    <a:rPr lang="fr-FR" sz="2400" i="1" noProof="0">
                                      <a:latin typeface="Cambria Math" panose="02040503050406030204" pitchFamily="18" charset="0"/>
                                    </a:rPr>
                                  </m:ctrlPr>
                                </m:sSupPr>
                                <m:e>
                                  <m:r>
                                    <a:rPr lang="fr-FR" sz="2400" i="1" noProof="0">
                                      <a:latin typeface="Cambria Math" panose="02040503050406030204" pitchFamily="18" charset="0"/>
                                    </a:rPr>
                                    <m:t>𝜕</m:t>
                                  </m:r>
                                </m:e>
                                <m:sup>
                                  <m:r>
                                    <a:rPr lang="fr-FR" sz="2400" b="0" i="1" noProof="0" smtClean="0">
                                      <a:latin typeface="Cambria Math" panose="02040503050406030204" pitchFamily="18" charset="0"/>
                                    </a:rPr>
                                    <m:t>3</m:t>
                                  </m:r>
                                </m:sup>
                              </m:sSup>
                              <m:r>
                                <a:rPr lang="fr-FR" sz="2400" i="1" noProof="0">
                                  <a:latin typeface="Cambria Math" panose="02040503050406030204" pitchFamily="18" charset="0"/>
                                </a:rPr>
                                <m:t>𝐶</m:t>
                              </m:r>
                            </m:num>
                            <m:den>
                              <m:r>
                                <a:rPr lang="fr-FR" sz="2400" i="1" noProof="0">
                                  <a:latin typeface="Cambria Math" panose="02040503050406030204" pitchFamily="18" charset="0"/>
                                </a:rPr>
                                <m:t>𝜕</m:t>
                              </m:r>
                              <m:sSup>
                                <m:sSupPr>
                                  <m:ctrlPr>
                                    <a:rPr lang="fr-FR" sz="2400" i="1" noProof="0">
                                      <a:latin typeface="Cambria Math" panose="02040503050406030204" pitchFamily="18" charset="0"/>
                                    </a:rPr>
                                  </m:ctrlPr>
                                </m:sSupPr>
                                <m:e>
                                  <m:r>
                                    <a:rPr lang="fr-FR" sz="2400" i="1" noProof="0">
                                      <a:latin typeface="Cambria Math" panose="02040503050406030204" pitchFamily="18" charset="0"/>
                                    </a:rPr>
                                    <m:t>𝑡</m:t>
                                  </m:r>
                                </m:e>
                                <m:sup>
                                  <m:r>
                                    <a:rPr lang="fr-FR" sz="2400" b="0" i="1" noProof="0" smtClean="0">
                                      <a:latin typeface="Cambria Math" panose="02040503050406030204" pitchFamily="18" charset="0"/>
                                    </a:rPr>
                                    <m:t>3</m:t>
                                  </m:r>
                                </m:sup>
                              </m:sSup>
                            </m:den>
                          </m:f>
                        </m:e>
                      </m:d>
                      <m:r>
                        <m:rPr>
                          <m:sty m:val="p"/>
                        </m:rPr>
                        <a:rPr lang="fr-FR" sz="2400" i="1" noProof="0">
                          <a:latin typeface="Cambria Math" panose="02040503050406030204" pitchFamily="18" charset="0"/>
                        </a:rPr>
                        <m:t>Δ</m:t>
                      </m:r>
                      <m:sSup>
                        <m:sSupPr>
                          <m:ctrlPr>
                            <a:rPr lang="fr-FR" sz="2400" i="1" noProof="0">
                              <a:latin typeface="Cambria Math" panose="02040503050406030204" pitchFamily="18" charset="0"/>
                            </a:rPr>
                          </m:ctrlPr>
                        </m:sSupPr>
                        <m:e>
                          <m:r>
                            <a:rPr lang="fr-FR" sz="2400" i="1" noProof="0">
                              <a:latin typeface="Cambria Math" panose="02040503050406030204" pitchFamily="18" charset="0"/>
                            </a:rPr>
                            <m:t>𝑡</m:t>
                          </m:r>
                        </m:e>
                        <m:sup>
                          <m:r>
                            <a:rPr lang="fr-FR" sz="2400" i="1" noProof="0">
                              <a:latin typeface="Cambria Math" panose="02040503050406030204" pitchFamily="18" charset="0"/>
                            </a:rPr>
                            <m:t>2</m:t>
                          </m:r>
                        </m:sup>
                      </m:sSup>
                      <m:r>
                        <a:rPr lang="fr-FR" sz="2400" b="0" i="1" noProof="0" smtClean="0">
                          <a:latin typeface="Cambria Math" panose="02040503050406030204" pitchFamily="18" charset="0"/>
                        </a:rPr>
                        <m:t>−</m:t>
                      </m:r>
                      <m:d>
                        <m:dPr>
                          <m:begChr m:val="["/>
                          <m:endChr m:val="]"/>
                          <m:ctrlPr>
                            <a:rPr lang="fr-FR" sz="2400" b="0" i="1" noProof="0" smtClean="0">
                              <a:latin typeface="Cambria Math" panose="02040503050406030204" pitchFamily="18" charset="0"/>
                            </a:rPr>
                          </m:ctrlPr>
                        </m:dPr>
                        <m:e>
                          <m:sSub>
                            <m:sSubPr>
                              <m:ctrlPr>
                                <a:rPr lang="fr-FR" sz="2400" i="1" noProof="0">
                                  <a:latin typeface="Cambria Math" panose="02040503050406030204" pitchFamily="18" charset="0"/>
                                </a:rPr>
                              </m:ctrlPr>
                            </m:sSubPr>
                            <m:e>
                              <m:r>
                                <a:rPr lang="fr-FR" sz="2400" i="1" noProof="0">
                                  <a:latin typeface="Cambria Math" panose="02040503050406030204" pitchFamily="18" charset="0"/>
                                </a:rPr>
                                <m:t>𝐷</m:t>
                              </m:r>
                            </m:e>
                            <m:sub>
                              <m:r>
                                <m:rPr>
                                  <m:sty m:val="p"/>
                                </m:rPr>
                                <a:rPr lang="fr-FR" sz="2400" noProof="0">
                                  <a:latin typeface="Cambria Math" panose="02040503050406030204" pitchFamily="18" charset="0"/>
                                </a:rPr>
                                <m:t>eff</m:t>
                              </m:r>
                            </m:sub>
                          </m:sSub>
                          <m:d>
                            <m:dPr>
                              <m:ctrlPr>
                                <a:rPr lang="fr-FR" sz="2400" i="1" noProof="0" smtClean="0">
                                  <a:latin typeface="Cambria Math" panose="02040503050406030204" pitchFamily="18" charset="0"/>
                                </a:rPr>
                              </m:ctrlPr>
                            </m:dPr>
                            <m:e>
                              <m:f>
                                <m:fPr>
                                  <m:ctrlPr>
                                    <a:rPr lang="fr-FR" sz="2400" i="1" noProof="0">
                                      <a:latin typeface="Cambria Math" panose="02040503050406030204" pitchFamily="18" charset="0"/>
                                    </a:rPr>
                                  </m:ctrlPr>
                                </m:fPr>
                                <m:num>
                                  <m:r>
                                    <a:rPr lang="fr-FR" sz="2400" i="1" noProof="0">
                                      <a:latin typeface="Cambria Math" panose="02040503050406030204" pitchFamily="18" charset="0"/>
                                    </a:rPr>
                                    <m:t>1</m:t>
                                  </m:r>
                                </m:num>
                                <m:den>
                                  <m:r>
                                    <a:rPr lang="fr-FR" sz="2400" b="0" i="1" noProof="0" smtClean="0">
                                      <a:latin typeface="Cambria Math" panose="02040503050406030204" pitchFamily="18" charset="0"/>
                                    </a:rPr>
                                    <m:t>12</m:t>
                                  </m:r>
                                </m:den>
                              </m:f>
                              <m:f>
                                <m:fPr>
                                  <m:ctrlPr>
                                    <a:rPr lang="fr-FR" sz="2400" i="1" noProof="0">
                                      <a:latin typeface="Cambria Math" panose="02040503050406030204" pitchFamily="18" charset="0"/>
                                    </a:rPr>
                                  </m:ctrlPr>
                                </m:fPr>
                                <m:num>
                                  <m:sSup>
                                    <m:sSupPr>
                                      <m:ctrlPr>
                                        <a:rPr lang="fr-FR" sz="2400" i="1" noProof="0">
                                          <a:latin typeface="Cambria Math" panose="02040503050406030204" pitchFamily="18" charset="0"/>
                                        </a:rPr>
                                      </m:ctrlPr>
                                    </m:sSupPr>
                                    <m:e>
                                      <m:r>
                                        <a:rPr lang="fr-FR" sz="2400" i="1" noProof="0">
                                          <a:latin typeface="Cambria Math" panose="02040503050406030204" pitchFamily="18" charset="0"/>
                                        </a:rPr>
                                        <m:t>𝜕</m:t>
                                      </m:r>
                                    </m:e>
                                    <m:sup>
                                      <m:r>
                                        <a:rPr lang="fr-FR" sz="2400" b="0" i="1" noProof="0" smtClean="0">
                                          <a:latin typeface="Cambria Math" panose="02040503050406030204" pitchFamily="18" charset="0"/>
                                        </a:rPr>
                                        <m:t>4</m:t>
                                      </m:r>
                                    </m:sup>
                                  </m:sSup>
                                  <m:r>
                                    <a:rPr lang="fr-FR" sz="2400" i="1" noProof="0">
                                      <a:latin typeface="Cambria Math" panose="02040503050406030204" pitchFamily="18" charset="0"/>
                                    </a:rPr>
                                    <m:t>𝐶</m:t>
                                  </m:r>
                                </m:num>
                                <m:den>
                                  <m:r>
                                    <a:rPr lang="fr-FR" sz="2400" i="1" noProof="0">
                                      <a:latin typeface="Cambria Math" panose="02040503050406030204" pitchFamily="18" charset="0"/>
                                    </a:rPr>
                                    <m:t>𝜕</m:t>
                                  </m:r>
                                  <m:sSup>
                                    <m:sSupPr>
                                      <m:ctrlPr>
                                        <a:rPr lang="fr-FR" sz="2400" i="1" noProof="0">
                                          <a:latin typeface="Cambria Math" panose="02040503050406030204" pitchFamily="18" charset="0"/>
                                        </a:rPr>
                                      </m:ctrlPr>
                                    </m:sSupPr>
                                    <m:e>
                                      <m:r>
                                        <a:rPr lang="fr-FR" sz="2400" b="0" i="1" noProof="0" smtClean="0">
                                          <a:latin typeface="Cambria Math" panose="02040503050406030204" pitchFamily="18" charset="0"/>
                                        </a:rPr>
                                        <m:t>𝑟</m:t>
                                      </m:r>
                                    </m:e>
                                    <m:sup>
                                      <m:r>
                                        <a:rPr lang="fr-FR" sz="2400" b="0" i="1" noProof="0" smtClean="0">
                                          <a:latin typeface="Cambria Math" panose="02040503050406030204" pitchFamily="18" charset="0"/>
                                        </a:rPr>
                                        <m:t>4</m:t>
                                      </m:r>
                                    </m:sup>
                                  </m:sSup>
                                </m:den>
                              </m:f>
                              <m:r>
                                <a:rPr lang="fr-FR" sz="2400" b="0" i="1" noProof="0" smtClean="0">
                                  <a:latin typeface="Cambria Math" panose="02040503050406030204" pitchFamily="18" charset="0"/>
                                </a:rPr>
                                <m:t>+</m:t>
                              </m:r>
                              <m:f>
                                <m:fPr>
                                  <m:ctrlPr>
                                    <a:rPr lang="fr-FR" sz="2400" i="1" noProof="0">
                                      <a:latin typeface="Cambria Math" panose="02040503050406030204" pitchFamily="18" charset="0"/>
                                    </a:rPr>
                                  </m:ctrlPr>
                                </m:fPr>
                                <m:num>
                                  <m:r>
                                    <a:rPr lang="fr-FR" sz="2400" i="1" noProof="0">
                                      <a:latin typeface="Cambria Math" panose="02040503050406030204" pitchFamily="18" charset="0"/>
                                    </a:rPr>
                                    <m:t>1</m:t>
                                  </m:r>
                                </m:num>
                                <m:den>
                                  <m:r>
                                    <a:rPr lang="fr-FR" sz="2400" b="0" i="1" noProof="0" smtClean="0">
                                      <a:latin typeface="Cambria Math" panose="02040503050406030204" pitchFamily="18" charset="0"/>
                                    </a:rPr>
                                    <m:t>6</m:t>
                                  </m:r>
                                  <m:sSub>
                                    <m:sSubPr>
                                      <m:ctrlPr>
                                        <a:rPr lang="fr-FR" sz="2400" b="0" i="1" noProof="0" smtClean="0">
                                          <a:latin typeface="Cambria Math" panose="02040503050406030204" pitchFamily="18" charset="0"/>
                                        </a:rPr>
                                      </m:ctrlPr>
                                    </m:sSubPr>
                                    <m:e>
                                      <m:r>
                                        <a:rPr lang="fr-FR" sz="2400" b="0" i="1" noProof="0" smtClean="0">
                                          <a:latin typeface="Cambria Math" panose="02040503050406030204" pitchFamily="18" charset="0"/>
                                        </a:rPr>
                                        <m:t>𝑟</m:t>
                                      </m:r>
                                    </m:e>
                                    <m:sub>
                                      <m:r>
                                        <a:rPr lang="fr-FR" sz="2400" b="0" i="1" noProof="0" smtClean="0">
                                          <a:latin typeface="Cambria Math" panose="02040503050406030204" pitchFamily="18" charset="0"/>
                                        </a:rPr>
                                        <m:t>𝑖</m:t>
                                      </m:r>
                                    </m:sub>
                                  </m:sSub>
                                </m:den>
                              </m:f>
                              <m:f>
                                <m:fPr>
                                  <m:ctrlPr>
                                    <a:rPr lang="fr-FR" sz="2400" i="1" noProof="0">
                                      <a:latin typeface="Cambria Math" panose="02040503050406030204" pitchFamily="18" charset="0"/>
                                    </a:rPr>
                                  </m:ctrlPr>
                                </m:fPr>
                                <m:num>
                                  <m:sSup>
                                    <m:sSupPr>
                                      <m:ctrlPr>
                                        <a:rPr lang="fr-FR" sz="2400" i="1" noProof="0">
                                          <a:latin typeface="Cambria Math" panose="02040503050406030204" pitchFamily="18" charset="0"/>
                                        </a:rPr>
                                      </m:ctrlPr>
                                    </m:sSupPr>
                                    <m:e>
                                      <m:r>
                                        <a:rPr lang="fr-FR" sz="2400" i="1" noProof="0">
                                          <a:latin typeface="Cambria Math" panose="02040503050406030204" pitchFamily="18" charset="0"/>
                                        </a:rPr>
                                        <m:t>𝜕</m:t>
                                      </m:r>
                                    </m:e>
                                    <m:sup>
                                      <m:r>
                                        <a:rPr lang="fr-FR" sz="2400" b="0" i="1" noProof="0" smtClean="0">
                                          <a:latin typeface="Cambria Math" panose="02040503050406030204" pitchFamily="18" charset="0"/>
                                        </a:rPr>
                                        <m:t>3</m:t>
                                      </m:r>
                                    </m:sup>
                                  </m:sSup>
                                  <m:r>
                                    <a:rPr lang="fr-FR" sz="2400" i="1" noProof="0">
                                      <a:latin typeface="Cambria Math" panose="02040503050406030204" pitchFamily="18" charset="0"/>
                                    </a:rPr>
                                    <m:t>𝐶</m:t>
                                  </m:r>
                                </m:num>
                                <m:den>
                                  <m:r>
                                    <a:rPr lang="fr-FR" sz="2400" i="1" noProof="0">
                                      <a:latin typeface="Cambria Math" panose="02040503050406030204" pitchFamily="18" charset="0"/>
                                    </a:rPr>
                                    <m:t>𝜕</m:t>
                                  </m:r>
                                  <m:sSup>
                                    <m:sSupPr>
                                      <m:ctrlPr>
                                        <a:rPr lang="fr-FR" sz="2400" i="1" noProof="0">
                                          <a:latin typeface="Cambria Math" panose="02040503050406030204" pitchFamily="18" charset="0"/>
                                        </a:rPr>
                                      </m:ctrlPr>
                                    </m:sSupPr>
                                    <m:e>
                                      <m:r>
                                        <a:rPr lang="fr-FR" sz="2400" i="1" noProof="0">
                                          <a:latin typeface="Cambria Math" panose="02040503050406030204" pitchFamily="18" charset="0"/>
                                        </a:rPr>
                                        <m:t>𝑟</m:t>
                                      </m:r>
                                    </m:e>
                                    <m:sup>
                                      <m:r>
                                        <a:rPr lang="fr-FR" sz="2400" b="0" i="1" noProof="0" smtClean="0">
                                          <a:latin typeface="Cambria Math" panose="02040503050406030204" pitchFamily="18" charset="0"/>
                                        </a:rPr>
                                        <m:t>3</m:t>
                                      </m:r>
                                    </m:sup>
                                  </m:sSup>
                                </m:den>
                              </m:f>
                            </m:e>
                          </m:d>
                        </m:e>
                      </m:d>
                      <m:r>
                        <m:rPr>
                          <m:sty m:val="p"/>
                        </m:rPr>
                        <a:rPr lang="fr-FR" sz="2400" i="1" noProof="0" smtClean="0">
                          <a:solidFill>
                            <a:srgbClr val="00B050"/>
                          </a:solidFill>
                          <a:latin typeface="Cambria Math" panose="02040503050406030204" pitchFamily="18" charset="0"/>
                        </a:rPr>
                        <m:t>Δ</m:t>
                      </m:r>
                      <m:sSup>
                        <m:sSupPr>
                          <m:ctrlPr>
                            <a:rPr lang="fr-FR" sz="2400" i="1" noProof="0">
                              <a:solidFill>
                                <a:srgbClr val="00B050"/>
                              </a:solidFill>
                              <a:latin typeface="Cambria Math" panose="02040503050406030204" pitchFamily="18" charset="0"/>
                            </a:rPr>
                          </m:ctrlPr>
                        </m:sSupPr>
                        <m:e>
                          <m:r>
                            <a:rPr lang="fr-FR" sz="2400" i="1" noProof="0">
                              <a:solidFill>
                                <a:srgbClr val="00B050"/>
                              </a:solidFill>
                              <a:latin typeface="Cambria Math" panose="02040503050406030204" pitchFamily="18" charset="0"/>
                            </a:rPr>
                            <m:t>𝑟</m:t>
                          </m:r>
                        </m:e>
                        <m:sup>
                          <m:r>
                            <a:rPr lang="fr-FR" sz="2400" i="1" noProof="0">
                              <a:solidFill>
                                <a:srgbClr val="00B050"/>
                              </a:solidFill>
                              <a:latin typeface="Cambria Math" panose="02040503050406030204" pitchFamily="18" charset="0"/>
                            </a:rPr>
                            <m:t>2</m:t>
                          </m:r>
                        </m:sup>
                      </m:sSup>
                      <m:r>
                        <a:rPr lang="fr-FR" sz="2400" b="0" i="1" noProof="0" smtClean="0">
                          <a:latin typeface="Cambria Math" panose="02040503050406030204" pitchFamily="18" charset="0"/>
                        </a:rPr>
                        <m:t>+</m:t>
                      </m:r>
                      <m:r>
                        <a:rPr lang="fr-FR" sz="2400" i="1" noProof="0">
                          <a:latin typeface="Cambria Math" panose="02040503050406030204" pitchFamily="18" charset="0"/>
                        </a:rPr>
                        <m:t>𝑂</m:t>
                      </m:r>
                      <m:d>
                        <m:dPr>
                          <m:ctrlPr>
                            <a:rPr lang="fr-FR" sz="2400" i="1" noProof="0">
                              <a:latin typeface="Cambria Math" panose="02040503050406030204" pitchFamily="18" charset="0"/>
                            </a:rPr>
                          </m:ctrlPr>
                        </m:dPr>
                        <m:e>
                          <m:r>
                            <m:rPr>
                              <m:sty m:val="p"/>
                            </m:rPr>
                            <a:rPr lang="fr-FR" sz="2400" i="1" noProof="0">
                              <a:latin typeface="Cambria Math" panose="02040503050406030204" pitchFamily="18" charset="0"/>
                            </a:rPr>
                            <m:t>Δ</m:t>
                          </m:r>
                          <m:sSup>
                            <m:sSupPr>
                              <m:ctrlPr>
                                <a:rPr lang="fr-FR" sz="2400" i="1" noProof="0">
                                  <a:latin typeface="Cambria Math" panose="02040503050406030204" pitchFamily="18" charset="0"/>
                                </a:rPr>
                              </m:ctrlPr>
                            </m:sSupPr>
                            <m:e>
                              <m:r>
                                <a:rPr lang="fr-FR" sz="2400" i="1" noProof="0">
                                  <a:latin typeface="Cambria Math" panose="02040503050406030204" pitchFamily="18" charset="0"/>
                                </a:rPr>
                                <m:t>𝑡</m:t>
                              </m:r>
                            </m:e>
                            <m:sup>
                              <m:r>
                                <a:rPr lang="fr-FR" sz="2400" b="0" i="1" noProof="0" smtClean="0">
                                  <a:latin typeface="Cambria Math" panose="02040503050406030204" pitchFamily="18" charset="0"/>
                                </a:rPr>
                                <m:t>3</m:t>
                              </m:r>
                            </m:sup>
                          </m:sSup>
                          <m:r>
                            <a:rPr lang="fr-FR" sz="2400" b="0" i="1" noProof="0" smtClean="0">
                              <a:latin typeface="Cambria Math" panose="02040503050406030204" pitchFamily="18" charset="0"/>
                            </a:rPr>
                            <m:t>,</m:t>
                          </m:r>
                          <m:r>
                            <m:rPr>
                              <m:sty m:val="p"/>
                            </m:rPr>
                            <a:rPr lang="fr-FR" sz="2400" i="1" noProof="0">
                              <a:latin typeface="Cambria Math" panose="02040503050406030204" pitchFamily="18" charset="0"/>
                            </a:rPr>
                            <m:t>Δ</m:t>
                          </m:r>
                          <m:sSup>
                            <m:sSupPr>
                              <m:ctrlPr>
                                <a:rPr lang="fr-FR" sz="2400" i="1" noProof="0">
                                  <a:latin typeface="Cambria Math" panose="02040503050406030204" pitchFamily="18" charset="0"/>
                                </a:rPr>
                              </m:ctrlPr>
                            </m:sSupPr>
                            <m:e>
                              <m:r>
                                <a:rPr lang="fr-FR" sz="2400" i="1" noProof="0">
                                  <a:latin typeface="Cambria Math" panose="02040503050406030204" pitchFamily="18" charset="0"/>
                                </a:rPr>
                                <m:t>𝑟</m:t>
                              </m:r>
                            </m:e>
                            <m:sup>
                              <m:r>
                                <a:rPr lang="fr-FR" sz="2400" i="1" noProof="0">
                                  <a:latin typeface="Cambria Math" panose="02040503050406030204" pitchFamily="18" charset="0"/>
                                </a:rPr>
                                <m:t>4</m:t>
                              </m:r>
                            </m:sup>
                          </m:sSup>
                        </m:e>
                      </m:d>
                    </m:oMath>
                  </m:oMathPara>
                </a14:m>
                <a:endParaRPr lang="fr-FR" noProof="0" dirty="0"/>
              </a:p>
              <a:p>
                <a:pPr marL="0" indent="0" algn="just">
                  <a:lnSpc>
                    <a:spcPct val="100000"/>
                  </a:lnSpc>
                  <a:buNone/>
                </a:pPr>
                <a:r>
                  <a:rPr lang="fr-FR" sz="2400" noProof="0" dirty="0"/>
                  <a:t>Ainsi, on peut voir que l’ordre dominant pour le temps est </a:t>
                </a:r>
                <a:r>
                  <a:rPr lang="fr-FR" sz="2400" b="1" u="sng" noProof="0" dirty="0">
                    <a:solidFill>
                      <a:srgbClr val="FF0000"/>
                    </a:solidFill>
                  </a:rPr>
                  <a:t>1</a:t>
                </a:r>
                <a:r>
                  <a:rPr lang="fr-FR" sz="2400" noProof="0" dirty="0"/>
                  <a:t>, et celui de l’espace est de </a:t>
                </a:r>
                <a:r>
                  <a:rPr lang="fr-FR" sz="2400" b="1" u="sng" noProof="0" dirty="0">
                    <a:solidFill>
                      <a:srgbClr val="00B050"/>
                    </a:solidFill>
                  </a:rPr>
                  <a:t>2</a:t>
                </a:r>
                <a:r>
                  <a:rPr lang="fr-FR" sz="2400" noProof="0" dirty="0"/>
                  <a:t>.</a:t>
                </a:r>
              </a:p>
              <a:p>
                <a:pPr marL="0" indent="0" algn="just">
                  <a:buNone/>
                </a:pPr>
                <a:endParaRPr lang="fr-FR" sz="2400" noProof="0" dirty="0"/>
              </a:p>
            </p:txBody>
          </p:sp>
        </mc:Choice>
        <mc:Fallback>
          <p:sp>
            <p:nvSpPr>
              <p:cNvPr id="4" name="Espace réservé du contenu 2">
                <a:extLst>
                  <a:ext uri="{FF2B5EF4-FFF2-40B4-BE49-F238E27FC236}">
                    <a16:creationId xmlns:a16="http://schemas.microsoft.com/office/drawing/2014/main" id="{DAA5ED0F-4117-342B-8592-1189ABC36E4D}"/>
                  </a:ext>
                </a:extLst>
              </p:cNvPr>
              <p:cNvSpPr txBox="1">
                <a:spLocks noRot="1" noChangeAspect="1" noMove="1" noResize="1" noEditPoints="1" noAdjustHandles="1" noChangeArrowheads="1" noChangeShapeType="1" noTextEdit="1"/>
              </p:cNvSpPr>
              <p:nvPr/>
            </p:nvSpPr>
            <p:spPr>
              <a:xfrm>
                <a:off x="885826" y="1439334"/>
                <a:ext cx="11306174" cy="5435374"/>
              </a:xfrm>
              <a:prstGeom prst="rect">
                <a:avLst/>
              </a:prstGeom>
              <a:blipFill>
                <a:blip r:embed="rId2"/>
                <a:stretch>
                  <a:fillRect l="-863" t="-1682"/>
                </a:stretch>
              </a:blipFill>
            </p:spPr>
            <p:txBody>
              <a:bodyPr/>
              <a:lstStyle/>
              <a:p>
                <a:r>
                  <a:rPr lang="fr-FR">
                    <a:noFill/>
                  </a:rPr>
                  <a:t> </a:t>
                </a:r>
              </a:p>
            </p:txBody>
          </p:sp>
        </mc:Fallback>
      </mc:AlternateContent>
    </p:spTree>
    <p:extLst>
      <p:ext uri="{BB962C8B-B14F-4D97-AF65-F5344CB8AC3E}">
        <p14:creationId xmlns:p14="http://schemas.microsoft.com/office/powerpoint/2010/main" val="101309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25D50-41CA-3FDC-1650-71B437BD442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67431DE-7563-C54A-7ECA-3EC0B69D1D73}"/>
              </a:ext>
            </a:extLst>
          </p:cNvPr>
          <p:cNvSpPr>
            <a:spLocks noGrp="1"/>
          </p:cNvSpPr>
          <p:nvPr>
            <p:ph type="title"/>
          </p:nvPr>
        </p:nvSpPr>
        <p:spPr>
          <a:xfrm>
            <a:off x="885824" y="283634"/>
            <a:ext cx="10937207" cy="790575"/>
          </a:xfrm>
        </p:spPr>
        <p:txBody>
          <a:bodyPr>
            <a:noAutofit/>
          </a:bodyPr>
          <a:lstStyle/>
          <a:p>
            <a:r>
              <a:rPr lang="fr-FR" sz="4000" noProof="0" dirty="0"/>
              <a:t>B-C. Choix de la solution manufacturée et développement</a:t>
            </a:r>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8375CAF1-17BF-549D-8749-4FED5FFE5ADB}"/>
                  </a:ext>
                </a:extLst>
              </p:cNvPr>
              <p:cNvSpPr>
                <a:spLocks noGrp="1"/>
              </p:cNvSpPr>
              <p:nvPr>
                <p:ph idx="1"/>
              </p:nvPr>
            </p:nvSpPr>
            <p:spPr>
              <a:xfrm>
                <a:off x="885824" y="1310833"/>
                <a:ext cx="6220829" cy="5547167"/>
              </a:xfrm>
              <a:ln>
                <a:noFill/>
              </a:ln>
            </p:spPr>
            <p:style>
              <a:lnRef idx="2">
                <a:schemeClr val="dk1"/>
              </a:lnRef>
              <a:fillRef idx="1">
                <a:schemeClr val="lt1"/>
              </a:fillRef>
              <a:effectRef idx="0">
                <a:schemeClr val="dk1"/>
              </a:effectRef>
              <a:fontRef idx="minor">
                <a:schemeClr val="dk1"/>
              </a:fontRef>
            </p:style>
            <p:txBody>
              <a:bodyPr>
                <a:normAutofit/>
              </a:bodyPr>
              <a:lstStyle/>
              <a:p>
                <a:pPr marL="0" indent="0" algn="just">
                  <a:buNone/>
                </a:pPr>
                <a:r>
                  <a:rPr lang="fr-FR" sz="2400" noProof="0" dirty="0"/>
                  <a:t>La solution manufacturée choisis est la suivante :</a:t>
                </a:r>
              </a:p>
              <a:p>
                <a:pPr marL="0" indent="0" algn="just">
                  <a:buNone/>
                </a:pPr>
                <a14:m>
                  <m:oMathPara xmlns:m="http://schemas.openxmlformats.org/officeDocument/2006/math">
                    <m:oMathParaPr>
                      <m:jc m:val="centerGroup"/>
                    </m:oMathParaPr>
                    <m:oMath xmlns:m="http://schemas.openxmlformats.org/officeDocument/2006/math">
                      <m:acc>
                        <m:accPr>
                          <m:chr m:val="̂"/>
                          <m:ctrlPr>
                            <a:rPr lang="fr-FR" sz="2400" i="1" noProof="0" smtClean="0">
                              <a:latin typeface="Cambria Math" panose="02040503050406030204" pitchFamily="18" charset="0"/>
                            </a:rPr>
                          </m:ctrlPr>
                        </m:accPr>
                        <m:e>
                          <m:r>
                            <a:rPr lang="fr-FR" sz="2400" b="0" i="1" noProof="0" smtClean="0">
                              <a:latin typeface="Cambria Math" panose="02040503050406030204" pitchFamily="18" charset="0"/>
                            </a:rPr>
                            <m:t>𝐶</m:t>
                          </m:r>
                        </m:e>
                      </m:acc>
                      <m:d>
                        <m:dPr>
                          <m:ctrlPr>
                            <a:rPr lang="fr-FR" sz="2400" b="0" i="1" noProof="0" smtClean="0">
                              <a:latin typeface="Cambria Math" panose="02040503050406030204" pitchFamily="18" charset="0"/>
                            </a:rPr>
                          </m:ctrlPr>
                        </m:dPr>
                        <m:e>
                          <m:r>
                            <a:rPr lang="fr-FR" sz="2400" b="0" i="1" noProof="0" smtClean="0">
                              <a:latin typeface="Cambria Math" panose="02040503050406030204" pitchFamily="18" charset="0"/>
                            </a:rPr>
                            <m:t>𝑡</m:t>
                          </m:r>
                          <m:r>
                            <a:rPr lang="fr-FR" sz="2400" b="0" i="1" noProof="0" smtClean="0">
                              <a:latin typeface="Cambria Math" panose="02040503050406030204" pitchFamily="18" charset="0"/>
                            </a:rPr>
                            <m:t>, </m:t>
                          </m:r>
                          <m:r>
                            <a:rPr lang="fr-FR" sz="2400" b="0" i="1" noProof="0" smtClean="0">
                              <a:latin typeface="Cambria Math" panose="02040503050406030204" pitchFamily="18" charset="0"/>
                            </a:rPr>
                            <m:t>𝑟</m:t>
                          </m:r>
                        </m:e>
                      </m:d>
                      <m:r>
                        <a:rPr lang="fr-FR" sz="2400" b="0" i="1" noProof="0" smtClean="0">
                          <a:latin typeface="Cambria Math" panose="02040503050406030204" pitchFamily="18" charset="0"/>
                        </a:rPr>
                        <m:t>=</m:t>
                      </m:r>
                      <m:r>
                        <a:rPr lang="fr-FR" sz="2400" b="0" i="1" noProof="0" smtClean="0">
                          <a:latin typeface="Cambria Math" panose="02040503050406030204" pitchFamily="18" charset="0"/>
                        </a:rPr>
                        <m:t>𝑡</m:t>
                      </m:r>
                      <m:func>
                        <m:funcPr>
                          <m:ctrlPr>
                            <a:rPr lang="fr-FR" sz="2400" b="0" i="1" noProof="0" smtClean="0">
                              <a:latin typeface="Cambria Math" panose="02040503050406030204" pitchFamily="18" charset="0"/>
                            </a:rPr>
                          </m:ctrlPr>
                        </m:funcPr>
                        <m:fName>
                          <m:r>
                            <m:rPr>
                              <m:sty m:val="p"/>
                            </m:rPr>
                            <a:rPr lang="fr-FR" sz="2400" b="0" i="0" noProof="0" smtClean="0">
                              <a:latin typeface="Cambria Math" panose="02040503050406030204" pitchFamily="18" charset="0"/>
                            </a:rPr>
                            <m:t>cos</m:t>
                          </m:r>
                        </m:fName>
                        <m:e>
                          <m:r>
                            <a:rPr lang="fr-FR" sz="2400" b="0" i="1" noProof="0" smtClean="0">
                              <a:latin typeface="Cambria Math" panose="02040503050406030204" pitchFamily="18" charset="0"/>
                            </a:rPr>
                            <m:t>(</m:t>
                          </m:r>
                          <m:r>
                            <a:rPr lang="fr-FR" sz="2400" b="0" i="1" noProof="0" smtClean="0">
                              <a:latin typeface="Cambria Math" panose="02040503050406030204" pitchFamily="18" charset="0"/>
                            </a:rPr>
                            <m:t>𝑟</m:t>
                          </m:r>
                          <m:r>
                            <a:rPr lang="fr-FR" sz="2400" b="0" i="1" noProof="0" smtClean="0">
                              <a:latin typeface="Cambria Math" panose="02040503050406030204" pitchFamily="18" charset="0"/>
                            </a:rPr>
                            <m:t>)</m:t>
                          </m:r>
                        </m:e>
                      </m:func>
                      <m:r>
                        <a:rPr lang="fr-FR" sz="2400" b="0" i="1" noProof="0" smtClean="0">
                          <a:latin typeface="Cambria Math" panose="02040503050406030204" pitchFamily="18" charset="0"/>
                        </a:rPr>
                        <m:t>+</m:t>
                      </m:r>
                      <m:sSup>
                        <m:sSupPr>
                          <m:ctrlPr>
                            <a:rPr lang="fr-FR" sz="2400" b="0" i="1" noProof="0" smtClean="0">
                              <a:latin typeface="Cambria Math" panose="02040503050406030204" pitchFamily="18" charset="0"/>
                            </a:rPr>
                          </m:ctrlPr>
                        </m:sSupPr>
                        <m:e>
                          <m:r>
                            <a:rPr lang="fr-FR" sz="2400" b="0" i="1" noProof="0" smtClean="0">
                              <a:latin typeface="Cambria Math" panose="02040503050406030204" pitchFamily="18" charset="0"/>
                            </a:rPr>
                            <m:t>𝑒</m:t>
                          </m:r>
                        </m:e>
                        <m:sup>
                          <m:r>
                            <a:rPr lang="fr-FR" sz="2400" b="0" i="1" noProof="0" smtClean="0">
                              <a:latin typeface="Cambria Math" panose="02040503050406030204" pitchFamily="18" charset="0"/>
                            </a:rPr>
                            <m:t>𝑟</m:t>
                          </m:r>
                        </m:sup>
                      </m:sSup>
                      <m:func>
                        <m:funcPr>
                          <m:ctrlPr>
                            <a:rPr lang="fr-FR" sz="2400" b="0" i="1" noProof="0" smtClean="0">
                              <a:latin typeface="Cambria Math" panose="02040503050406030204" pitchFamily="18" charset="0"/>
                            </a:rPr>
                          </m:ctrlPr>
                        </m:funcPr>
                        <m:fName>
                          <m:r>
                            <m:rPr>
                              <m:sty m:val="p"/>
                            </m:rPr>
                            <a:rPr lang="fr-FR" sz="2400" b="0" i="0" noProof="0" smtClean="0">
                              <a:latin typeface="Cambria Math" panose="02040503050406030204" pitchFamily="18" charset="0"/>
                            </a:rPr>
                            <m:t>sin</m:t>
                          </m:r>
                        </m:fName>
                        <m:e>
                          <m:r>
                            <a:rPr lang="fr-FR" sz="2400" b="0" i="1" noProof="0" smtClean="0">
                              <a:latin typeface="Cambria Math" panose="02040503050406030204" pitchFamily="18" charset="0"/>
                            </a:rPr>
                            <m:t>(</m:t>
                          </m:r>
                          <m:r>
                            <a:rPr lang="fr-FR" sz="2400" b="0" i="1" noProof="0" smtClean="0">
                              <a:latin typeface="Cambria Math" panose="02040503050406030204" pitchFamily="18" charset="0"/>
                            </a:rPr>
                            <m:t>𝑡</m:t>
                          </m:r>
                          <m:r>
                            <a:rPr lang="fr-FR" sz="2400" b="0" i="1" noProof="0" smtClean="0">
                              <a:latin typeface="Cambria Math" panose="02040503050406030204" pitchFamily="18" charset="0"/>
                            </a:rPr>
                            <m:t>)</m:t>
                          </m:r>
                        </m:e>
                      </m:func>
                    </m:oMath>
                  </m:oMathPara>
                </a14:m>
                <a:endParaRPr lang="fr-FR" sz="2400" noProof="0" dirty="0"/>
              </a:p>
              <a:p>
                <a:pPr marL="0" indent="0" algn="just">
                  <a:buNone/>
                </a:pPr>
                <a:r>
                  <a:rPr lang="fr-FR" sz="2400" noProof="0" dirty="0"/>
                  <a:t>Cette MMS respecte le critère de dérivées lisses et non-nulles, d’une faible fréquence et de la contrainte de </a:t>
                </a:r>
                <a14:m>
                  <m:oMath xmlns:m="http://schemas.openxmlformats.org/officeDocument/2006/math">
                    <m:r>
                      <a:rPr lang="fr-FR" sz="2400" b="0" i="1" noProof="0" smtClean="0">
                        <a:latin typeface="Cambria Math" panose="02040503050406030204" pitchFamily="18" charset="0"/>
                      </a:rPr>
                      <m:t>𝐶</m:t>
                    </m:r>
                    <m:r>
                      <a:rPr lang="fr-FR" sz="2400" b="0" i="1" noProof="0" smtClean="0">
                        <a:latin typeface="Cambria Math" panose="02040503050406030204" pitchFamily="18" charset="0"/>
                      </a:rPr>
                      <m:t>≥0</m:t>
                    </m:r>
                  </m:oMath>
                </a14:m>
                <a:r>
                  <a:rPr lang="fr-FR" sz="2400" noProof="0" dirty="0"/>
                  <a:t>.</a:t>
                </a:r>
              </a:p>
              <a:p>
                <a:pPr marL="0" indent="0" algn="just">
                  <a:buNone/>
                </a:pPr>
                <a:r>
                  <a:rPr lang="fr-FR" sz="2400" noProof="0" dirty="0"/>
                  <a:t>Afin de calculé le terme source, il faut calculer les différents dérivés:</a:t>
                </a:r>
              </a:p>
              <a:p>
                <a:pPr marL="0" indent="0" algn="just">
                  <a:lnSpc>
                    <a:spcPct val="120000"/>
                  </a:lnSpc>
                  <a:spcBef>
                    <a:spcPts val="1800"/>
                  </a:spcBef>
                  <a:buNone/>
                </a:pPr>
                <a14:m>
                  <m:oMathPara xmlns:m="http://schemas.openxmlformats.org/officeDocument/2006/math">
                    <m:oMathParaPr>
                      <m:jc m:val="centerGroup"/>
                    </m:oMathParaPr>
                    <m:oMath xmlns:m="http://schemas.openxmlformats.org/officeDocument/2006/math">
                      <m:f>
                        <m:fPr>
                          <m:ctrlPr>
                            <a:rPr lang="fr-FR" sz="2400" i="1" noProof="0">
                              <a:latin typeface="Cambria Math" panose="02040503050406030204" pitchFamily="18" charset="0"/>
                            </a:rPr>
                          </m:ctrlPr>
                        </m:fPr>
                        <m:num>
                          <m:r>
                            <a:rPr lang="fr-FR" sz="2400" i="1" noProof="0">
                              <a:latin typeface="Cambria Math" panose="02040503050406030204" pitchFamily="18" charset="0"/>
                            </a:rPr>
                            <m:t>𝜕</m:t>
                          </m:r>
                          <m:acc>
                            <m:accPr>
                              <m:chr m:val="̂"/>
                              <m:ctrlPr>
                                <a:rPr lang="fr-FR" sz="2400" i="1" noProof="0">
                                  <a:latin typeface="Cambria Math" panose="02040503050406030204" pitchFamily="18" charset="0"/>
                                </a:rPr>
                              </m:ctrlPr>
                            </m:accPr>
                            <m:e>
                              <m:r>
                                <a:rPr lang="fr-FR" sz="2400" i="1" noProof="0">
                                  <a:latin typeface="Cambria Math" panose="02040503050406030204" pitchFamily="18" charset="0"/>
                                </a:rPr>
                                <m:t>𝐶</m:t>
                              </m:r>
                            </m:e>
                          </m:acc>
                        </m:num>
                        <m:den>
                          <m:r>
                            <a:rPr lang="fr-FR" sz="2400" i="1" noProof="0">
                              <a:latin typeface="Cambria Math" panose="02040503050406030204" pitchFamily="18" charset="0"/>
                            </a:rPr>
                            <m:t>𝜕</m:t>
                          </m:r>
                          <m:r>
                            <a:rPr lang="fr-FR" sz="2400" i="1" noProof="0">
                              <a:latin typeface="Cambria Math" panose="02040503050406030204" pitchFamily="18" charset="0"/>
                            </a:rPr>
                            <m:t>𝑡</m:t>
                          </m:r>
                        </m:den>
                      </m:f>
                      <m:r>
                        <a:rPr lang="fr-FR" sz="2400" b="0" i="1" noProof="0" smtClean="0">
                          <a:latin typeface="Cambria Math" panose="02040503050406030204" pitchFamily="18" charset="0"/>
                        </a:rPr>
                        <m:t>=</m:t>
                      </m:r>
                      <m:func>
                        <m:funcPr>
                          <m:ctrlPr>
                            <a:rPr lang="fr-FR" sz="2400" i="1" noProof="0">
                              <a:latin typeface="Cambria Math" panose="02040503050406030204" pitchFamily="18" charset="0"/>
                            </a:rPr>
                          </m:ctrlPr>
                        </m:funcPr>
                        <m:fName>
                          <m:r>
                            <m:rPr>
                              <m:sty m:val="p"/>
                            </m:rPr>
                            <a:rPr lang="fr-FR" sz="2400" noProof="0">
                              <a:latin typeface="Cambria Math" panose="02040503050406030204" pitchFamily="18" charset="0"/>
                            </a:rPr>
                            <m:t>cos</m:t>
                          </m:r>
                        </m:fName>
                        <m:e>
                          <m:r>
                            <a:rPr lang="fr-FR" sz="2400" i="1" noProof="0">
                              <a:latin typeface="Cambria Math" panose="02040503050406030204" pitchFamily="18" charset="0"/>
                            </a:rPr>
                            <m:t>(</m:t>
                          </m:r>
                          <m:r>
                            <a:rPr lang="fr-FR" sz="2400" i="1" noProof="0">
                              <a:latin typeface="Cambria Math" panose="02040503050406030204" pitchFamily="18" charset="0"/>
                            </a:rPr>
                            <m:t>𝑟</m:t>
                          </m:r>
                          <m:r>
                            <a:rPr lang="fr-FR" sz="2400" i="1" noProof="0">
                              <a:latin typeface="Cambria Math" panose="02040503050406030204" pitchFamily="18" charset="0"/>
                            </a:rPr>
                            <m:t>)</m:t>
                          </m:r>
                        </m:e>
                      </m:func>
                      <m:r>
                        <a:rPr lang="fr-FR" sz="2400" b="0" i="1" noProof="0" smtClean="0">
                          <a:latin typeface="Cambria Math" panose="02040503050406030204" pitchFamily="18" charset="0"/>
                        </a:rPr>
                        <m:t>+</m:t>
                      </m:r>
                      <m:sSup>
                        <m:sSupPr>
                          <m:ctrlPr>
                            <a:rPr lang="fr-FR" sz="2400" i="1" noProof="0" smtClean="0">
                              <a:latin typeface="Cambria Math" panose="02040503050406030204" pitchFamily="18" charset="0"/>
                            </a:rPr>
                          </m:ctrlPr>
                        </m:sSupPr>
                        <m:e>
                          <m:r>
                            <a:rPr lang="fr-FR" sz="2400" i="1" noProof="0">
                              <a:latin typeface="Cambria Math" panose="02040503050406030204" pitchFamily="18" charset="0"/>
                            </a:rPr>
                            <m:t>𝑒</m:t>
                          </m:r>
                        </m:e>
                        <m:sup>
                          <m:r>
                            <a:rPr lang="fr-FR" sz="2400" i="1" noProof="0" smtClean="0">
                              <a:latin typeface="Cambria Math" panose="02040503050406030204" pitchFamily="18" charset="0"/>
                            </a:rPr>
                            <m:t>𝑟</m:t>
                          </m:r>
                        </m:sup>
                      </m:sSup>
                      <m:func>
                        <m:funcPr>
                          <m:ctrlPr>
                            <a:rPr lang="fr-FR" sz="2400" i="1" noProof="0" smtClean="0">
                              <a:latin typeface="Cambria Math" panose="02040503050406030204" pitchFamily="18" charset="0"/>
                            </a:rPr>
                          </m:ctrlPr>
                        </m:funcPr>
                        <m:fName>
                          <m:r>
                            <m:rPr>
                              <m:sty m:val="p"/>
                            </m:rPr>
                            <a:rPr lang="fr-FR" sz="2400" b="0" i="0" noProof="0" smtClean="0">
                              <a:latin typeface="Cambria Math" panose="02040503050406030204" pitchFamily="18" charset="0"/>
                            </a:rPr>
                            <m:t>cos</m:t>
                          </m:r>
                        </m:fName>
                        <m:e>
                          <m:r>
                            <a:rPr lang="fr-FR" sz="2400" i="1" noProof="0" smtClean="0">
                              <a:latin typeface="Cambria Math" panose="02040503050406030204" pitchFamily="18" charset="0"/>
                            </a:rPr>
                            <m:t>(</m:t>
                          </m:r>
                          <m:r>
                            <a:rPr lang="fr-FR" sz="2400" i="1" noProof="0" smtClean="0">
                              <a:latin typeface="Cambria Math" panose="02040503050406030204" pitchFamily="18" charset="0"/>
                            </a:rPr>
                            <m:t>𝑡</m:t>
                          </m:r>
                          <m:r>
                            <a:rPr lang="fr-FR" sz="2400" i="1" noProof="0" smtClean="0">
                              <a:latin typeface="Cambria Math" panose="02040503050406030204" pitchFamily="18" charset="0"/>
                            </a:rPr>
                            <m:t>)</m:t>
                          </m:r>
                        </m:e>
                      </m:func>
                    </m:oMath>
                  </m:oMathPara>
                </a14:m>
                <a:endParaRPr lang="fr-FR" sz="2400" noProof="0" dirty="0"/>
              </a:p>
              <a:p>
                <a:pPr marL="0" indent="0" algn="just">
                  <a:lnSpc>
                    <a:spcPct val="120000"/>
                  </a:lnSpc>
                  <a:spcBef>
                    <a:spcPts val="1800"/>
                  </a:spcBef>
                  <a:buNone/>
                </a:pPr>
                <a14:m>
                  <m:oMathPara xmlns:m="http://schemas.openxmlformats.org/officeDocument/2006/math">
                    <m:oMathParaPr>
                      <m:jc m:val="centerGroup"/>
                    </m:oMathParaPr>
                    <m:oMath xmlns:m="http://schemas.openxmlformats.org/officeDocument/2006/math">
                      <m:f>
                        <m:fPr>
                          <m:ctrlPr>
                            <a:rPr lang="fr-FR" sz="2400" i="1" noProof="0">
                              <a:latin typeface="Cambria Math" panose="02040503050406030204" pitchFamily="18" charset="0"/>
                            </a:rPr>
                          </m:ctrlPr>
                        </m:fPr>
                        <m:num>
                          <m:r>
                            <a:rPr lang="fr-FR" sz="2400" i="1" noProof="0">
                              <a:latin typeface="Cambria Math" panose="02040503050406030204" pitchFamily="18" charset="0"/>
                            </a:rPr>
                            <m:t>𝜕</m:t>
                          </m:r>
                          <m:acc>
                            <m:accPr>
                              <m:chr m:val="̂"/>
                              <m:ctrlPr>
                                <a:rPr lang="fr-FR" sz="2400" i="1" noProof="0">
                                  <a:latin typeface="Cambria Math" panose="02040503050406030204" pitchFamily="18" charset="0"/>
                                </a:rPr>
                              </m:ctrlPr>
                            </m:accPr>
                            <m:e>
                              <m:r>
                                <a:rPr lang="fr-FR" sz="2400" i="1" noProof="0">
                                  <a:latin typeface="Cambria Math" panose="02040503050406030204" pitchFamily="18" charset="0"/>
                                </a:rPr>
                                <m:t>𝐶</m:t>
                              </m:r>
                            </m:e>
                          </m:acc>
                        </m:num>
                        <m:den>
                          <m:r>
                            <a:rPr lang="fr-FR" sz="2400" i="1" noProof="0">
                              <a:latin typeface="Cambria Math" panose="02040503050406030204" pitchFamily="18" charset="0"/>
                            </a:rPr>
                            <m:t>𝜕</m:t>
                          </m:r>
                          <m:r>
                            <a:rPr lang="fr-FR" sz="2400" b="0" i="1" noProof="0" smtClean="0">
                              <a:latin typeface="Cambria Math" panose="02040503050406030204" pitchFamily="18" charset="0"/>
                            </a:rPr>
                            <m:t>𝑟</m:t>
                          </m:r>
                        </m:den>
                      </m:f>
                      <m:r>
                        <a:rPr lang="fr-FR" sz="2400" i="1" noProof="0">
                          <a:latin typeface="Cambria Math" panose="02040503050406030204" pitchFamily="18" charset="0"/>
                        </a:rPr>
                        <m:t>=</m:t>
                      </m:r>
                      <m:r>
                        <a:rPr lang="fr-FR" sz="2400" b="0" i="1" noProof="0" smtClean="0">
                          <a:latin typeface="Cambria Math" panose="02040503050406030204" pitchFamily="18" charset="0"/>
                        </a:rPr>
                        <m:t>−</m:t>
                      </m:r>
                      <m:r>
                        <a:rPr lang="fr-FR" sz="2400" b="0" i="1" noProof="0" smtClean="0">
                          <a:latin typeface="Cambria Math" panose="02040503050406030204" pitchFamily="18" charset="0"/>
                        </a:rPr>
                        <m:t>𝑡</m:t>
                      </m:r>
                      <m:func>
                        <m:funcPr>
                          <m:ctrlPr>
                            <a:rPr lang="fr-FR" sz="2400" i="1" noProof="0">
                              <a:latin typeface="Cambria Math" panose="02040503050406030204" pitchFamily="18" charset="0"/>
                            </a:rPr>
                          </m:ctrlPr>
                        </m:funcPr>
                        <m:fName>
                          <m:r>
                            <m:rPr>
                              <m:sty m:val="p"/>
                            </m:rPr>
                            <a:rPr lang="fr-FR" sz="2400" b="0" i="0" noProof="0" smtClean="0">
                              <a:latin typeface="Cambria Math" panose="02040503050406030204" pitchFamily="18" charset="0"/>
                            </a:rPr>
                            <m:t>sin</m:t>
                          </m:r>
                        </m:fName>
                        <m:e>
                          <m:r>
                            <a:rPr lang="fr-FR" sz="2400" i="1" noProof="0">
                              <a:latin typeface="Cambria Math" panose="02040503050406030204" pitchFamily="18" charset="0"/>
                            </a:rPr>
                            <m:t>(</m:t>
                          </m:r>
                          <m:r>
                            <a:rPr lang="fr-FR" sz="2400" i="1" noProof="0">
                              <a:latin typeface="Cambria Math" panose="02040503050406030204" pitchFamily="18" charset="0"/>
                            </a:rPr>
                            <m:t>𝑟</m:t>
                          </m:r>
                          <m:r>
                            <a:rPr lang="fr-FR" sz="2400" i="1" noProof="0">
                              <a:latin typeface="Cambria Math" panose="02040503050406030204" pitchFamily="18" charset="0"/>
                            </a:rPr>
                            <m:t>)</m:t>
                          </m:r>
                        </m:e>
                      </m:func>
                      <m:r>
                        <a:rPr lang="fr-FR" sz="2400" i="1" noProof="0">
                          <a:latin typeface="Cambria Math" panose="02040503050406030204" pitchFamily="18" charset="0"/>
                        </a:rPr>
                        <m:t>+</m:t>
                      </m:r>
                      <m:sSup>
                        <m:sSupPr>
                          <m:ctrlPr>
                            <a:rPr lang="fr-FR" sz="2400" i="1" noProof="0" smtClean="0">
                              <a:latin typeface="Cambria Math" panose="02040503050406030204" pitchFamily="18" charset="0"/>
                            </a:rPr>
                          </m:ctrlPr>
                        </m:sSupPr>
                        <m:e>
                          <m:r>
                            <a:rPr lang="fr-FR" sz="2400" i="1" noProof="0">
                              <a:latin typeface="Cambria Math" panose="02040503050406030204" pitchFamily="18" charset="0"/>
                            </a:rPr>
                            <m:t>𝑒</m:t>
                          </m:r>
                        </m:e>
                        <m:sup>
                          <m:r>
                            <a:rPr lang="fr-FR" sz="2400" i="1" noProof="0" smtClean="0">
                              <a:latin typeface="Cambria Math" panose="02040503050406030204" pitchFamily="18" charset="0"/>
                            </a:rPr>
                            <m:t>𝑟</m:t>
                          </m:r>
                        </m:sup>
                      </m:sSup>
                      <m:func>
                        <m:funcPr>
                          <m:ctrlPr>
                            <a:rPr lang="fr-FR" sz="2400" i="1" noProof="0" smtClean="0">
                              <a:latin typeface="Cambria Math" panose="02040503050406030204" pitchFamily="18" charset="0"/>
                            </a:rPr>
                          </m:ctrlPr>
                        </m:funcPr>
                        <m:fName>
                          <m:r>
                            <m:rPr>
                              <m:sty m:val="p"/>
                            </m:rPr>
                            <a:rPr lang="fr-FR" sz="2400" b="0" i="0" noProof="0" smtClean="0">
                              <a:latin typeface="Cambria Math" panose="02040503050406030204" pitchFamily="18" charset="0"/>
                            </a:rPr>
                            <m:t>sin</m:t>
                          </m:r>
                        </m:fName>
                        <m:e>
                          <m:r>
                            <a:rPr lang="fr-FR" sz="2400" i="1" noProof="0" smtClean="0">
                              <a:latin typeface="Cambria Math" panose="02040503050406030204" pitchFamily="18" charset="0"/>
                            </a:rPr>
                            <m:t>(</m:t>
                          </m:r>
                          <m:r>
                            <a:rPr lang="fr-FR" sz="2400" i="1" noProof="0" smtClean="0">
                              <a:latin typeface="Cambria Math" panose="02040503050406030204" pitchFamily="18" charset="0"/>
                            </a:rPr>
                            <m:t>𝑡</m:t>
                          </m:r>
                          <m:r>
                            <a:rPr lang="fr-FR" sz="2400" i="1" noProof="0" smtClean="0">
                              <a:latin typeface="Cambria Math" panose="02040503050406030204" pitchFamily="18" charset="0"/>
                            </a:rPr>
                            <m:t>)</m:t>
                          </m:r>
                        </m:e>
                      </m:func>
                    </m:oMath>
                  </m:oMathPara>
                </a14:m>
                <a:endParaRPr lang="fr-FR" sz="2400" noProof="0" dirty="0"/>
              </a:p>
              <a:p>
                <a:pPr marL="0" indent="0" algn="just">
                  <a:lnSpc>
                    <a:spcPct val="120000"/>
                  </a:lnSpc>
                  <a:spcBef>
                    <a:spcPts val="1800"/>
                  </a:spcBef>
                  <a:buNone/>
                </a:pPr>
                <a14:m>
                  <m:oMathPara xmlns:m="http://schemas.openxmlformats.org/officeDocument/2006/math">
                    <m:oMathParaPr>
                      <m:jc m:val="centerGroup"/>
                    </m:oMathParaPr>
                    <m:oMath xmlns:m="http://schemas.openxmlformats.org/officeDocument/2006/math">
                      <m:f>
                        <m:fPr>
                          <m:ctrlPr>
                            <a:rPr lang="fr-FR" sz="2400" i="1" noProof="0">
                              <a:latin typeface="Cambria Math" panose="02040503050406030204" pitchFamily="18" charset="0"/>
                            </a:rPr>
                          </m:ctrlPr>
                        </m:fPr>
                        <m:num>
                          <m:sSup>
                            <m:sSupPr>
                              <m:ctrlPr>
                                <a:rPr lang="fr-FR" sz="2400" b="0" i="1" noProof="0" smtClean="0">
                                  <a:latin typeface="Cambria Math" panose="02040503050406030204" pitchFamily="18" charset="0"/>
                                </a:rPr>
                              </m:ctrlPr>
                            </m:sSupPr>
                            <m:e>
                              <m:r>
                                <a:rPr lang="fr-FR" sz="2400" i="1" noProof="0">
                                  <a:latin typeface="Cambria Math" panose="02040503050406030204" pitchFamily="18" charset="0"/>
                                </a:rPr>
                                <m:t>𝜕</m:t>
                              </m:r>
                            </m:e>
                            <m:sup>
                              <m:r>
                                <a:rPr lang="fr-FR" sz="2400" b="0" i="1" noProof="0" smtClean="0">
                                  <a:latin typeface="Cambria Math" panose="02040503050406030204" pitchFamily="18" charset="0"/>
                                </a:rPr>
                                <m:t>2</m:t>
                              </m:r>
                            </m:sup>
                          </m:sSup>
                          <m:acc>
                            <m:accPr>
                              <m:chr m:val="̂"/>
                              <m:ctrlPr>
                                <a:rPr lang="fr-FR" sz="2400" i="1" noProof="0">
                                  <a:latin typeface="Cambria Math" panose="02040503050406030204" pitchFamily="18" charset="0"/>
                                </a:rPr>
                              </m:ctrlPr>
                            </m:accPr>
                            <m:e>
                              <m:r>
                                <a:rPr lang="fr-FR" sz="2400" i="1" noProof="0">
                                  <a:latin typeface="Cambria Math" panose="02040503050406030204" pitchFamily="18" charset="0"/>
                                </a:rPr>
                                <m:t>𝐶</m:t>
                              </m:r>
                            </m:e>
                          </m:acc>
                        </m:num>
                        <m:den>
                          <m:r>
                            <a:rPr lang="fr-FR" sz="2400" i="1" noProof="0">
                              <a:latin typeface="Cambria Math" panose="02040503050406030204" pitchFamily="18" charset="0"/>
                            </a:rPr>
                            <m:t>𝜕</m:t>
                          </m:r>
                          <m:sSup>
                            <m:sSupPr>
                              <m:ctrlPr>
                                <a:rPr lang="fr-FR" sz="2400" b="0" i="1" noProof="0" smtClean="0">
                                  <a:latin typeface="Cambria Math" panose="02040503050406030204" pitchFamily="18" charset="0"/>
                                </a:rPr>
                              </m:ctrlPr>
                            </m:sSupPr>
                            <m:e>
                              <m:r>
                                <a:rPr lang="fr-FR" sz="2400" i="1" noProof="0">
                                  <a:latin typeface="Cambria Math" panose="02040503050406030204" pitchFamily="18" charset="0"/>
                                </a:rPr>
                                <m:t>𝑟</m:t>
                              </m:r>
                            </m:e>
                            <m:sup>
                              <m:r>
                                <a:rPr lang="fr-FR" sz="2400" b="0" i="1" noProof="0" smtClean="0">
                                  <a:latin typeface="Cambria Math" panose="02040503050406030204" pitchFamily="18" charset="0"/>
                                </a:rPr>
                                <m:t>2</m:t>
                              </m:r>
                            </m:sup>
                          </m:sSup>
                        </m:den>
                      </m:f>
                      <m:r>
                        <a:rPr lang="fr-FR" sz="2400" i="1" noProof="0">
                          <a:latin typeface="Cambria Math" panose="02040503050406030204" pitchFamily="18" charset="0"/>
                        </a:rPr>
                        <m:t>=</m:t>
                      </m:r>
                      <m:r>
                        <a:rPr lang="fr-FR" sz="2400" i="1" noProof="0">
                          <a:latin typeface="Cambria Math" panose="02040503050406030204" pitchFamily="18" charset="0"/>
                        </a:rPr>
                        <m:t>−</m:t>
                      </m:r>
                      <m:r>
                        <a:rPr lang="fr-FR" sz="2400" i="1" noProof="0">
                          <a:latin typeface="Cambria Math" panose="02040503050406030204" pitchFamily="18" charset="0"/>
                        </a:rPr>
                        <m:t>𝑡</m:t>
                      </m:r>
                      <m:func>
                        <m:funcPr>
                          <m:ctrlPr>
                            <a:rPr lang="fr-FR" sz="2400" i="1" noProof="0">
                              <a:latin typeface="Cambria Math" panose="02040503050406030204" pitchFamily="18" charset="0"/>
                            </a:rPr>
                          </m:ctrlPr>
                        </m:funcPr>
                        <m:fName>
                          <m:r>
                            <m:rPr>
                              <m:sty m:val="p"/>
                            </m:rPr>
                            <a:rPr lang="fr-FR" sz="2400" b="0" i="0" noProof="0" smtClean="0">
                              <a:latin typeface="Cambria Math" panose="02040503050406030204" pitchFamily="18" charset="0"/>
                            </a:rPr>
                            <m:t>cos</m:t>
                          </m:r>
                        </m:fName>
                        <m:e>
                          <m:r>
                            <a:rPr lang="fr-FR" sz="2400" i="1" noProof="0">
                              <a:latin typeface="Cambria Math" panose="02040503050406030204" pitchFamily="18" charset="0"/>
                            </a:rPr>
                            <m:t>(</m:t>
                          </m:r>
                          <m:r>
                            <a:rPr lang="fr-FR" sz="2400" i="1" noProof="0">
                              <a:latin typeface="Cambria Math" panose="02040503050406030204" pitchFamily="18" charset="0"/>
                            </a:rPr>
                            <m:t>𝑟</m:t>
                          </m:r>
                          <m:r>
                            <a:rPr lang="fr-FR" sz="2400" i="1" noProof="0">
                              <a:latin typeface="Cambria Math" panose="02040503050406030204" pitchFamily="18" charset="0"/>
                            </a:rPr>
                            <m:t>)</m:t>
                          </m:r>
                        </m:e>
                      </m:func>
                      <m:r>
                        <a:rPr lang="fr-FR" sz="2400" i="1" noProof="0">
                          <a:latin typeface="Cambria Math" panose="02040503050406030204" pitchFamily="18" charset="0"/>
                        </a:rPr>
                        <m:t>+</m:t>
                      </m:r>
                      <m:sSup>
                        <m:sSupPr>
                          <m:ctrlPr>
                            <a:rPr lang="fr-FR" sz="2400" i="1" noProof="0" smtClean="0">
                              <a:latin typeface="Cambria Math" panose="02040503050406030204" pitchFamily="18" charset="0"/>
                            </a:rPr>
                          </m:ctrlPr>
                        </m:sSupPr>
                        <m:e>
                          <m:r>
                            <a:rPr lang="fr-FR" sz="2400" i="1" noProof="0">
                              <a:latin typeface="Cambria Math" panose="02040503050406030204" pitchFamily="18" charset="0"/>
                            </a:rPr>
                            <m:t>𝑒</m:t>
                          </m:r>
                        </m:e>
                        <m:sup>
                          <m:r>
                            <a:rPr lang="fr-FR" sz="2400" i="1" noProof="0" smtClean="0">
                              <a:latin typeface="Cambria Math" panose="02040503050406030204" pitchFamily="18" charset="0"/>
                            </a:rPr>
                            <m:t>𝑟</m:t>
                          </m:r>
                        </m:sup>
                      </m:sSup>
                      <m:func>
                        <m:funcPr>
                          <m:ctrlPr>
                            <a:rPr lang="fr-FR" sz="2400" i="1" noProof="0" smtClean="0">
                              <a:latin typeface="Cambria Math" panose="02040503050406030204" pitchFamily="18" charset="0"/>
                            </a:rPr>
                          </m:ctrlPr>
                        </m:funcPr>
                        <m:fName>
                          <m:r>
                            <m:rPr>
                              <m:sty m:val="p"/>
                            </m:rPr>
                            <a:rPr lang="fr-FR" sz="2400" noProof="0">
                              <a:latin typeface="Cambria Math" panose="02040503050406030204" pitchFamily="18" charset="0"/>
                            </a:rPr>
                            <m:t>sin</m:t>
                          </m:r>
                        </m:fName>
                        <m:e>
                          <m:r>
                            <a:rPr lang="fr-FR" sz="2400" i="1" noProof="0" smtClean="0">
                              <a:latin typeface="Cambria Math" panose="02040503050406030204" pitchFamily="18" charset="0"/>
                            </a:rPr>
                            <m:t>(</m:t>
                          </m:r>
                          <m:r>
                            <a:rPr lang="fr-FR" sz="2400" i="1" noProof="0" smtClean="0">
                              <a:latin typeface="Cambria Math" panose="02040503050406030204" pitchFamily="18" charset="0"/>
                            </a:rPr>
                            <m:t>𝑡</m:t>
                          </m:r>
                          <m:r>
                            <a:rPr lang="fr-FR" sz="2400" i="1" noProof="0" smtClean="0">
                              <a:latin typeface="Cambria Math" panose="02040503050406030204" pitchFamily="18" charset="0"/>
                            </a:rPr>
                            <m:t>)</m:t>
                          </m:r>
                        </m:e>
                      </m:func>
                    </m:oMath>
                  </m:oMathPara>
                </a14:m>
                <a:endParaRPr lang="fr-FR" sz="2400" noProof="0" dirty="0"/>
              </a:p>
            </p:txBody>
          </p:sp>
        </mc:Choice>
        <mc:Fallback>
          <p:sp>
            <p:nvSpPr>
              <p:cNvPr id="3" name="Espace réservé du contenu 2">
                <a:extLst>
                  <a:ext uri="{FF2B5EF4-FFF2-40B4-BE49-F238E27FC236}">
                    <a16:creationId xmlns:a16="http://schemas.microsoft.com/office/drawing/2014/main" id="{8375CAF1-17BF-549D-8749-4FED5FFE5ADB}"/>
                  </a:ext>
                </a:extLst>
              </p:cNvPr>
              <p:cNvSpPr>
                <a:spLocks noGrp="1" noRot="1" noChangeAspect="1" noMove="1" noResize="1" noEditPoints="1" noAdjustHandles="1" noChangeArrowheads="1" noChangeShapeType="1" noTextEdit="1"/>
              </p:cNvSpPr>
              <p:nvPr>
                <p:ph idx="1"/>
              </p:nvPr>
            </p:nvSpPr>
            <p:spPr>
              <a:xfrm>
                <a:off x="885824" y="1310833"/>
                <a:ext cx="6220829" cy="5547167"/>
              </a:xfrm>
              <a:blipFill>
                <a:blip r:embed="rId2"/>
                <a:stretch>
                  <a:fillRect l="-1469" t="-1538" r="-1469"/>
                </a:stretch>
              </a:blipFill>
              <a:ln>
                <a:noFill/>
              </a:ln>
            </p:spPr>
            <p:txBody>
              <a:bodyPr/>
              <a:lstStyle/>
              <a:p>
                <a:r>
                  <a:rPr lang="fr-FR">
                    <a:noFill/>
                  </a:rPr>
                  <a:t> </a:t>
                </a:r>
              </a:p>
            </p:txBody>
          </p:sp>
        </mc:Fallback>
      </mc:AlternateContent>
      <p:sp>
        <p:nvSpPr>
          <p:cNvPr id="5" name="Espace réservé du numéro de diapositive 4">
            <a:extLst>
              <a:ext uri="{FF2B5EF4-FFF2-40B4-BE49-F238E27FC236}">
                <a16:creationId xmlns:a16="http://schemas.microsoft.com/office/drawing/2014/main" id="{1A06D30E-5A82-3770-F683-395124E24E9E}"/>
              </a:ext>
            </a:extLst>
          </p:cNvPr>
          <p:cNvSpPr>
            <a:spLocks noGrp="1"/>
          </p:cNvSpPr>
          <p:nvPr>
            <p:ph type="sldNum" sz="quarter" idx="12"/>
          </p:nvPr>
        </p:nvSpPr>
        <p:spPr/>
        <p:txBody>
          <a:bodyPr/>
          <a:lstStyle/>
          <a:p>
            <a:r>
              <a:rPr lang="fr-FR" noProof="0" dirty="0"/>
              <a:t>5</a:t>
            </a:r>
          </a:p>
        </p:txBody>
      </p:sp>
      <p:sp>
        <p:nvSpPr>
          <p:cNvPr id="8" name="Flèche : pentagone 7">
            <a:extLst>
              <a:ext uri="{FF2B5EF4-FFF2-40B4-BE49-F238E27FC236}">
                <a16:creationId xmlns:a16="http://schemas.microsoft.com/office/drawing/2014/main" id="{F3CC8AE3-56E1-2F47-00A3-C902F1F3C3A1}"/>
              </a:ext>
            </a:extLst>
          </p:cNvPr>
          <p:cNvSpPr/>
          <p:nvPr/>
        </p:nvSpPr>
        <p:spPr>
          <a:xfrm rot="5400000">
            <a:off x="-242354" y="477313"/>
            <a:ext cx="1439333" cy="484708"/>
          </a:xfrm>
          <a:prstGeom prst="homePlate">
            <a:avLst/>
          </a:prstGeom>
          <a:solidFill>
            <a:schemeClr val="accent6">
              <a:lumMod val="60000"/>
              <a:lumOff val="40000"/>
            </a:schemeClr>
          </a:solidFill>
          <a:ln w="3810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noProof="0" dirty="0"/>
          </a:p>
        </p:txBody>
      </p:sp>
      <p:sp>
        <p:nvSpPr>
          <p:cNvPr id="9" name="Flèche : chevron 8">
            <a:extLst>
              <a:ext uri="{FF2B5EF4-FFF2-40B4-BE49-F238E27FC236}">
                <a16:creationId xmlns:a16="http://schemas.microsoft.com/office/drawing/2014/main" id="{8CA422A3-7F56-2338-1A7D-23309B1D809A}"/>
              </a:ext>
            </a:extLst>
          </p:cNvPr>
          <p:cNvSpPr/>
          <p:nvPr/>
        </p:nvSpPr>
        <p:spPr>
          <a:xfrm rot="5400000">
            <a:off x="178860" y="1338800"/>
            <a:ext cx="596902" cy="484709"/>
          </a:xfrm>
          <a:prstGeom prst="chevron">
            <a:avLst/>
          </a:prstGeom>
          <a:solidFill>
            <a:schemeClr val="accent6">
              <a:lumMod val="60000"/>
              <a:lumOff val="4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solidFill>
                <a:schemeClr val="tx1"/>
              </a:solidFill>
            </a:endParaRPr>
          </a:p>
        </p:txBody>
      </p:sp>
      <p:cxnSp>
        <p:nvCxnSpPr>
          <p:cNvPr id="11" name="Connecteur droit 10">
            <a:extLst>
              <a:ext uri="{FF2B5EF4-FFF2-40B4-BE49-F238E27FC236}">
                <a16:creationId xmlns:a16="http://schemas.microsoft.com/office/drawing/2014/main" id="{FC57553C-D653-10F5-E996-60F1F891B428}"/>
              </a:ext>
            </a:extLst>
          </p:cNvPr>
          <p:cNvCxnSpPr/>
          <p:nvPr/>
        </p:nvCxnSpPr>
        <p:spPr>
          <a:xfrm>
            <a:off x="862010" y="1210734"/>
            <a:ext cx="10332000" cy="0"/>
          </a:xfrm>
          <a:prstGeom prst="line">
            <a:avLst/>
          </a:prstGeom>
          <a:ln w="28575"/>
        </p:spPr>
        <p:style>
          <a:lnRef idx="3">
            <a:schemeClr val="accent6"/>
          </a:lnRef>
          <a:fillRef idx="0">
            <a:schemeClr val="accent6"/>
          </a:fillRef>
          <a:effectRef idx="2">
            <a:schemeClr val="accent6"/>
          </a:effectRef>
          <a:fontRef idx="minor">
            <a:schemeClr val="tx1"/>
          </a:fontRef>
        </p:style>
      </p:cxnSp>
      <p:pic>
        <p:nvPicPr>
          <p:cNvPr id="13" name="Image 12">
            <a:extLst>
              <a:ext uri="{FF2B5EF4-FFF2-40B4-BE49-F238E27FC236}">
                <a16:creationId xmlns:a16="http://schemas.microsoft.com/office/drawing/2014/main" id="{FCF7EFF9-4702-4324-7086-46F45BA55D3C}"/>
              </a:ext>
            </a:extLst>
          </p:cNvPr>
          <p:cNvPicPr>
            <a:picLocks noChangeAspect="1"/>
          </p:cNvPicPr>
          <p:nvPr/>
        </p:nvPicPr>
        <p:blipFill>
          <a:blip r:embed="rId3"/>
          <a:stretch>
            <a:fillRect/>
          </a:stretch>
        </p:blipFill>
        <p:spPr>
          <a:xfrm>
            <a:off x="7232645" y="1478363"/>
            <a:ext cx="4724399" cy="3901273"/>
          </a:xfrm>
          <a:prstGeom prst="rect">
            <a:avLst/>
          </a:prstGeom>
        </p:spPr>
      </p:pic>
    </p:spTree>
    <p:extLst>
      <p:ext uri="{BB962C8B-B14F-4D97-AF65-F5344CB8AC3E}">
        <p14:creationId xmlns:p14="http://schemas.microsoft.com/office/powerpoint/2010/main" val="2172558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4D2C0-3223-95D6-6887-207A6D78AF5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AACEAE1-6856-AEF7-4364-A6170EA684A8}"/>
              </a:ext>
            </a:extLst>
          </p:cNvPr>
          <p:cNvSpPr>
            <a:spLocks noGrp="1"/>
          </p:cNvSpPr>
          <p:nvPr>
            <p:ph type="title"/>
          </p:nvPr>
        </p:nvSpPr>
        <p:spPr>
          <a:xfrm>
            <a:off x="862010" y="324379"/>
            <a:ext cx="11306175" cy="790575"/>
          </a:xfrm>
        </p:spPr>
        <p:txBody>
          <a:bodyPr>
            <a:normAutofit fontScale="90000"/>
          </a:bodyPr>
          <a:lstStyle/>
          <a:p>
            <a:r>
              <a:rPr lang="fr-FR" noProof="0" dirty="0"/>
              <a:t>C. Développement du terme source et conditions frontières appropriées (Suite)</a:t>
            </a:r>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2415E09C-6A27-14DD-E7FD-613F1BAC7932}"/>
                  </a:ext>
                </a:extLst>
              </p:cNvPr>
              <p:cNvSpPr>
                <a:spLocks noGrp="1"/>
              </p:cNvSpPr>
              <p:nvPr>
                <p:ph idx="1"/>
              </p:nvPr>
            </p:nvSpPr>
            <p:spPr>
              <a:xfrm>
                <a:off x="838200" y="1282704"/>
                <a:ext cx="11306175" cy="5438770"/>
              </a:xfrm>
              <a:ln>
                <a:noFill/>
              </a:ln>
            </p:spPr>
            <p:style>
              <a:lnRef idx="2">
                <a:schemeClr val="dk1"/>
              </a:lnRef>
              <a:fillRef idx="1">
                <a:schemeClr val="lt1"/>
              </a:fillRef>
              <a:effectRef idx="0">
                <a:schemeClr val="dk1"/>
              </a:effectRef>
              <a:fontRef idx="minor">
                <a:schemeClr val="dk1"/>
              </a:fontRef>
            </p:style>
            <p:txBody>
              <a:bodyPr>
                <a:normAutofit/>
              </a:bodyPr>
              <a:lstStyle/>
              <a:p>
                <a:pPr marL="0" indent="0" algn="just">
                  <a:buNone/>
                </a:pPr>
                <a:r>
                  <a:rPr lang="fr-FR" sz="2400" noProof="0" dirty="0"/>
                  <a:t>Le terme source se calcule donc de la façon suivante:</a:t>
                </a:r>
              </a:p>
              <a:p>
                <a:pPr marL="0" indent="0" algn="just">
                  <a:buNone/>
                </a:pPr>
                <a14:m>
                  <m:oMathPara xmlns:m="http://schemas.openxmlformats.org/officeDocument/2006/math">
                    <m:oMathParaPr>
                      <m:jc m:val="left"/>
                    </m:oMathParaPr>
                    <m:oMath xmlns:m="http://schemas.openxmlformats.org/officeDocument/2006/math">
                      <m:r>
                        <m:rPr>
                          <m:sty m:val="p"/>
                        </m:rPr>
                        <a:rPr lang="fr-FR" sz="2000" i="1" noProof="0" smtClean="0">
                          <a:latin typeface="Cambria Math" panose="02040503050406030204" pitchFamily="18" charset="0"/>
                        </a:rPr>
                        <m:t>Source</m:t>
                      </m:r>
                      <m:r>
                        <a:rPr lang="fr-FR" sz="2000" i="1" noProof="0" smtClean="0">
                          <a:latin typeface="Cambria Math" panose="02040503050406030204" pitchFamily="18" charset="0"/>
                        </a:rPr>
                        <m:t>=</m:t>
                      </m:r>
                      <m:f>
                        <m:fPr>
                          <m:ctrlPr>
                            <a:rPr lang="fr-FR" sz="2000" i="0" noProof="0" smtClean="0">
                              <a:latin typeface="Cambria Math" panose="02040503050406030204" pitchFamily="18" charset="0"/>
                            </a:rPr>
                          </m:ctrlPr>
                        </m:fPr>
                        <m:num>
                          <m:r>
                            <a:rPr lang="fr-FR" sz="2000" i="1" noProof="0" smtClean="0">
                              <a:latin typeface="Cambria Math" panose="02040503050406030204" pitchFamily="18" charset="0"/>
                            </a:rPr>
                            <m:t>∂</m:t>
                          </m:r>
                          <m:acc>
                            <m:accPr>
                              <m:chr m:val="̂"/>
                              <m:ctrlPr>
                                <a:rPr lang="fr-FR" sz="2000" i="0" noProof="0" smtClean="0">
                                  <a:latin typeface="Cambria Math" panose="02040503050406030204" pitchFamily="18" charset="0"/>
                                </a:rPr>
                              </m:ctrlPr>
                            </m:accPr>
                            <m:e>
                              <m:r>
                                <a:rPr lang="fr-FR" sz="2000" i="1" noProof="0" smtClean="0">
                                  <a:latin typeface="Cambria Math" panose="02040503050406030204" pitchFamily="18" charset="0"/>
                                </a:rPr>
                                <m:t>𝐶</m:t>
                              </m:r>
                            </m:e>
                          </m:acc>
                        </m:num>
                        <m:den>
                          <m:r>
                            <a:rPr lang="fr-FR" sz="2000" i="1" noProof="0" smtClean="0">
                              <a:latin typeface="Cambria Math" panose="02040503050406030204" pitchFamily="18" charset="0"/>
                            </a:rPr>
                            <m:t>𝜕</m:t>
                          </m:r>
                          <m:r>
                            <a:rPr lang="fr-FR" sz="2000" i="1" noProof="0" smtClean="0">
                              <a:latin typeface="Cambria Math" panose="02040503050406030204" pitchFamily="18" charset="0"/>
                            </a:rPr>
                            <m:t>𝑡</m:t>
                          </m:r>
                        </m:den>
                      </m:f>
                      <m:r>
                        <a:rPr lang="fr-FR" sz="2000" i="1" noProof="0" smtClean="0">
                          <a:latin typeface="Cambria Math" panose="02040503050406030204" pitchFamily="18" charset="0"/>
                        </a:rPr>
                        <m:t>−</m:t>
                      </m:r>
                      <m:sSub>
                        <m:sSubPr>
                          <m:ctrlPr>
                            <a:rPr lang="fr-FR" sz="2000" i="0"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b="0" i="0" noProof="0" smtClean="0">
                              <a:latin typeface="Cambria Math" panose="02040503050406030204" pitchFamily="18" charset="0"/>
                            </a:rPr>
                            <m:t>eff</m:t>
                          </m:r>
                        </m:sub>
                      </m:sSub>
                      <m:d>
                        <m:dPr>
                          <m:ctrlPr>
                            <a:rPr lang="fr-FR" sz="2000" i="0" noProof="0" smtClean="0">
                              <a:latin typeface="Cambria Math" panose="02040503050406030204" pitchFamily="18" charset="0"/>
                            </a:rPr>
                          </m:ctrlPr>
                        </m:dPr>
                        <m:e>
                          <m:f>
                            <m:fPr>
                              <m:ctrlPr>
                                <a:rPr lang="fr-FR" sz="2000" i="0" noProof="0" smtClean="0">
                                  <a:latin typeface="Cambria Math" panose="02040503050406030204" pitchFamily="18" charset="0"/>
                                </a:rPr>
                              </m:ctrlPr>
                            </m:fPr>
                            <m:num>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m:t>
                                  </m:r>
                                </m:e>
                                <m:sup>
                                  <m:r>
                                    <a:rPr lang="fr-FR" sz="2000" i="1" noProof="0" smtClean="0">
                                      <a:latin typeface="Cambria Math" panose="02040503050406030204" pitchFamily="18" charset="0"/>
                                    </a:rPr>
                                    <m:t>2</m:t>
                                  </m:r>
                                </m:sup>
                              </m:sSup>
                              <m:acc>
                                <m:accPr>
                                  <m:chr m:val="̂"/>
                                  <m:ctrlPr>
                                    <a:rPr lang="fr-FR" sz="2000" i="0" noProof="0" smtClean="0">
                                      <a:latin typeface="Cambria Math" panose="02040503050406030204" pitchFamily="18" charset="0"/>
                                    </a:rPr>
                                  </m:ctrlPr>
                                </m:accPr>
                                <m:e>
                                  <m:r>
                                    <a:rPr lang="fr-FR" sz="2000" i="1" noProof="0" smtClean="0">
                                      <a:latin typeface="Cambria Math" panose="02040503050406030204" pitchFamily="18" charset="0"/>
                                    </a:rPr>
                                    <m:t>𝐶</m:t>
                                  </m:r>
                                </m:e>
                              </m:acc>
                            </m:num>
                            <m:den>
                              <m:r>
                                <a:rPr lang="fr-FR" sz="2000" i="1" noProof="0" smtClean="0">
                                  <a:latin typeface="Cambria Math" panose="02040503050406030204" pitchFamily="18" charset="0"/>
                                </a:rPr>
                                <m:t>∂</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𝑟</m:t>
                                  </m:r>
                                </m:e>
                                <m:sup>
                                  <m:r>
                                    <a:rPr lang="fr-FR" sz="2000" i="1" noProof="0" smtClean="0">
                                      <a:latin typeface="Cambria Math" panose="02040503050406030204" pitchFamily="18" charset="0"/>
                                    </a:rPr>
                                    <m:t>2</m:t>
                                  </m:r>
                                </m:sup>
                              </m:sSup>
                            </m:den>
                          </m:f>
                          <m:r>
                            <a:rPr lang="fr-FR" sz="2000" i="1" noProof="0" smtClean="0">
                              <a:latin typeface="Cambria Math" panose="02040503050406030204" pitchFamily="18" charset="0"/>
                            </a:rPr>
                            <m:t>+</m:t>
                          </m:r>
                          <m:f>
                            <m:fPr>
                              <m:ctrlPr>
                                <a:rPr lang="fr-FR" sz="2000" i="0" noProof="0" smtClean="0">
                                  <a:latin typeface="Cambria Math" panose="02040503050406030204" pitchFamily="18" charset="0"/>
                                </a:rPr>
                              </m:ctrlPr>
                            </m:fPr>
                            <m:num>
                              <m:r>
                                <a:rPr lang="fr-FR" sz="2000" i="1" noProof="0" smtClean="0">
                                  <a:latin typeface="Cambria Math" panose="02040503050406030204" pitchFamily="18" charset="0"/>
                                </a:rPr>
                                <m:t>1</m:t>
                              </m:r>
                            </m:num>
                            <m:den>
                              <m:r>
                                <a:rPr lang="fr-FR" sz="2000" i="1" noProof="0" smtClean="0">
                                  <a:latin typeface="Cambria Math" panose="02040503050406030204" pitchFamily="18" charset="0"/>
                                </a:rPr>
                                <m:t>𝑟</m:t>
                              </m:r>
                            </m:den>
                          </m:f>
                          <m:f>
                            <m:fPr>
                              <m:ctrlPr>
                                <a:rPr lang="fr-FR" sz="2000" i="0" noProof="0" smtClean="0">
                                  <a:latin typeface="Cambria Math" panose="02040503050406030204" pitchFamily="18" charset="0"/>
                                </a:rPr>
                              </m:ctrlPr>
                            </m:fPr>
                            <m:num>
                              <m:r>
                                <a:rPr lang="fr-FR" sz="2000" i="1" noProof="0" smtClean="0">
                                  <a:latin typeface="Cambria Math" panose="02040503050406030204" pitchFamily="18" charset="0"/>
                                </a:rPr>
                                <m:t>∂</m:t>
                              </m:r>
                              <m:acc>
                                <m:accPr>
                                  <m:chr m:val="̂"/>
                                  <m:ctrlPr>
                                    <a:rPr lang="fr-FR" sz="2000" i="0" noProof="0" smtClean="0">
                                      <a:latin typeface="Cambria Math" panose="02040503050406030204" pitchFamily="18" charset="0"/>
                                    </a:rPr>
                                  </m:ctrlPr>
                                </m:accPr>
                                <m:e>
                                  <m:r>
                                    <a:rPr lang="fr-FR" sz="2000" i="1" noProof="0" smtClean="0">
                                      <a:latin typeface="Cambria Math" panose="02040503050406030204" pitchFamily="18" charset="0"/>
                                    </a:rPr>
                                    <m:t>𝐶</m:t>
                                  </m:r>
                                </m:e>
                              </m:acc>
                            </m:num>
                            <m:den>
                              <m:r>
                                <a:rPr lang="fr-FR" sz="2000" i="1" noProof="0" smtClean="0">
                                  <a:latin typeface="Cambria Math" panose="02040503050406030204" pitchFamily="18" charset="0"/>
                                </a:rPr>
                                <m:t>𝜕</m:t>
                              </m:r>
                              <m:r>
                                <a:rPr lang="fr-FR" sz="2000" i="1" noProof="0" smtClean="0">
                                  <a:latin typeface="Cambria Math" panose="02040503050406030204" pitchFamily="18" charset="0"/>
                                </a:rPr>
                                <m:t>𝑟</m:t>
                              </m:r>
                            </m:den>
                          </m:f>
                        </m:e>
                      </m:d>
                      <m:r>
                        <a:rPr lang="fr-FR" sz="2000" i="1" noProof="0" smtClean="0">
                          <a:latin typeface="Cambria Math" panose="02040503050406030204" pitchFamily="18" charset="0"/>
                        </a:rPr>
                        <m:t>+</m:t>
                      </m:r>
                      <m:r>
                        <a:rPr lang="fr-FR" sz="2000" i="1" noProof="0" smtClean="0">
                          <a:latin typeface="Cambria Math" panose="02040503050406030204" pitchFamily="18" charset="0"/>
                        </a:rPr>
                        <m:t>𝑘𝐶</m:t>
                      </m:r>
                      <m:r>
                        <a:rPr lang="fr-FR" sz="2000" i="1" noProof="0" smtClean="0">
                          <a:latin typeface="Cambria Math" panose="02040503050406030204" pitchFamily="18" charset="0"/>
                        </a:rPr>
                        <m:t> =</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𝑒</m:t>
                          </m:r>
                        </m:e>
                        <m:sup>
                          <m:r>
                            <a:rPr lang="fr-FR" sz="2000" i="1" noProof="0" smtClean="0">
                              <a:latin typeface="Cambria Math" panose="02040503050406030204" pitchFamily="18" charset="0"/>
                            </a:rPr>
                            <m:t>𝑟</m:t>
                          </m:r>
                        </m:sup>
                      </m:sSup>
                      <m:r>
                        <m:rPr>
                          <m:sty m:val="p"/>
                        </m:rPr>
                        <a:rPr lang="fr-FR" sz="2000" i="1" noProof="0" smtClean="0">
                          <a:latin typeface="Cambria Math" panose="02040503050406030204" pitchFamily="18" charset="0"/>
                        </a:rPr>
                        <m:t>cos</m:t>
                      </m:r>
                      <m:d>
                        <m:dPr>
                          <m:ctrlPr>
                            <a:rPr lang="fr-FR" sz="2000" i="1" noProof="0" smtClean="0">
                              <a:latin typeface="Cambria Math" panose="02040503050406030204" pitchFamily="18" charset="0"/>
                            </a:rPr>
                          </m:ctrlPr>
                        </m:dPr>
                        <m:e>
                          <m:r>
                            <a:rPr lang="fr-FR" sz="2000" i="1" noProof="0" smtClean="0">
                              <a:latin typeface="Cambria Math" panose="02040503050406030204" pitchFamily="18" charset="0"/>
                            </a:rPr>
                            <m:t>𝑡</m:t>
                          </m:r>
                        </m:e>
                      </m:d>
                      <m:r>
                        <a:rPr lang="fr-FR" sz="2000" i="1" noProof="0" smtClean="0">
                          <a:latin typeface="Cambria Math" panose="02040503050406030204" pitchFamily="18" charset="0"/>
                        </a:rPr>
                        <m:t>+</m:t>
                      </m:r>
                      <m:r>
                        <m:rPr>
                          <m:sty m:val="p"/>
                        </m:rPr>
                        <a:rPr lang="fr-FR" sz="2000" i="1" noProof="0" smtClean="0">
                          <a:latin typeface="Cambria Math" panose="02040503050406030204" pitchFamily="18" charset="0"/>
                        </a:rPr>
                        <m:t>cos</m:t>
                      </m:r>
                      <m:d>
                        <m:dPr>
                          <m:ctrlPr>
                            <a:rPr lang="fr-FR" sz="2000" i="1" noProof="0" smtClean="0">
                              <a:latin typeface="Cambria Math" panose="02040503050406030204" pitchFamily="18" charset="0"/>
                            </a:rPr>
                          </m:ctrlPr>
                        </m:dPr>
                        <m:e>
                          <m:r>
                            <a:rPr lang="fr-FR" sz="2000" i="1" noProof="0" smtClean="0">
                              <a:latin typeface="Cambria Math" panose="02040503050406030204" pitchFamily="18" charset="0"/>
                            </a:rPr>
                            <m:t>𝑟</m:t>
                          </m:r>
                        </m:e>
                      </m:d>
                      <m:r>
                        <a:rPr lang="fr-FR" sz="2000" i="1" noProof="0" smtClean="0">
                          <a:latin typeface="Cambria Math" panose="02040503050406030204" pitchFamily="18" charset="0"/>
                        </a:rPr>
                        <m:t>−</m:t>
                      </m:r>
                      <m:sSub>
                        <m:sSubPr>
                          <m:ctrlPr>
                            <a:rPr lang="fr-FR" sz="2000" i="0" noProof="0" smtClean="0">
                              <a:latin typeface="Cambria Math" panose="02040503050406030204" pitchFamily="18" charset="0"/>
                            </a:rPr>
                          </m:ctrlPr>
                        </m:sSubPr>
                        <m:e>
                          <m:r>
                            <a:rPr lang="fr-FR" sz="2000" i="1" noProof="0" smtClean="0">
                              <a:latin typeface="Cambria Math" panose="02040503050406030204" pitchFamily="18" charset="0"/>
                            </a:rPr>
                            <m:t>𝐷</m:t>
                          </m:r>
                        </m:e>
                        <m:sub>
                          <m:r>
                            <m:rPr>
                              <m:sty m:val="p"/>
                            </m:rPr>
                            <a:rPr lang="fr-FR" sz="2000" b="0" i="0" noProof="0" smtClean="0">
                              <a:latin typeface="Cambria Math" panose="02040503050406030204" pitchFamily="18" charset="0"/>
                            </a:rPr>
                            <m:t>eff</m:t>
                          </m:r>
                        </m:sub>
                      </m:sSub>
                      <m:d>
                        <m:dPr>
                          <m:ctrlPr>
                            <a:rPr lang="fr-FR" sz="2000" i="0" noProof="0" smtClean="0">
                              <a:latin typeface="Cambria Math" panose="02040503050406030204" pitchFamily="18" charset="0"/>
                            </a:rPr>
                          </m:ctrlPr>
                        </m:dPr>
                        <m:e>
                          <m:r>
                            <a:rPr lang="fr-FR" sz="2000" i="1" noProof="0" smtClean="0">
                              <a:latin typeface="Cambria Math" panose="02040503050406030204" pitchFamily="18" charset="0"/>
                            </a:rPr>
                            <m:t>−</m:t>
                          </m:r>
                          <m:r>
                            <a:rPr lang="fr-FR" sz="2000" i="1" noProof="0" smtClean="0">
                              <a:latin typeface="Cambria Math" panose="02040503050406030204" pitchFamily="18" charset="0"/>
                            </a:rPr>
                            <m:t>𝑡</m:t>
                          </m:r>
                          <m:r>
                            <m:rPr>
                              <m:sty m:val="p"/>
                            </m:rPr>
                            <a:rPr lang="fr-FR" sz="2000" i="1" noProof="0" smtClean="0">
                              <a:latin typeface="Cambria Math" panose="02040503050406030204" pitchFamily="18" charset="0"/>
                            </a:rPr>
                            <m:t>cos</m:t>
                          </m:r>
                          <m:d>
                            <m:dPr>
                              <m:ctrlPr>
                                <a:rPr lang="fr-FR" sz="2000" i="0" noProof="0" smtClean="0">
                                  <a:latin typeface="Cambria Math" panose="02040503050406030204" pitchFamily="18" charset="0"/>
                                </a:rPr>
                              </m:ctrlPr>
                            </m:dPr>
                            <m:e>
                              <m:r>
                                <a:rPr lang="fr-FR" sz="2000" i="1" noProof="0" smtClean="0">
                                  <a:latin typeface="Cambria Math" panose="02040503050406030204" pitchFamily="18" charset="0"/>
                                </a:rPr>
                                <m:t>𝑟</m:t>
                              </m:r>
                            </m:e>
                          </m:d>
                          <m:r>
                            <a:rPr lang="fr-FR" sz="2000" i="1" noProof="0" smtClean="0">
                              <a:latin typeface="Cambria Math" panose="02040503050406030204" pitchFamily="18" charset="0"/>
                            </a:rPr>
                            <m:t>+</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𝑒</m:t>
                              </m:r>
                            </m:e>
                            <m:sup>
                              <m:r>
                                <a:rPr lang="fr-FR" sz="2000" i="1" noProof="0" smtClean="0">
                                  <a:latin typeface="Cambria Math" panose="02040503050406030204" pitchFamily="18" charset="0"/>
                                </a:rPr>
                                <m:t>𝑟</m:t>
                              </m:r>
                            </m:sup>
                          </m:sSup>
                          <m:r>
                            <m:rPr>
                              <m:sty m:val="p"/>
                            </m:rPr>
                            <a:rPr lang="fr-FR" sz="2000" i="1" noProof="0" smtClean="0">
                              <a:latin typeface="Cambria Math" panose="02040503050406030204" pitchFamily="18" charset="0"/>
                            </a:rPr>
                            <m:t>sin</m:t>
                          </m:r>
                          <m:d>
                            <m:dPr>
                              <m:ctrlPr>
                                <a:rPr lang="fr-FR" sz="2000" i="0" noProof="0" smtClean="0">
                                  <a:latin typeface="Cambria Math" panose="02040503050406030204" pitchFamily="18" charset="0"/>
                                </a:rPr>
                              </m:ctrlPr>
                            </m:dPr>
                            <m:e>
                              <m:r>
                                <a:rPr lang="fr-FR" sz="2000" i="1" noProof="0" smtClean="0">
                                  <a:latin typeface="Cambria Math" panose="02040503050406030204" pitchFamily="18" charset="0"/>
                                </a:rPr>
                                <m:t>𝑡</m:t>
                              </m:r>
                            </m:e>
                          </m:d>
                          <m:r>
                            <a:rPr lang="fr-FR" sz="2000" i="1" noProof="0" smtClean="0">
                              <a:latin typeface="Cambria Math" panose="02040503050406030204" pitchFamily="18" charset="0"/>
                            </a:rPr>
                            <m:t>+</m:t>
                          </m:r>
                          <m:f>
                            <m:fPr>
                              <m:ctrlPr>
                                <a:rPr lang="fr-FR" sz="2000" i="0" noProof="0" smtClean="0">
                                  <a:latin typeface="Cambria Math" panose="02040503050406030204" pitchFamily="18" charset="0"/>
                                </a:rPr>
                              </m:ctrlPr>
                            </m:fPr>
                            <m:num>
                              <m:r>
                                <a:rPr lang="fr-FR" sz="2000" i="1" noProof="0" smtClean="0">
                                  <a:latin typeface="Cambria Math" panose="02040503050406030204" pitchFamily="18" charset="0"/>
                                </a:rPr>
                                <m:t>−</m:t>
                              </m:r>
                              <m:r>
                                <a:rPr lang="fr-FR" sz="2000" i="1" noProof="0" smtClean="0">
                                  <a:latin typeface="Cambria Math" panose="02040503050406030204" pitchFamily="18" charset="0"/>
                                </a:rPr>
                                <m:t>𝑡</m:t>
                              </m:r>
                              <m:r>
                                <a:rPr lang="fr-FR" sz="2000" i="1" noProof="0" smtClean="0">
                                  <a:latin typeface="Cambria Math" panose="02040503050406030204" pitchFamily="18" charset="0"/>
                                </a:rPr>
                                <m:t> </m:t>
                              </m:r>
                              <m:r>
                                <m:rPr>
                                  <m:sty m:val="p"/>
                                </m:rPr>
                                <a:rPr lang="fr-FR" sz="2000" i="1" noProof="0" smtClean="0">
                                  <a:latin typeface="Cambria Math" panose="02040503050406030204" pitchFamily="18" charset="0"/>
                                </a:rPr>
                                <m:t>sin</m:t>
                              </m:r>
                              <m:d>
                                <m:dPr>
                                  <m:ctrlPr>
                                    <a:rPr lang="fr-FR" sz="2000" i="0" noProof="0" smtClean="0">
                                      <a:latin typeface="Cambria Math" panose="02040503050406030204" pitchFamily="18" charset="0"/>
                                    </a:rPr>
                                  </m:ctrlPr>
                                </m:dPr>
                                <m:e>
                                  <m:r>
                                    <a:rPr lang="fr-FR" sz="2000" i="1" noProof="0" smtClean="0">
                                      <a:latin typeface="Cambria Math" panose="02040503050406030204" pitchFamily="18" charset="0"/>
                                    </a:rPr>
                                    <m:t>𝑟</m:t>
                                  </m:r>
                                </m:e>
                              </m:d>
                              <m:r>
                                <a:rPr lang="fr-FR" sz="2000" i="1" noProof="0" smtClean="0">
                                  <a:latin typeface="Cambria Math" panose="02040503050406030204" pitchFamily="18" charset="0"/>
                                </a:rPr>
                                <m:t>+</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𝑒</m:t>
                                  </m:r>
                                </m:e>
                                <m:sup>
                                  <m:r>
                                    <a:rPr lang="fr-FR" sz="2000" i="1" noProof="0" smtClean="0">
                                      <a:latin typeface="Cambria Math" panose="02040503050406030204" pitchFamily="18" charset="0"/>
                                    </a:rPr>
                                    <m:t>𝑟</m:t>
                                  </m:r>
                                </m:sup>
                              </m:sSup>
                              <m:r>
                                <a:rPr lang="fr-FR" sz="2000" i="1" noProof="0" smtClean="0">
                                  <a:latin typeface="Cambria Math" panose="02040503050406030204" pitchFamily="18" charset="0"/>
                                </a:rPr>
                                <m:t> </m:t>
                              </m:r>
                              <m:r>
                                <m:rPr>
                                  <m:sty m:val="p"/>
                                </m:rPr>
                                <a:rPr lang="fr-FR" sz="2000" i="1" noProof="0" smtClean="0">
                                  <a:latin typeface="Cambria Math" panose="02040503050406030204" pitchFamily="18" charset="0"/>
                                </a:rPr>
                                <m:t>sin</m:t>
                              </m:r>
                              <m:d>
                                <m:dPr>
                                  <m:ctrlPr>
                                    <a:rPr lang="fr-FR" sz="2000" i="0" noProof="0" smtClean="0">
                                      <a:latin typeface="Cambria Math" panose="02040503050406030204" pitchFamily="18" charset="0"/>
                                    </a:rPr>
                                  </m:ctrlPr>
                                </m:dPr>
                                <m:e>
                                  <m:r>
                                    <a:rPr lang="fr-FR" sz="2000" i="1" noProof="0" smtClean="0">
                                      <a:latin typeface="Cambria Math" panose="02040503050406030204" pitchFamily="18" charset="0"/>
                                    </a:rPr>
                                    <m:t>𝑡</m:t>
                                  </m:r>
                                </m:e>
                              </m:d>
                            </m:num>
                            <m:den>
                              <m:r>
                                <a:rPr lang="fr-FR" sz="2000" i="1" noProof="0" smtClean="0">
                                  <a:latin typeface="Cambria Math" panose="02040503050406030204" pitchFamily="18" charset="0"/>
                                </a:rPr>
                                <m:t>𝑟</m:t>
                              </m:r>
                            </m:den>
                          </m:f>
                        </m:e>
                      </m:d>
                      <m:r>
                        <a:rPr lang="fr-FR" sz="2000" i="1" noProof="0" smtClean="0">
                          <a:latin typeface="Cambria Math" panose="02040503050406030204" pitchFamily="18" charset="0"/>
                        </a:rPr>
                        <m:t> +</m:t>
                      </m:r>
                      <m:r>
                        <a:rPr lang="fr-FR" sz="2000" i="1" noProof="0" smtClean="0">
                          <a:latin typeface="Cambria Math" panose="02040503050406030204" pitchFamily="18" charset="0"/>
                        </a:rPr>
                        <m:t>𝑘</m:t>
                      </m:r>
                      <m:d>
                        <m:dPr>
                          <m:ctrlPr>
                            <a:rPr lang="fr-FR" sz="2000" i="0" noProof="0" smtClean="0">
                              <a:latin typeface="Cambria Math" panose="02040503050406030204" pitchFamily="18" charset="0"/>
                            </a:rPr>
                          </m:ctrlPr>
                        </m:dPr>
                        <m:e>
                          <m:r>
                            <a:rPr lang="fr-FR" sz="2000" i="1" noProof="0" smtClean="0">
                              <a:latin typeface="Cambria Math" panose="02040503050406030204" pitchFamily="18" charset="0"/>
                            </a:rPr>
                            <m:t>𝑡</m:t>
                          </m:r>
                          <m:r>
                            <m:rPr>
                              <m:sty m:val="p"/>
                            </m:rPr>
                            <a:rPr lang="fr-FR" sz="2000" i="1" noProof="0" smtClean="0">
                              <a:latin typeface="Cambria Math" panose="02040503050406030204" pitchFamily="18" charset="0"/>
                            </a:rPr>
                            <m:t>cos</m:t>
                          </m:r>
                          <m:d>
                            <m:dPr>
                              <m:ctrlPr>
                                <a:rPr lang="fr-FR" sz="2000" i="0" noProof="0" smtClean="0">
                                  <a:latin typeface="Cambria Math" panose="02040503050406030204" pitchFamily="18" charset="0"/>
                                </a:rPr>
                              </m:ctrlPr>
                            </m:dPr>
                            <m:e>
                              <m:r>
                                <a:rPr lang="fr-FR" sz="2000" i="1" noProof="0" smtClean="0">
                                  <a:latin typeface="Cambria Math" panose="02040503050406030204" pitchFamily="18" charset="0"/>
                                </a:rPr>
                                <m:t>𝑟</m:t>
                              </m:r>
                            </m:e>
                          </m:d>
                          <m:r>
                            <a:rPr lang="fr-FR" sz="2000" i="1" noProof="0" smtClean="0">
                              <a:latin typeface="Cambria Math" panose="02040503050406030204" pitchFamily="18" charset="0"/>
                            </a:rPr>
                            <m:t>+</m:t>
                          </m:r>
                          <m:sSup>
                            <m:sSupPr>
                              <m:ctrlPr>
                                <a:rPr lang="fr-FR" sz="2000" i="0" noProof="0" smtClean="0">
                                  <a:latin typeface="Cambria Math" panose="02040503050406030204" pitchFamily="18" charset="0"/>
                                </a:rPr>
                              </m:ctrlPr>
                            </m:sSupPr>
                            <m:e>
                              <m:r>
                                <a:rPr lang="fr-FR" sz="2000" i="1" noProof="0" smtClean="0">
                                  <a:latin typeface="Cambria Math" panose="02040503050406030204" pitchFamily="18" charset="0"/>
                                </a:rPr>
                                <m:t>𝑒</m:t>
                              </m:r>
                            </m:e>
                            <m:sup>
                              <m:r>
                                <a:rPr lang="fr-FR" sz="2000" i="1" noProof="0" smtClean="0">
                                  <a:latin typeface="Cambria Math" panose="02040503050406030204" pitchFamily="18" charset="0"/>
                                </a:rPr>
                                <m:t>𝑟</m:t>
                              </m:r>
                            </m:sup>
                          </m:sSup>
                          <m:r>
                            <m:rPr>
                              <m:sty m:val="p"/>
                            </m:rPr>
                            <a:rPr lang="fr-FR" sz="2000" i="1" noProof="0" smtClean="0">
                              <a:latin typeface="Cambria Math" panose="02040503050406030204" pitchFamily="18" charset="0"/>
                            </a:rPr>
                            <m:t>sin</m:t>
                          </m:r>
                          <m:d>
                            <m:dPr>
                              <m:ctrlPr>
                                <a:rPr lang="fr-FR" sz="2000" i="0" noProof="0" smtClean="0">
                                  <a:latin typeface="Cambria Math" panose="02040503050406030204" pitchFamily="18" charset="0"/>
                                </a:rPr>
                              </m:ctrlPr>
                            </m:dPr>
                            <m:e>
                              <m:r>
                                <a:rPr lang="fr-FR" sz="2000" i="1" noProof="0" smtClean="0">
                                  <a:latin typeface="Cambria Math" panose="02040503050406030204" pitchFamily="18" charset="0"/>
                                </a:rPr>
                                <m:t>𝑡</m:t>
                              </m:r>
                            </m:e>
                          </m:d>
                        </m:e>
                      </m:d>
                    </m:oMath>
                  </m:oMathPara>
                </a14:m>
                <a:endParaRPr lang="fr-FR" noProof="0" dirty="0"/>
              </a:p>
              <a:p>
                <a:pPr marL="0" indent="0" algn="just">
                  <a:buNone/>
                </a:pPr>
                <a:r>
                  <a:rPr lang="fr-FR" sz="2400" noProof="0" dirty="0"/>
                  <a:t>Les conditions frontières et initiale:</a:t>
                </a:r>
              </a:p>
              <a:p>
                <a:pPr marL="0" indent="0" algn="just">
                  <a:buNone/>
                </a:pPr>
                <a:r>
                  <a:rPr lang="fr-FR" sz="2400" u="sng" noProof="0" dirty="0"/>
                  <a:t>Neumann</a:t>
                </a:r>
                <a:r>
                  <a:rPr lang="fr-FR" sz="2400" noProof="0" dirty="0"/>
                  <a:t> à</a:t>
                </a:r>
                <a14:m>
                  <m:oMath xmlns:m="http://schemas.openxmlformats.org/officeDocument/2006/math">
                    <m:r>
                      <a:rPr lang="fr-FR" sz="2400" i="1" noProof="0" smtClean="0">
                        <a:latin typeface="Cambria Math" panose="02040503050406030204" pitchFamily="18" charset="0"/>
                      </a:rPr>
                      <m:t> </m:t>
                    </m:r>
                    <m:r>
                      <a:rPr lang="fr-FR" sz="2400" i="1" noProof="0" smtClean="0">
                        <a:latin typeface="Cambria Math" panose="02040503050406030204" pitchFamily="18" charset="0"/>
                      </a:rPr>
                      <m:t>𝑟</m:t>
                    </m:r>
                    <m:r>
                      <a:rPr lang="fr-FR" sz="2400" i="1" noProof="0" smtClean="0">
                        <a:latin typeface="Cambria Math" panose="02040503050406030204" pitchFamily="18" charset="0"/>
                      </a:rPr>
                      <m:t>=0</m:t>
                    </m:r>
                  </m:oMath>
                </a14:m>
                <a:r>
                  <a:rPr lang="fr-FR" sz="2400" noProof="0" dirty="0"/>
                  <a:t>:  </a:t>
                </a:r>
                <a14:m>
                  <m:oMath xmlns:m="http://schemas.openxmlformats.org/officeDocument/2006/math">
                    <m:sSubSup>
                      <m:sSubSupPr>
                        <m:ctrlPr>
                          <a:rPr lang="fr-FR" sz="2400" i="1" noProof="0" smtClean="0">
                            <a:latin typeface="Cambria Math" panose="02040503050406030204" pitchFamily="18" charset="0"/>
                          </a:rPr>
                        </m:ctrlPr>
                      </m:sSubSupPr>
                      <m:e>
                        <m:d>
                          <m:dPr>
                            <m:begChr m:val=""/>
                            <m:endChr m:val="|"/>
                            <m:ctrlPr>
                              <a:rPr lang="fr-FR" sz="2400" i="1" noProof="0">
                                <a:latin typeface="Cambria Math" panose="02040503050406030204" pitchFamily="18" charset="0"/>
                              </a:rPr>
                            </m:ctrlPr>
                          </m:dPr>
                          <m:e>
                            <m:f>
                              <m:fPr>
                                <m:ctrlPr>
                                  <a:rPr lang="fr-FR" sz="2400" i="1" noProof="0">
                                    <a:latin typeface="Cambria Math" panose="02040503050406030204" pitchFamily="18" charset="0"/>
                                  </a:rPr>
                                </m:ctrlPr>
                              </m:fPr>
                              <m:num>
                                <m:r>
                                  <a:rPr lang="fr-FR" sz="2400" i="1" noProof="0">
                                    <a:latin typeface="Cambria Math" panose="02040503050406030204" pitchFamily="18" charset="0"/>
                                  </a:rPr>
                                  <m:t>𝜕</m:t>
                                </m:r>
                                <m:acc>
                                  <m:accPr>
                                    <m:chr m:val="̂"/>
                                    <m:ctrlPr>
                                      <a:rPr lang="fr-FR" sz="2400" i="1" noProof="0">
                                        <a:latin typeface="Cambria Math" panose="02040503050406030204" pitchFamily="18" charset="0"/>
                                      </a:rPr>
                                    </m:ctrlPr>
                                  </m:accPr>
                                  <m:e>
                                    <m:r>
                                      <a:rPr lang="fr-FR" sz="2400" i="1" noProof="0">
                                        <a:latin typeface="Cambria Math" panose="02040503050406030204" pitchFamily="18" charset="0"/>
                                      </a:rPr>
                                      <m:t>𝐶</m:t>
                                    </m:r>
                                  </m:e>
                                </m:acc>
                              </m:num>
                              <m:den>
                                <m:r>
                                  <a:rPr lang="fr-FR" sz="2400" i="1" noProof="0">
                                    <a:latin typeface="Cambria Math" panose="02040503050406030204" pitchFamily="18" charset="0"/>
                                  </a:rPr>
                                  <m:t>𝜕</m:t>
                                </m:r>
                                <m:r>
                                  <a:rPr lang="fr-FR" sz="2400" i="1" noProof="0">
                                    <a:latin typeface="Cambria Math" panose="02040503050406030204" pitchFamily="18" charset="0"/>
                                  </a:rPr>
                                  <m:t>𝑟</m:t>
                                </m:r>
                              </m:den>
                            </m:f>
                          </m:e>
                        </m:d>
                      </m:e>
                      <m:sub>
                        <m:r>
                          <a:rPr lang="fr-FR" sz="2400" b="0" i="1" noProof="0" smtClean="0">
                            <a:latin typeface="Cambria Math" panose="02040503050406030204" pitchFamily="18" charset="0"/>
                          </a:rPr>
                          <m:t>𝑟</m:t>
                        </m:r>
                        <m:r>
                          <a:rPr lang="fr-FR" sz="2400" b="0" i="1" noProof="0" smtClean="0">
                            <a:latin typeface="Cambria Math" panose="02040503050406030204" pitchFamily="18" charset="0"/>
                          </a:rPr>
                          <m:t>=0</m:t>
                        </m:r>
                      </m:sub>
                      <m:sup>
                        <m:r>
                          <a:rPr lang="fr-FR" sz="2400" b="0" i="1" noProof="0" smtClean="0">
                            <a:latin typeface="Cambria Math" panose="02040503050406030204" pitchFamily="18" charset="0"/>
                          </a:rPr>
                          <m:t>𝑡</m:t>
                        </m:r>
                      </m:sup>
                    </m:sSubSup>
                    <m:r>
                      <a:rPr lang="fr-FR" sz="2400" b="0" i="1" noProof="0" smtClean="0">
                        <a:latin typeface="Cambria Math" panose="02040503050406030204" pitchFamily="18" charset="0"/>
                      </a:rPr>
                      <m:t>=</m:t>
                    </m:r>
                    <m:r>
                      <m:rPr>
                        <m:sty m:val="p"/>
                      </m:rPr>
                      <a:rPr lang="fr-FR" sz="2400" i="1" noProof="0" smtClean="0">
                        <a:latin typeface="Cambria Math" panose="02040503050406030204" pitchFamily="18" charset="0"/>
                      </a:rPr>
                      <m:t>sin</m:t>
                    </m:r>
                    <m:d>
                      <m:dPr>
                        <m:ctrlPr>
                          <a:rPr lang="fr-FR" sz="2400" i="1" noProof="0" smtClean="0">
                            <a:latin typeface="Cambria Math" panose="02040503050406030204" pitchFamily="18" charset="0"/>
                          </a:rPr>
                        </m:ctrlPr>
                      </m:dPr>
                      <m:e>
                        <m:r>
                          <a:rPr lang="fr-FR" sz="2400" i="1" noProof="0" smtClean="0">
                            <a:latin typeface="Cambria Math" panose="02040503050406030204" pitchFamily="18" charset="0"/>
                          </a:rPr>
                          <m:t>𝑡</m:t>
                        </m:r>
                      </m:e>
                    </m:d>
                  </m:oMath>
                </a14:m>
                <a:endParaRPr lang="fr-FR" sz="2400" noProof="0" dirty="0"/>
              </a:p>
              <a:p>
                <a:pPr marL="0" indent="0" algn="just">
                  <a:buNone/>
                </a:pPr>
                <a:endParaRPr lang="fr-FR" sz="2400" noProof="0" dirty="0"/>
              </a:p>
              <a:p>
                <a:pPr marL="0" indent="0" algn="just">
                  <a:buNone/>
                </a:pPr>
                <a:r>
                  <a:rPr lang="fr-FR" sz="2400" u="sng" noProof="0" dirty="0"/>
                  <a:t>Dirichlet</a:t>
                </a:r>
                <a:r>
                  <a:rPr lang="fr-FR" sz="2400" noProof="0" dirty="0"/>
                  <a:t> à </a:t>
                </a:r>
                <a14:m>
                  <m:oMath xmlns:m="http://schemas.openxmlformats.org/officeDocument/2006/math">
                    <m:r>
                      <a:rPr lang="fr-FR" sz="2400" b="0" i="1" noProof="0" smtClean="0">
                        <a:latin typeface="Cambria Math" panose="02040503050406030204" pitchFamily="18" charset="0"/>
                      </a:rPr>
                      <m:t>𝑟</m:t>
                    </m:r>
                    <m:r>
                      <a:rPr lang="fr-FR" sz="2400" b="0" i="1" noProof="0" smtClean="0">
                        <a:latin typeface="Cambria Math" panose="02040503050406030204" pitchFamily="18" charset="0"/>
                      </a:rPr>
                      <m:t>=</m:t>
                    </m:r>
                    <m:r>
                      <a:rPr lang="fr-FR" sz="2400" b="0" i="1" noProof="0" smtClean="0">
                        <a:latin typeface="Cambria Math" panose="02040503050406030204" pitchFamily="18" charset="0"/>
                      </a:rPr>
                      <m:t>𝑅</m:t>
                    </m:r>
                  </m:oMath>
                </a14:m>
                <a:r>
                  <a:rPr lang="fr-FR" sz="2400" noProof="0" dirty="0"/>
                  <a:t>: </a:t>
                </a:r>
                <a14:m>
                  <m:oMath xmlns:m="http://schemas.openxmlformats.org/officeDocument/2006/math">
                    <m:acc>
                      <m:accPr>
                        <m:chr m:val="̂"/>
                        <m:ctrlPr>
                          <a:rPr lang="fr-FR" sz="2400" i="1" noProof="0">
                            <a:latin typeface="Cambria Math" panose="02040503050406030204" pitchFamily="18" charset="0"/>
                          </a:rPr>
                        </m:ctrlPr>
                      </m:accPr>
                      <m:e>
                        <m:r>
                          <a:rPr lang="fr-FR" sz="2400" i="1" noProof="0">
                            <a:latin typeface="Cambria Math" panose="02040503050406030204" pitchFamily="18" charset="0"/>
                          </a:rPr>
                          <m:t>𝐶</m:t>
                        </m:r>
                      </m:e>
                    </m:acc>
                    <m:d>
                      <m:dPr>
                        <m:ctrlPr>
                          <a:rPr lang="fr-FR" sz="2400" i="1" noProof="0">
                            <a:latin typeface="Cambria Math" panose="02040503050406030204" pitchFamily="18" charset="0"/>
                          </a:rPr>
                        </m:ctrlPr>
                      </m:dPr>
                      <m:e>
                        <m:r>
                          <a:rPr lang="fr-FR" sz="2400" i="1" noProof="0">
                            <a:latin typeface="Cambria Math" panose="02040503050406030204" pitchFamily="18" charset="0"/>
                          </a:rPr>
                          <m:t>𝑡</m:t>
                        </m:r>
                        <m:r>
                          <a:rPr lang="fr-FR" sz="2400" i="1" noProof="0">
                            <a:latin typeface="Cambria Math" panose="02040503050406030204" pitchFamily="18" charset="0"/>
                          </a:rPr>
                          <m:t>, </m:t>
                        </m:r>
                        <m:r>
                          <a:rPr lang="fr-FR" sz="2400" b="0" i="1" noProof="0" smtClean="0">
                            <a:latin typeface="Cambria Math" panose="02040503050406030204" pitchFamily="18" charset="0"/>
                          </a:rPr>
                          <m:t>𝑅</m:t>
                        </m:r>
                      </m:e>
                    </m:d>
                    <m:r>
                      <a:rPr lang="fr-FR" sz="2400" b="0" i="1" noProof="0" smtClean="0">
                        <a:latin typeface="Cambria Math" panose="02040503050406030204" pitchFamily="18" charset="0"/>
                      </a:rPr>
                      <m:t>=</m:t>
                    </m:r>
                    <m:r>
                      <a:rPr lang="fr-FR" sz="2400" i="1" noProof="0" smtClean="0">
                        <a:latin typeface="Cambria Math" panose="02040503050406030204" pitchFamily="18" charset="0"/>
                      </a:rPr>
                      <m:t>𝑡</m:t>
                    </m:r>
                    <m:r>
                      <m:rPr>
                        <m:sty m:val="p"/>
                      </m:rPr>
                      <a:rPr lang="fr-FR" sz="2400" i="1" noProof="0" smtClean="0">
                        <a:latin typeface="Cambria Math" panose="02040503050406030204" pitchFamily="18" charset="0"/>
                      </a:rPr>
                      <m:t>cos</m:t>
                    </m:r>
                    <m:d>
                      <m:dPr>
                        <m:ctrlPr>
                          <a:rPr lang="fr-FR" sz="2400" i="1" noProof="0" smtClean="0">
                            <a:latin typeface="Cambria Math" panose="02040503050406030204" pitchFamily="18" charset="0"/>
                          </a:rPr>
                        </m:ctrlPr>
                      </m:dPr>
                      <m:e>
                        <m:r>
                          <a:rPr lang="fr-FR" sz="2400" b="0" i="1" noProof="0" smtClean="0">
                            <a:latin typeface="Cambria Math" panose="02040503050406030204" pitchFamily="18" charset="0"/>
                          </a:rPr>
                          <m:t>𝑅</m:t>
                        </m:r>
                      </m:e>
                    </m:d>
                    <m:r>
                      <a:rPr lang="fr-FR" sz="2400" i="1" noProof="0" smtClean="0">
                        <a:latin typeface="Cambria Math" panose="02040503050406030204" pitchFamily="18" charset="0"/>
                      </a:rPr>
                      <m:t>+</m:t>
                    </m:r>
                    <m:sSup>
                      <m:sSupPr>
                        <m:ctrlPr>
                          <a:rPr lang="fr-FR" sz="2400" i="1" noProof="0" smtClean="0">
                            <a:latin typeface="Cambria Math" panose="02040503050406030204" pitchFamily="18" charset="0"/>
                          </a:rPr>
                        </m:ctrlPr>
                      </m:sSupPr>
                      <m:e>
                        <m:r>
                          <a:rPr lang="fr-FR" sz="2400" i="1" noProof="0" smtClean="0">
                            <a:latin typeface="Cambria Math" panose="02040503050406030204" pitchFamily="18" charset="0"/>
                          </a:rPr>
                          <m:t>𝑒</m:t>
                        </m:r>
                      </m:e>
                      <m:sup>
                        <m:r>
                          <a:rPr lang="fr-FR" sz="2400" b="0" i="1" noProof="0" smtClean="0">
                            <a:latin typeface="Cambria Math" panose="02040503050406030204" pitchFamily="18" charset="0"/>
                          </a:rPr>
                          <m:t>𝑅</m:t>
                        </m:r>
                      </m:sup>
                    </m:sSup>
                    <m:r>
                      <m:rPr>
                        <m:sty m:val="p"/>
                      </m:rPr>
                      <a:rPr lang="fr-FR" sz="2400" i="1" noProof="0" smtClean="0">
                        <a:latin typeface="Cambria Math" panose="02040503050406030204" pitchFamily="18" charset="0"/>
                      </a:rPr>
                      <m:t>sin</m:t>
                    </m:r>
                    <m:d>
                      <m:dPr>
                        <m:ctrlPr>
                          <a:rPr lang="fr-FR" sz="2400" i="1" noProof="0" smtClean="0">
                            <a:latin typeface="Cambria Math" panose="02040503050406030204" pitchFamily="18" charset="0"/>
                          </a:rPr>
                        </m:ctrlPr>
                      </m:dPr>
                      <m:e>
                        <m:r>
                          <a:rPr lang="fr-FR" sz="2400" i="1" noProof="0" smtClean="0">
                            <a:latin typeface="Cambria Math" panose="02040503050406030204" pitchFamily="18" charset="0"/>
                          </a:rPr>
                          <m:t>𝑡</m:t>
                        </m:r>
                      </m:e>
                    </m:d>
                  </m:oMath>
                </a14:m>
                <a:endParaRPr lang="fr-FR" sz="2400" noProof="0" dirty="0"/>
              </a:p>
              <a:p>
                <a:pPr marL="0" indent="0" algn="just">
                  <a:buNone/>
                </a:pPr>
                <a:endParaRPr lang="fr-FR" sz="2400" noProof="0" dirty="0"/>
              </a:p>
              <a:p>
                <a:pPr marL="0" indent="0" algn="just">
                  <a:buNone/>
                </a:pPr>
                <a:r>
                  <a:rPr lang="fr-FR" sz="2400" u="sng" noProof="0" dirty="0"/>
                  <a:t>Initiale</a:t>
                </a:r>
                <a:r>
                  <a:rPr lang="fr-FR" sz="2400" noProof="0" dirty="0"/>
                  <a:t> à </a:t>
                </a:r>
                <a14:m>
                  <m:oMath xmlns:m="http://schemas.openxmlformats.org/officeDocument/2006/math">
                    <m:r>
                      <a:rPr lang="fr-FR" sz="2400" b="0" i="1" noProof="0" smtClean="0">
                        <a:latin typeface="Cambria Math" panose="02040503050406030204" pitchFamily="18" charset="0"/>
                      </a:rPr>
                      <m:t>𝑡</m:t>
                    </m:r>
                    <m:r>
                      <a:rPr lang="fr-FR" sz="2400" b="0" i="1" noProof="0" smtClean="0">
                        <a:latin typeface="Cambria Math" panose="02040503050406030204" pitchFamily="18" charset="0"/>
                      </a:rPr>
                      <m:t>=0</m:t>
                    </m:r>
                  </m:oMath>
                </a14:m>
                <a:r>
                  <a:rPr lang="fr-FR" sz="2400" noProof="0" dirty="0"/>
                  <a:t>: </a:t>
                </a:r>
                <a14:m>
                  <m:oMath xmlns:m="http://schemas.openxmlformats.org/officeDocument/2006/math">
                    <m:acc>
                      <m:accPr>
                        <m:chr m:val="̂"/>
                        <m:ctrlPr>
                          <a:rPr lang="fr-FR" sz="2400" i="1" noProof="0">
                            <a:latin typeface="Cambria Math" panose="02040503050406030204" pitchFamily="18" charset="0"/>
                          </a:rPr>
                        </m:ctrlPr>
                      </m:accPr>
                      <m:e>
                        <m:r>
                          <a:rPr lang="fr-FR" sz="2400" i="1" noProof="0">
                            <a:latin typeface="Cambria Math" panose="02040503050406030204" pitchFamily="18" charset="0"/>
                          </a:rPr>
                          <m:t>𝐶</m:t>
                        </m:r>
                      </m:e>
                    </m:acc>
                    <m:d>
                      <m:dPr>
                        <m:ctrlPr>
                          <a:rPr lang="fr-FR" sz="2400" i="1" noProof="0">
                            <a:latin typeface="Cambria Math" panose="02040503050406030204" pitchFamily="18" charset="0"/>
                          </a:rPr>
                        </m:ctrlPr>
                      </m:dPr>
                      <m:e>
                        <m:r>
                          <a:rPr lang="fr-FR" sz="2400" b="0" i="1" noProof="0" smtClean="0">
                            <a:latin typeface="Cambria Math" panose="02040503050406030204" pitchFamily="18" charset="0"/>
                          </a:rPr>
                          <m:t>0,</m:t>
                        </m:r>
                        <m:r>
                          <a:rPr lang="fr-FR" sz="2400" i="1" noProof="0">
                            <a:latin typeface="Cambria Math" panose="02040503050406030204" pitchFamily="18" charset="0"/>
                          </a:rPr>
                          <m:t> </m:t>
                        </m:r>
                        <m:r>
                          <a:rPr lang="fr-FR" sz="2400" b="0" i="1" noProof="0" smtClean="0">
                            <a:latin typeface="Cambria Math" panose="02040503050406030204" pitchFamily="18" charset="0"/>
                          </a:rPr>
                          <m:t>𝑟</m:t>
                        </m:r>
                      </m:e>
                    </m:d>
                    <m:r>
                      <a:rPr lang="fr-FR" sz="2400" i="1" noProof="0">
                        <a:latin typeface="Cambria Math" panose="02040503050406030204" pitchFamily="18" charset="0"/>
                      </a:rPr>
                      <m:t>=</m:t>
                    </m:r>
                    <m:r>
                      <a:rPr lang="fr-FR" sz="2400" b="0" i="1" noProof="0" smtClean="0">
                        <a:latin typeface="Cambria Math" panose="02040503050406030204" pitchFamily="18" charset="0"/>
                      </a:rPr>
                      <m:t>0</m:t>
                    </m:r>
                  </m:oMath>
                </a14:m>
                <a:endParaRPr lang="fr-FR" sz="2400" noProof="0" dirty="0"/>
              </a:p>
            </p:txBody>
          </p:sp>
        </mc:Choice>
        <mc:Fallback>
          <p:sp>
            <p:nvSpPr>
              <p:cNvPr id="3" name="Espace réservé du contenu 2">
                <a:extLst>
                  <a:ext uri="{FF2B5EF4-FFF2-40B4-BE49-F238E27FC236}">
                    <a16:creationId xmlns:a16="http://schemas.microsoft.com/office/drawing/2014/main" id="{2415E09C-6A27-14DD-E7FD-613F1BAC7932}"/>
                  </a:ext>
                </a:extLst>
              </p:cNvPr>
              <p:cNvSpPr>
                <a:spLocks noGrp="1" noRot="1" noChangeAspect="1" noMove="1" noResize="1" noEditPoints="1" noAdjustHandles="1" noChangeArrowheads="1" noChangeShapeType="1" noTextEdit="1"/>
              </p:cNvSpPr>
              <p:nvPr>
                <p:ph idx="1"/>
              </p:nvPr>
            </p:nvSpPr>
            <p:spPr>
              <a:xfrm>
                <a:off x="838200" y="1282704"/>
                <a:ext cx="11306175" cy="5438770"/>
              </a:xfrm>
              <a:blipFill>
                <a:blip r:embed="rId2"/>
                <a:stretch>
                  <a:fillRect l="-863" t="-1568"/>
                </a:stretch>
              </a:blipFill>
              <a:ln>
                <a:noFill/>
              </a:ln>
            </p:spPr>
            <p:txBody>
              <a:bodyPr/>
              <a:lstStyle/>
              <a:p>
                <a:r>
                  <a:rPr lang="fr-FR">
                    <a:noFill/>
                  </a:rPr>
                  <a:t> </a:t>
                </a:r>
              </a:p>
            </p:txBody>
          </p:sp>
        </mc:Fallback>
      </mc:AlternateContent>
      <p:sp>
        <p:nvSpPr>
          <p:cNvPr id="5" name="Espace réservé du numéro de diapositive 4">
            <a:extLst>
              <a:ext uri="{FF2B5EF4-FFF2-40B4-BE49-F238E27FC236}">
                <a16:creationId xmlns:a16="http://schemas.microsoft.com/office/drawing/2014/main" id="{9BA15D92-5F03-2BFD-B854-6A53DEC265C9}"/>
              </a:ext>
            </a:extLst>
          </p:cNvPr>
          <p:cNvSpPr>
            <a:spLocks noGrp="1"/>
          </p:cNvSpPr>
          <p:nvPr>
            <p:ph type="sldNum" sz="quarter" idx="12"/>
          </p:nvPr>
        </p:nvSpPr>
        <p:spPr/>
        <p:txBody>
          <a:bodyPr/>
          <a:lstStyle/>
          <a:p>
            <a:r>
              <a:rPr lang="fr-FR" noProof="0" dirty="0"/>
              <a:t>6</a:t>
            </a:r>
          </a:p>
        </p:txBody>
      </p:sp>
      <p:sp>
        <p:nvSpPr>
          <p:cNvPr id="8" name="Flèche : pentagone 7">
            <a:extLst>
              <a:ext uri="{FF2B5EF4-FFF2-40B4-BE49-F238E27FC236}">
                <a16:creationId xmlns:a16="http://schemas.microsoft.com/office/drawing/2014/main" id="{B9A193FE-FB0B-E6B2-D4FB-11A462333FE9}"/>
              </a:ext>
            </a:extLst>
          </p:cNvPr>
          <p:cNvSpPr/>
          <p:nvPr/>
        </p:nvSpPr>
        <p:spPr>
          <a:xfrm rot="5400000">
            <a:off x="-242354" y="477313"/>
            <a:ext cx="1439333" cy="484708"/>
          </a:xfrm>
          <a:prstGeom prst="homePlate">
            <a:avLst/>
          </a:prstGeom>
          <a:solidFill>
            <a:schemeClr val="accent6">
              <a:lumMod val="60000"/>
              <a:lumOff val="40000"/>
            </a:schemeClr>
          </a:solidFill>
          <a:ln w="3810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noProof="0" dirty="0"/>
          </a:p>
        </p:txBody>
      </p:sp>
      <p:sp>
        <p:nvSpPr>
          <p:cNvPr id="9" name="Flèche : chevron 8">
            <a:extLst>
              <a:ext uri="{FF2B5EF4-FFF2-40B4-BE49-F238E27FC236}">
                <a16:creationId xmlns:a16="http://schemas.microsoft.com/office/drawing/2014/main" id="{EFEB9BDE-B8DD-2E0C-FBE1-0852C93CC895}"/>
              </a:ext>
            </a:extLst>
          </p:cNvPr>
          <p:cNvSpPr/>
          <p:nvPr/>
        </p:nvSpPr>
        <p:spPr>
          <a:xfrm rot="5400000">
            <a:off x="178860" y="1338800"/>
            <a:ext cx="596902" cy="484709"/>
          </a:xfrm>
          <a:prstGeom prst="chevron">
            <a:avLst/>
          </a:prstGeom>
          <a:solidFill>
            <a:schemeClr val="accent6">
              <a:lumMod val="60000"/>
              <a:lumOff val="4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solidFill>
                <a:schemeClr val="tx1"/>
              </a:solidFill>
            </a:endParaRPr>
          </a:p>
        </p:txBody>
      </p:sp>
      <p:cxnSp>
        <p:nvCxnSpPr>
          <p:cNvPr id="11" name="Connecteur droit 10">
            <a:extLst>
              <a:ext uri="{FF2B5EF4-FFF2-40B4-BE49-F238E27FC236}">
                <a16:creationId xmlns:a16="http://schemas.microsoft.com/office/drawing/2014/main" id="{CADF1724-48F5-106A-AE33-0246E5B24FCD}"/>
              </a:ext>
            </a:extLst>
          </p:cNvPr>
          <p:cNvCxnSpPr/>
          <p:nvPr/>
        </p:nvCxnSpPr>
        <p:spPr>
          <a:xfrm>
            <a:off x="862010" y="1210734"/>
            <a:ext cx="10332000" cy="0"/>
          </a:xfrm>
          <a:prstGeom prst="line">
            <a:avLst/>
          </a:prstGeom>
          <a:ln w="28575"/>
        </p:spPr>
        <p:style>
          <a:lnRef idx="3">
            <a:schemeClr val="accent6"/>
          </a:lnRef>
          <a:fillRef idx="0">
            <a:schemeClr val="accent6"/>
          </a:fillRef>
          <a:effectRef idx="2">
            <a:schemeClr val="accent6"/>
          </a:effectRef>
          <a:fontRef idx="minor">
            <a:schemeClr val="tx1"/>
          </a:fontRef>
        </p:style>
      </p:cxnSp>
      <p:pic>
        <p:nvPicPr>
          <p:cNvPr id="13" name="Image 12">
            <a:extLst>
              <a:ext uri="{FF2B5EF4-FFF2-40B4-BE49-F238E27FC236}">
                <a16:creationId xmlns:a16="http://schemas.microsoft.com/office/drawing/2014/main" id="{B2D4DDF6-3093-8381-17F4-19919DA9AEA0}"/>
              </a:ext>
            </a:extLst>
          </p:cNvPr>
          <p:cNvPicPr>
            <a:picLocks noChangeAspect="1"/>
          </p:cNvPicPr>
          <p:nvPr/>
        </p:nvPicPr>
        <p:blipFill>
          <a:blip r:embed="rId3"/>
          <a:stretch>
            <a:fillRect/>
          </a:stretch>
        </p:blipFill>
        <p:spPr>
          <a:xfrm>
            <a:off x="7409330" y="2967361"/>
            <a:ext cx="4487676" cy="3826082"/>
          </a:xfrm>
          <a:prstGeom prst="rect">
            <a:avLst/>
          </a:prstGeom>
        </p:spPr>
      </p:pic>
    </p:spTree>
    <p:extLst>
      <p:ext uri="{BB962C8B-B14F-4D97-AF65-F5344CB8AC3E}">
        <p14:creationId xmlns:p14="http://schemas.microsoft.com/office/powerpoint/2010/main" val="1784081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8F00A-D00C-D22C-9E36-F888DC3A17A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75774E5-552E-E494-1731-E253C3D4605D}"/>
              </a:ext>
            </a:extLst>
          </p:cNvPr>
          <p:cNvSpPr>
            <a:spLocks noGrp="1"/>
          </p:cNvSpPr>
          <p:nvPr>
            <p:ph type="title"/>
          </p:nvPr>
        </p:nvSpPr>
        <p:spPr>
          <a:xfrm>
            <a:off x="885824" y="420159"/>
            <a:ext cx="11306175" cy="790575"/>
          </a:xfrm>
        </p:spPr>
        <p:txBody>
          <a:bodyPr>
            <a:normAutofit/>
          </a:bodyPr>
          <a:lstStyle/>
          <a:p>
            <a:r>
              <a:rPr lang="fr-FR" noProof="0" dirty="0"/>
              <a:t>D. Analyse de convergence en espace</a:t>
            </a:r>
          </a:p>
        </p:txBody>
      </p:sp>
      <p:sp>
        <p:nvSpPr>
          <p:cNvPr id="5" name="Espace réservé du numéro de diapositive 4">
            <a:extLst>
              <a:ext uri="{FF2B5EF4-FFF2-40B4-BE49-F238E27FC236}">
                <a16:creationId xmlns:a16="http://schemas.microsoft.com/office/drawing/2014/main" id="{4CA638C5-8924-74C8-D175-042C16648FF0}"/>
              </a:ext>
            </a:extLst>
          </p:cNvPr>
          <p:cNvSpPr>
            <a:spLocks noGrp="1"/>
          </p:cNvSpPr>
          <p:nvPr>
            <p:ph type="sldNum" sz="quarter" idx="12"/>
          </p:nvPr>
        </p:nvSpPr>
        <p:spPr/>
        <p:txBody>
          <a:bodyPr/>
          <a:lstStyle/>
          <a:p>
            <a:r>
              <a:rPr lang="fr-FR" noProof="0" dirty="0"/>
              <a:t>7</a:t>
            </a:r>
          </a:p>
        </p:txBody>
      </p:sp>
      <p:sp>
        <p:nvSpPr>
          <p:cNvPr id="8" name="Flèche : pentagone 7">
            <a:extLst>
              <a:ext uri="{FF2B5EF4-FFF2-40B4-BE49-F238E27FC236}">
                <a16:creationId xmlns:a16="http://schemas.microsoft.com/office/drawing/2014/main" id="{98C02A22-3DCE-F249-30BE-8BEA6BB34114}"/>
              </a:ext>
            </a:extLst>
          </p:cNvPr>
          <p:cNvSpPr/>
          <p:nvPr/>
        </p:nvSpPr>
        <p:spPr>
          <a:xfrm rot="5400000">
            <a:off x="-242354" y="477313"/>
            <a:ext cx="1439333" cy="484708"/>
          </a:xfrm>
          <a:prstGeom prst="homePlate">
            <a:avLst/>
          </a:prstGeom>
          <a:solidFill>
            <a:schemeClr val="accent6">
              <a:lumMod val="60000"/>
              <a:lumOff val="40000"/>
            </a:schemeClr>
          </a:solidFill>
          <a:ln w="3810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noProof="0" dirty="0"/>
          </a:p>
        </p:txBody>
      </p:sp>
      <p:sp>
        <p:nvSpPr>
          <p:cNvPr id="9" name="Flèche : chevron 8">
            <a:extLst>
              <a:ext uri="{FF2B5EF4-FFF2-40B4-BE49-F238E27FC236}">
                <a16:creationId xmlns:a16="http://schemas.microsoft.com/office/drawing/2014/main" id="{649B31C1-38DF-AA8D-93B1-30F522EA1C1D}"/>
              </a:ext>
            </a:extLst>
          </p:cNvPr>
          <p:cNvSpPr/>
          <p:nvPr/>
        </p:nvSpPr>
        <p:spPr>
          <a:xfrm rot="5400000">
            <a:off x="178860" y="1338800"/>
            <a:ext cx="596902" cy="484709"/>
          </a:xfrm>
          <a:prstGeom prst="chevron">
            <a:avLst/>
          </a:prstGeom>
          <a:solidFill>
            <a:schemeClr val="accent6">
              <a:lumMod val="60000"/>
              <a:lumOff val="4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solidFill>
                <a:schemeClr val="tx1"/>
              </a:solidFill>
            </a:endParaRPr>
          </a:p>
        </p:txBody>
      </p:sp>
      <p:cxnSp>
        <p:nvCxnSpPr>
          <p:cNvPr id="11" name="Connecteur droit 10">
            <a:extLst>
              <a:ext uri="{FF2B5EF4-FFF2-40B4-BE49-F238E27FC236}">
                <a16:creationId xmlns:a16="http://schemas.microsoft.com/office/drawing/2014/main" id="{5AB281A3-F70D-C848-660C-E9A0522D475F}"/>
              </a:ext>
            </a:extLst>
          </p:cNvPr>
          <p:cNvCxnSpPr/>
          <p:nvPr/>
        </p:nvCxnSpPr>
        <p:spPr>
          <a:xfrm>
            <a:off x="862010" y="1210734"/>
            <a:ext cx="10332000" cy="0"/>
          </a:xfrm>
          <a:prstGeom prst="line">
            <a:avLst/>
          </a:prstGeom>
          <a:ln w="28575"/>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mc:Choice xmlns:a14="http://schemas.microsoft.com/office/drawing/2010/main" Requires="a14">
          <p:sp>
            <p:nvSpPr>
              <p:cNvPr id="4" name="Espace réservé du contenu 2">
                <a:extLst>
                  <a:ext uri="{FF2B5EF4-FFF2-40B4-BE49-F238E27FC236}">
                    <a16:creationId xmlns:a16="http://schemas.microsoft.com/office/drawing/2014/main" id="{14B3A416-7EDF-E7D9-2D3A-82048FB55372}"/>
                  </a:ext>
                </a:extLst>
              </p:cNvPr>
              <p:cNvSpPr>
                <a:spLocks noGrp="1"/>
              </p:cNvSpPr>
              <p:nvPr>
                <p:ph idx="1"/>
              </p:nvPr>
            </p:nvSpPr>
            <p:spPr>
              <a:xfrm>
                <a:off x="838200" y="1282702"/>
                <a:ext cx="6194612" cy="3885363"/>
              </a:xfrm>
              <a:ln>
                <a:noFill/>
              </a:ln>
            </p:spPr>
            <p:style>
              <a:lnRef idx="2">
                <a:schemeClr val="dk1"/>
              </a:lnRef>
              <a:fillRef idx="1">
                <a:schemeClr val="lt1"/>
              </a:fillRef>
              <a:effectRef idx="0">
                <a:schemeClr val="dk1"/>
              </a:effectRef>
              <a:fontRef idx="minor">
                <a:schemeClr val="dk1"/>
              </a:fontRef>
            </p:style>
            <p:txBody>
              <a:bodyPr>
                <a:normAutofit/>
              </a:bodyPr>
              <a:lstStyle/>
              <a:p>
                <a:pPr marL="514350" indent="-514350" algn="just">
                  <a:buFont typeface="+mj-lt"/>
                  <a:buAutoNum type="romanUcPeriod"/>
                </a:pPr>
                <a:r>
                  <a:rPr lang="fr-FR" sz="2400" noProof="0" dirty="0"/>
                  <a:t>Paramètres de simulation :</a:t>
                </a:r>
              </a:p>
              <a:p>
                <a:pPr marL="914400" lvl="1" indent="-457200" algn="just">
                  <a:buFont typeface="+mj-lt"/>
                  <a:buAutoNum type="arabicPeriod"/>
                </a:pPr>
                <a14:m>
                  <m:oMath xmlns:m="http://schemas.openxmlformats.org/officeDocument/2006/math">
                    <m:r>
                      <a:rPr lang="fr-FR" sz="2000" b="0" i="0" noProof="0" smtClean="0">
                        <a:latin typeface="Cambria Math" panose="02040503050406030204" pitchFamily="18" charset="0"/>
                      </a:rPr>
                      <m:t> </m:t>
                    </m:r>
                    <m:sSub>
                      <m:sSubPr>
                        <m:ctrlPr>
                          <a:rPr lang="fr-FR" sz="2000" b="0" i="1" noProof="0" smtClean="0">
                            <a:latin typeface="Cambria Math" panose="02040503050406030204" pitchFamily="18" charset="0"/>
                          </a:rPr>
                        </m:ctrlPr>
                      </m:sSubPr>
                      <m:e>
                        <m:r>
                          <m:rPr>
                            <m:sty m:val="p"/>
                          </m:rPr>
                          <a:rPr lang="fr-FR" sz="2000" b="0" i="0" noProof="0" smtClean="0">
                            <a:latin typeface="Cambria Math" panose="02040503050406030204" pitchFamily="18" charset="0"/>
                          </a:rPr>
                          <m:t>Temps</m:t>
                        </m:r>
                      </m:e>
                      <m:sub>
                        <m:r>
                          <a:rPr lang="fr-FR" sz="2000" b="0" i="1" noProof="0" smtClean="0">
                            <a:latin typeface="Cambria Math" panose="02040503050406030204" pitchFamily="18" charset="0"/>
                          </a:rPr>
                          <m:t>𝑚𝑎𝑥</m:t>
                        </m:r>
                      </m:sub>
                    </m:sSub>
                    <m:r>
                      <a:rPr lang="fr-FR" sz="2000" b="0" i="1" noProof="0" smtClean="0">
                        <a:latin typeface="Cambria Math" panose="02040503050406030204" pitchFamily="18" charset="0"/>
                      </a:rPr>
                      <m:t>=</m:t>
                    </m:r>
                    <m:r>
                      <a:rPr lang="fr-FR" sz="2000" b="0" i="1" noProof="0" smtClean="0">
                        <a:latin typeface="Cambria Math" panose="02040503050406030204" pitchFamily="18" charset="0"/>
                      </a:rPr>
                      <m:t>4×</m:t>
                    </m:r>
                    <m:sSup>
                      <m:sSupPr>
                        <m:ctrlPr>
                          <a:rPr lang="fr-FR" sz="2000" b="0" i="1" noProof="0" smtClean="0">
                            <a:latin typeface="Cambria Math" panose="02040503050406030204" pitchFamily="18" charset="0"/>
                          </a:rPr>
                        </m:ctrlPr>
                      </m:sSupPr>
                      <m:e>
                        <m:r>
                          <a:rPr lang="fr-FR" sz="2000" b="0" i="1" noProof="0" smtClean="0">
                            <a:latin typeface="Cambria Math" panose="02040503050406030204" pitchFamily="18" charset="0"/>
                          </a:rPr>
                          <m:t>10</m:t>
                        </m:r>
                      </m:e>
                      <m:sup>
                        <m:r>
                          <a:rPr lang="fr-FR" sz="2000" b="0" i="1" noProof="0" smtClean="0">
                            <a:latin typeface="Cambria Math" panose="02040503050406030204" pitchFamily="18" charset="0"/>
                          </a:rPr>
                          <m:t>9</m:t>
                        </m:r>
                      </m:sup>
                    </m:sSup>
                    <m:r>
                      <a:rPr lang="fr-FR" sz="2000" b="0" i="1" noProof="0" smtClean="0">
                        <a:latin typeface="Cambria Math" panose="02040503050406030204" pitchFamily="18" charset="0"/>
                      </a:rPr>
                      <m:t>𝑠</m:t>
                    </m:r>
                  </m:oMath>
                </a14:m>
                <a:endParaRPr lang="fr-FR" sz="2000" noProof="0" dirty="0"/>
              </a:p>
              <a:p>
                <a:pPr marL="914400" lvl="1" indent="-457200" algn="just">
                  <a:buFont typeface="+mj-lt"/>
                  <a:buAutoNum type="arabicPeriod"/>
                </a:pPr>
                <a14:m>
                  <m:oMath xmlns:m="http://schemas.openxmlformats.org/officeDocument/2006/math">
                    <m:r>
                      <a:rPr lang="fr-FR" sz="2000" b="0" i="0" noProof="0" smtClean="0">
                        <a:latin typeface="Cambria Math" panose="02040503050406030204" pitchFamily="18" charset="0"/>
                      </a:rPr>
                      <m:t> </m:t>
                    </m:r>
                    <m:r>
                      <m:rPr>
                        <m:sty m:val="p"/>
                      </m:rPr>
                      <a:rPr lang="fr-FR" sz="2000" b="0" i="0" noProof="0" smtClean="0">
                        <a:latin typeface="Cambria Math" panose="02040503050406030204" pitchFamily="18" charset="0"/>
                      </a:rPr>
                      <m:t>Δ</m:t>
                    </m:r>
                    <m:r>
                      <a:rPr lang="fr-FR" sz="2000" i="1" noProof="0" smtClean="0">
                        <a:latin typeface="Cambria Math" panose="02040503050406030204" pitchFamily="18" charset="0"/>
                      </a:rPr>
                      <m:t>𝑡</m:t>
                    </m:r>
                    <m:r>
                      <a:rPr lang="fr-FR" sz="2000" i="1" noProof="0" smtClean="0">
                        <a:latin typeface="Cambria Math" panose="02040503050406030204" pitchFamily="18" charset="0"/>
                      </a:rPr>
                      <m:t>=40404040.4</m:t>
                    </m:r>
                    <m:r>
                      <a:rPr lang="fr-FR" sz="2000" b="0" i="1" noProof="0" smtClean="0">
                        <a:latin typeface="Cambria Math" panose="02040503050406030204" pitchFamily="18" charset="0"/>
                      </a:rPr>
                      <m:t>𝑠</m:t>
                    </m:r>
                  </m:oMath>
                </a14:m>
                <a:endParaRPr lang="fr-FR" sz="2000" b="0" i="0" noProof="0" dirty="0">
                  <a:latin typeface="Cambria Math" panose="02040503050406030204" pitchFamily="18" charset="0"/>
                </a:endParaRPr>
              </a:p>
              <a:p>
                <a:pPr marL="914400" lvl="1" indent="-457200" algn="just">
                  <a:buFont typeface="+mj-lt"/>
                  <a:buAutoNum type="arabicPeriod"/>
                </a:pPr>
                <a14:m>
                  <m:oMath xmlns:m="http://schemas.openxmlformats.org/officeDocument/2006/math">
                    <m:r>
                      <a:rPr lang="fr-FR" sz="2000" b="0" i="0" noProof="0" smtClean="0">
                        <a:latin typeface="Cambria Math" panose="02040503050406030204" pitchFamily="18" charset="0"/>
                      </a:rPr>
                      <m:t> </m:t>
                    </m:r>
                    <m:r>
                      <m:rPr>
                        <m:sty m:val="p"/>
                      </m:rPr>
                      <a:rPr lang="fr-FR" sz="2000" b="0" i="0" noProof="0" smtClean="0">
                        <a:latin typeface="Cambria Math" panose="02040503050406030204" pitchFamily="18" charset="0"/>
                      </a:rPr>
                      <m:t>R</m:t>
                    </m:r>
                    <m:r>
                      <a:rPr lang="fr-FR" sz="2000" i="0" noProof="0">
                        <a:latin typeface="Cambria Math" panose="02040503050406030204" pitchFamily="18" charset="0"/>
                      </a:rPr>
                      <m:t>=</m:t>
                    </m:r>
                    <m:r>
                      <a:rPr lang="fr-FR" sz="2000" b="0" i="0" noProof="0" smtClean="0">
                        <a:latin typeface="Cambria Math" panose="02040503050406030204" pitchFamily="18" charset="0"/>
                      </a:rPr>
                      <m:t>0.5 </m:t>
                    </m:r>
                    <m:r>
                      <m:rPr>
                        <m:sty m:val="p"/>
                      </m:rPr>
                      <a:rPr lang="fr-FR" sz="2000" b="0" i="0" noProof="0" smtClean="0">
                        <a:latin typeface="Cambria Math" panose="02040503050406030204" pitchFamily="18" charset="0"/>
                      </a:rPr>
                      <m:t>m</m:t>
                    </m:r>
                  </m:oMath>
                </a14:m>
                <a:endParaRPr lang="fr-FR" sz="2000" noProof="0" dirty="0"/>
              </a:p>
              <a:p>
                <a:pPr marL="914400" lvl="1" indent="-457200" algn="just">
                  <a:buFont typeface="+mj-lt"/>
                  <a:buAutoNum type="arabicPeriod"/>
                </a:pPr>
                <a14:m>
                  <m:oMath xmlns:m="http://schemas.openxmlformats.org/officeDocument/2006/math">
                    <m:sSub>
                      <m:sSubPr>
                        <m:ctrlPr>
                          <a:rPr lang="fr-FR" sz="2000" i="1" noProof="0">
                            <a:latin typeface="Cambria Math" panose="02040503050406030204" pitchFamily="18" charset="0"/>
                          </a:rPr>
                        </m:ctrlPr>
                      </m:sSubPr>
                      <m:e>
                        <m:r>
                          <a:rPr lang="fr-FR" sz="2000" i="1" noProof="0">
                            <a:latin typeface="Cambria Math" panose="02040503050406030204" pitchFamily="18" charset="0"/>
                          </a:rPr>
                          <m:t>𝐷</m:t>
                        </m:r>
                      </m:e>
                      <m:sub>
                        <m:r>
                          <m:rPr>
                            <m:sty m:val="p"/>
                          </m:rPr>
                          <a:rPr lang="fr-FR" sz="2000" i="1" noProof="0">
                            <a:latin typeface="Cambria Math" panose="02040503050406030204" pitchFamily="18" charset="0"/>
                          </a:rPr>
                          <m:t>eff</m:t>
                        </m:r>
                      </m:sub>
                    </m:sSub>
                    <m:r>
                      <a:rPr lang="fr-FR" sz="2000" i="1" noProof="0">
                        <a:latin typeface="Cambria Math" panose="02040503050406030204" pitchFamily="18" charset="0"/>
                      </a:rPr>
                      <m:t>=</m:t>
                    </m:r>
                    <m:r>
                      <a:rPr lang="fr-FR" sz="2000" b="0" i="1" noProof="0" smtClean="0">
                        <a:latin typeface="Cambria Math" panose="02040503050406030204" pitchFamily="18" charset="0"/>
                      </a:rPr>
                      <m:t>1</m:t>
                    </m:r>
                    <m:f>
                      <m:fPr>
                        <m:ctrlPr>
                          <a:rPr lang="fr-FR" sz="2000" b="0" i="1" noProof="0" smtClean="0">
                            <a:latin typeface="Cambria Math" panose="02040503050406030204" pitchFamily="18" charset="0"/>
                          </a:rPr>
                        </m:ctrlPr>
                      </m:fPr>
                      <m:num>
                        <m:sSup>
                          <m:sSupPr>
                            <m:ctrlPr>
                              <a:rPr lang="fr-FR" sz="2000" b="0" i="1" noProof="0" smtClean="0">
                                <a:latin typeface="Cambria Math" panose="02040503050406030204" pitchFamily="18" charset="0"/>
                              </a:rPr>
                            </m:ctrlPr>
                          </m:sSupPr>
                          <m:e>
                            <m:r>
                              <a:rPr lang="fr-FR" sz="2000" b="0" i="1" noProof="0" smtClean="0">
                                <a:latin typeface="Cambria Math" panose="02040503050406030204" pitchFamily="18" charset="0"/>
                              </a:rPr>
                              <m:t>𝑚</m:t>
                            </m:r>
                          </m:e>
                          <m:sup>
                            <m:r>
                              <a:rPr lang="fr-FR" sz="2000" b="0" i="1" noProof="0" smtClean="0">
                                <a:latin typeface="Cambria Math" panose="02040503050406030204" pitchFamily="18" charset="0"/>
                              </a:rPr>
                              <m:t>2</m:t>
                            </m:r>
                          </m:sup>
                        </m:sSup>
                      </m:num>
                      <m:den>
                        <m:r>
                          <a:rPr lang="fr-FR" sz="2000" b="0" i="1" noProof="0" smtClean="0">
                            <a:latin typeface="Cambria Math" panose="02040503050406030204" pitchFamily="18" charset="0"/>
                          </a:rPr>
                          <m:t>𝑠</m:t>
                        </m:r>
                      </m:den>
                    </m:f>
                  </m:oMath>
                </a14:m>
                <a:r>
                  <a:rPr lang="fr-FR" sz="2000" noProof="0" dirty="0"/>
                  <a:t>  </a:t>
                </a:r>
              </a:p>
              <a:p>
                <a:pPr marL="914400" lvl="1" indent="-457200" algn="just">
                  <a:buFont typeface="+mj-lt"/>
                  <a:buAutoNum type="arabicPeriod"/>
                </a:pPr>
                <a14:m>
                  <m:oMath xmlns:m="http://schemas.openxmlformats.org/officeDocument/2006/math">
                    <m:r>
                      <a:rPr lang="fr-FR" sz="2000" noProof="0">
                        <a:latin typeface="Cambria Math" panose="02040503050406030204" pitchFamily="18" charset="0"/>
                      </a:rPr>
                      <m:t> </m:t>
                    </m:r>
                    <m:r>
                      <a:rPr lang="fr-FR" sz="2000" b="0" i="1" noProof="0" smtClean="0">
                        <a:latin typeface="Cambria Math" panose="02040503050406030204" pitchFamily="18" charset="0"/>
                      </a:rPr>
                      <m:t>𝑘</m:t>
                    </m:r>
                    <m:r>
                      <a:rPr lang="fr-FR" sz="2000" i="1" noProof="0">
                        <a:latin typeface="Cambria Math" panose="02040503050406030204" pitchFamily="18" charset="0"/>
                      </a:rPr>
                      <m:t>=</m:t>
                    </m:r>
                    <m:r>
                      <a:rPr lang="fr-FR" sz="2000" b="0" i="1" noProof="0" smtClean="0">
                        <a:latin typeface="Cambria Math" panose="02040503050406030204" pitchFamily="18" charset="0"/>
                      </a:rPr>
                      <m:t>4 </m:t>
                    </m:r>
                    <m:f>
                      <m:fPr>
                        <m:ctrlPr>
                          <a:rPr lang="fr-FR" sz="2000" b="0" i="1" noProof="0" smtClean="0">
                            <a:latin typeface="Cambria Math" panose="02040503050406030204" pitchFamily="18" charset="0"/>
                          </a:rPr>
                        </m:ctrlPr>
                      </m:fPr>
                      <m:num>
                        <m:r>
                          <a:rPr lang="fr-FR" sz="2000" b="0" i="1" noProof="0" smtClean="0">
                            <a:latin typeface="Cambria Math" panose="02040503050406030204" pitchFamily="18" charset="0"/>
                          </a:rPr>
                          <m:t>1</m:t>
                        </m:r>
                      </m:num>
                      <m:den>
                        <m:r>
                          <a:rPr lang="fr-FR" sz="2000" b="0" i="1" noProof="0" smtClean="0">
                            <a:latin typeface="Cambria Math" panose="02040503050406030204" pitchFamily="18" charset="0"/>
                          </a:rPr>
                          <m:t>𝑠</m:t>
                        </m:r>
                      </m:den>
                    </m:f>
                  </m:oMath>
                </a14:m>
                <a:endParaRPr lang="fr-FR" sz="2000" noProof="0" dirty="0"/>
              </a:p>
              <a:p>
                <a:pPr marL="457200" indent="-457200" algn="just">
                  <a:buFont typeface="+mj-lt"/>
                  <a:buAutoNum type="romanUcPeriod"/>
                </a:pPr>
                <a:r>
                  <a:rPr lang="fr-FR" sz="2400" noProof="0" dirty="0"/>
                  <a:t>Erreurs </a:t>
                </a:r>
                <a14:m>
                  <m:oMath xmlns:m="http://schemas.openxmlformats.org/officeDocument/2006/math">
                    <m:sSub>
                      <m:sSubPr>
                        <m:ctrlPr>
                          <a:rPr lang="fr-FR" sz="2400" b="0" i="1" noProof="0" smtClean="0">
                            <a:latin typeface="Cambria Math" panose="02040503050406030204" pitchFamily="18" charset="0"/>
                          </a:rPr>
                        </m:ctrlPr>
                      </m:sSubPr>
                      <m:e>
                        <m:r>
                          <a:rPr lang="fr-FR" sz="2400" b="0" i="1" noProof="0" smtClean="0">
                            <a:latin typeface="Cambria Math" panose="02040503050406030204" pitchFamily="18" charset="0"/>
                          </a:rPr>
                          <m:t>𝐿</m:t>
                        </m:r>
                      </m:e>
                      <m:sub>
                        <m:r>
                          <a:rPr lang="fr-FR" sz="2400" b="0" i="1" noProof="0" smtClean="0">
                            <a:latin typeface="Cambria Math" panose="02040503050406030204" pitchFamily="18" charset="0"/>
                          </a:rPr>
                          <m:t>1</m:t>
                        </m:r>
                      </m:sub>
                    </m:sSub>
                    <m:r>
                      <a:rPr lang="fr-FR" sz="2400" b="0" i="1" noProof="0" smtClean="0">
                        <a:latin typeface="Cambria Math" panose="02040503050406030204" pitchFamily="18" charset="0"/>
                      </a:rPr>
                      <m:t>, </m:t>
                    </m:r>
                    <m:sSub>
                      <m:sSubPr>
                        <m:ctrlPr>
                          <a:rPr lang="fr-FR" sz="2400" b="0" i="1" noProof="0" smtClean="0">
                            <a:latin typeface="Cambria Math" panose="02040503050406030204" pitchFamily="18" charset="0"/>
                          </a:rPr>
                        </m:ctrlPr>
                      </m:sSubPr>
                      <m:e>
                        <m:r>
                          <a:rPr lang="fr-FR" sz="2400" b="0" i="1" noProof="0" smtClean="0">
                            <a:latin typeface="Cambria Math" panose="02040503050406030204" pitchFamily="18" charset="0"/>
                          </a:rPr>
                          <m:t>𝐿</m:t>
                        </m:r>
                      </m:e>
                      <m:sub>
                        <m:r>
                          <a:rPr lang="fr-FR" sz="2400" b="0" i="1" noProof="0" smtClean="0">
                            <a:latin typeface="Cambria Math" panose="02040503050406030204" pitchFamily="18" charset="0"/>
                          </a:rPr>
                          <m:t>2</m:t>
                        </m:r>
                      </m:sub>
                    </m:sSub>
                    <m:r>
                      <a:rPr lang="fr-FR" sz="2400" b="0" i="1" noProof="0" smtClean="0">
                        <a:latin typeface="Cambria Math" panose="02040503050406030204" pitchFamily="18" charset="0"/>
                      </a:rPr>
                      <m:t> </m:t>
                    </m:r>
                    <m:r>
                      <m:rPr>
                        <m:sty m:val="p"/>
                      </m:rPr>
                      <a:rPr lang="fr-FR" sz="2400" b="0" i="0" noProof="0" smtClean="0">
                        <a:latin typeface="Cambria Math" panose="02040503050406030204" pitchFamily="18" charset="0"/>
                      </a:rPr>
                      <m:t>et</m:t>
                    </m:r>
                    <m:r>
                      <a:rPr lang="fr-FR" sz="2400" b="0" i="1" noProof="0" smtClean="0">
                        <a:latin typeface="Cambria Math" panose="02040503050406030204" pitchFamily="18" charset="0"/>
                      </a:rPr>
                      <m:t> </m:t>
                    </m:r>
                    <m:sSub>
                      <m:sSubPr>
                        <m:ctrlPr>
                          <a:rPr lang="fr-FR" sz="2400" b="0" i="1" noProof="0" smtClean="0">
                            <a:latin typeface="Cambria Math" panose="02040503050406030204" pitchFamily="18" charset="0"/>
                          </a:rPr>
                        </m:ctrlPr>
                      </m:sSubPr>
                      <m:e>
                        <m:r>
                          <a:rPr lang="fr-FR" sz="2400" b="0" i="1" noProof="0" smtClean="0">
                            <a:latin typeface="Cambria Math" panose="02040503050406030204" pitchFamily="18" charset="0"/>
                          </a:rPr>
                          <m:t>𝐿</m:t>
                        </m:r>
                      </m:e>
                      <m:sub>
                        <m:r>
                          <a:rPr lang="fr-FR" sz="2400" i="1" noProof="0" smtClean="0">
                            <a:latin typeface="Cambria Math" panose="02040503050406030204" pitchFamily="18" charset="0"/>
                            <a:ea typeface="Cambria Math" panose="02040503050406030204" pitchFamily="18" charset="0"/>
                          </a:rPr>
                          <m:t>∞</m:t>
                        </m:r>
                      </m:sub>
                    </m:sSub>
                  </m:oMath>
                </a14:m>
                <a:r>
                  <a:rPr lang="fr-FR" sz="2400" noProof="0" dirty="0"/>
                  <a:t>:</a:t>
                </a:r>
              </a:p>
              <a:p>
                <a:pPr marL="457200" lvl="1" indent="0" algn="just">
                  <a:buNone/>
                </a:pPr>
                <a:r>
                  <a:rPr lang="fr-FR" sz="2000" noProof="0" dirty="0"/>
                  <a:t>L’ordre d’erreur en espace colle bien à l’ordre de 2 théorique du schéma et on voit aussi que l’erreur convergent vers 0 quand </a:t>
                </a:r>
                <a14:m>
                  <m:oMath xmlns:m="http://schemas.openxmlformats.org/officeDocument/2006/math">
                    <m:r>
                      <m:rPr>
                        <m:sty m:val="p"/>
                      </m:rPr>
                      <a:rPr lang="fr-FR" sz="2000" noProof="0" smtClean="0">
                        <a:latin typeface="Cambria Math" panose="02040503050406030204" pitchFamily="18" charset="0"/>
                      </a:rPr>
                      <m:t>Δ</m:t>
                    </m:r>
                    <m:r>
                      <m:rPr>
                        <m:sty m:val="p"/>
                      </m:rPr>
                      <a:rPr lang="fr-FR" sz="2000" b="0" i="0" noProof="0" smtClean="0">
                        <a:latin typeface="Cambria Math" panose="02040503050406030204" pitchFamily="18" charset="0"/>
                      </a:rPr>
                      <m:t>r</m:t>
                    </m:r>
                    <m:r>
                      <a:rPr lang="fr-FR" sz="2000" b="0" i="0" noProof="0" smtClean="0">
                        <a:latin typeface="Cambria Math" panose="02040503050406030204" pitchFamily="18" charset="0"/>
                      </a:rPr>
                      <m:t>→0</m:t>
                    </m:r>
                  </m:oMath>
                </a14:m>
                <a:r>
                  <a:rPr lang="fr-FR" sz="2000" noProof="0" dirty="0"/>
                  <a:t>. </a:t>
                </a:r>
              </a:p>
            </p:txBody>
          </p:sp>
        </mc:Choice>
        <mc:Fallback>
          <p:sp>
            <p:nvSpPr>
              <p:cNvPr id="4" name="Espace réservé du contenu 2">
                <a:extLst>
                  <a:ext uri="{FF2B5EF4-FFF2-40B4-BE49-F238E27FC236}">
                    <a16:creationId xmlns:a16="http://schemas.microsoft.com/office/drawing/2014/main" id="{14B3A416-7EDF-E7D9-2D3A-82048FB55372}"/>
                  </a:ext>
                </a:extLst>
              </p:cNvPr>
              <p:cNvSpPr>
                <a:spLocks noGrp="1" noRot="1" noChangeAspect="1" noMove="1" noResize="1" noEditPoints="1" noAdjustHandles="1" noChangeArrowheads="1" noChangeShapeType="1" noTextEdit="1"/>
              </p:cNvSpPr>
              <p:nvPr>
                <p:ph idx="1"/>
              </p:nvPr>
            </p:nvSpPr>
            <p:spPr>
              <a:xfrm>
                <a:off x="838200" y="1282702"/>
                <a:ext cx="6194612" cy="3885363"/>
              </a:xfrm>
              <a:blipFill>
                <a:blip r:embed="rId2"/>
                <a:stretch>
                  <a:fillRect l="-1575" t="-2351" r="-984"/>
                </a:stretch>
              </a:blipFill>
              <a:ln>
                <a:noFill/>
              </a:ln>
            </p:spPr>
            <p:txBody>
              <a:bodyPr/>
              <a:lstStyle/>
              <a:p>
                <a:r>
                  <a:rPr lang="fr-FR">
                    <a:noFill/>
                  </a:rPr>
                  <a:t> </a:t>
                </a:r>
              </a:p>
            </p:txBody>
          </p:sp>
        </mc:Fallback>
      </mc:AlternateContent>
      <p:pic>
        <p:nvPicPr>
          <p:cNvPr id="13" name="Image 12">
            <a:extLst>
              <a:ext uri="{FF2B5EF4-FFF2-40B4-BE49-F238E27FC236}">
                <a16:creationId xmlns:a16="http://schemas.microsoft.com/office/drawing/2014/main" id="{1F7EC559-6BB1-5FAA-CEB5-AD9E816A8638}"/>
              </a:ext>
            </a:extLst>
          </p:cNvPr>
          <p:cNvPicPr>
            <a:picLocks noChangeAspect="1"/>
          </p:cNvPicPr>
          <p:nvPr/>
        </p:nvPicPr>
        <p:blipFill>
          <a:blip r:embed="rId3"/>
          <a:stretch>
            <a:fillRect/>
          </a:stretch>
        </p:blipFill>
        <p:spPr>
          <a:xfrm>
            <a:off x="6881642" y="1282701"/>
            <a:ext cx="5186082" cy="3885366"/>
          </a:xfrm>
          <a:prstGeom prst="rect">
            <a:avLst/>
          </a:prstGeom>
        </p:spPr>
      </p:pic>
      <mc:AlternateContent xmlns:mc="http://schemas.openxmlformats.org/markup-compatibility/2006">
        <mc:Choice xmlns:a14="http://schemas.microsoft.com/office/drawing/2010/main" Requires="a14">
          <p:sp>
            <p:nvSpPr>
              <p:cNvPr id="16" name="Espace réservé du contenu 2">
                <a:extLst>
                  <a:ext uri="{FF2B5EF4-FFF2-40B4-BE49-F238E27FC236}">
                    <a16:creationId xmlns:a16="http://schemas.microsoft.com/office/drawing/2014/main" id="{4E5676A1-AAD6-E8FE-CC09-0A8E3998C428}"/>
                  </a:ext>
                </a:extLst>
              </p:cNvPr>
              <p:cNvSpPr txBox="1">
                <a:spLocks/>
              </p:cNvSpPr>
              <p:nvPr/>
            </p:nvSpPr>
            <p:spPr>
              <a:xfrm>
                <a:off x="838200" y="5168065"/>
                <a:ext cx="10355810" cy="1553410"/>
              </a:xfrm>
              <a:prstGeom prst="rect">
                <a:avLst/>
              </a:prstGeom>
              <a:ln w="12700" cap="flat" cmpd="sng" algn="ctr">
                <a:noFill/>
                <a:prstDash val="solid"/>
                <a:miter lim="800000"/>
              </a:ln>
            </p:spPr>
            <p:style>
              <a:lnRef idx="2">
                <a:schemeClr val="dk1"/>
              </a:lnRef>
              <a:fillRef idx="1">
                <a:schemeClr val="lt1"/>
              </a:fillRef>
              <a:effectRef idx="0">
                <a:schemeClr val="dk1"/>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14350" indent="-514350" algn="just">
                  <a:buFont typeface="+mj-lt"/>
                  <a:buAutoNum type="romanUcPeriod" startAt="3"/>
                </a:pPr>
                <a:r>
                  <a:rPr lang="fr-FR" sz="2400" noProof="0" dirty="0"/>
                  <a:t>Observations :</a:t>
                </a:r>
              </a:p>
              <a:p>
                <a:pPr marL="457200" lvl="1" indent="0" algn="just">
                  <a:buNone/>
                </a:pPr>
                <a:r>
                  <a:rPr lang="fr-FR" sz="2000" noProof="0" dirty="0"/>
                  <a:t>Le Temps maximum choisis, ainsi que le </a:t>
                </a:r>
                <a14:m>
                  <m:oMath xmlns:m="http://schemas.openxmlformats.org/officeDocument/2006/math">
                    <m:r>
                      <m:rPr>
                        <m:sty m:val="p"/>
                      </m:rPr>
                      <a:rPr lang="fr-FR" sz="2000" noProof="0" smtClean="0">
                        <a:latin typeface="Cambria Math" panose="02040503050406030204" pitchFamily="18" charset="0"/>
                      </a:rPr>
                      <m:t>Δ</m:t>
                    </m:r>
                    <m:r>
                      <a:rPr lang="fr-FR" sz="2000" i="1" noProof="0" smtClean="0">
                        <a:latin typeface="Cambria Math" panose="02040503050406030204" pitchFamily="18" charset="0"/>
                      </a:rPr>
                      <m:t>𝑡</m:t>
                    </m:r>
                  </m:oMath>
                </a14:m>
                <a:r>
                  <a:rPr lang="fr-FR" sz="2000" noProof="0" dirty="0"/>
                  <a:t>, sont une conséquence de la MMS choisis. C’est avec ces valeurs que l’on a pu percevoir un ordre de 2. De plus, on voit que l’erreur absolu est assez grande (De </a:t>
                </a:r>
                <a14:m>
                  <m:oMath xmlns:m="http://schemas.openxmlformats.org/officeDocument/2006/math">
                    <m:sSup>
                      <m:sSupPr>
                        <m:ctrlPr>
                          <a:rPr lang="fr-FR" sz="2000" i="1" noProof="0" smtClean="0">
                            <a:latin typeface="Cambria Math" panose="02040503050406030204" pitchFamily="18" charset="0"/>
                          </a:rPr>
                        </m:ctrlPr>
                      </m:sSupPr>
                      <m:e>
                        <m:r>
                          <a:rPr lang="fr-FR" sz="2000" i="1" noProof="0">
                            <a:latin typeface="Cambria Math" panose="02040503050406030204" pitchFamily="18" charset="0"/>
                          </a:rPr>
                          <m:t>10</m:t>
                        </m:r>
                      </m:e>
                      <m:sup>
                        <m:r>
                          <a:rPr lang="fr-FR" sz="2000" i="1" noProof="0" smtClean="0">
                            <a:latin typeface="Cambria Math" panose="02040503050406030204" pitchFamily="18" charset="0"/>
                          </a:rPr>
                          <m:t>2</m:t>
                        </m:r>
                      </m:sup>
                    </m:sSup>
                    <m:r>
                      <m:rPr>
                        <m:lit/>
                      </m:rPr>
                      <a:rPr lang="fr-FR" sz="2000" i="1" noProof="0" smtClean="0">
                        <a:latin typeface="Cambria Math" panose="02040503050406030204" pitchFamily="18" charset="0"/>
                      </a:rPr>
                      <m:t> </m:t>
                    </m:r>
                    <m:r>
                      <a:rPr lang="fr-FR" sz="2000" i="1" noProof="0">
                        <a:latin typeface="Cambria Math" panose="02040503050406030204" pitchFamily="18" charset="0"/>
                      </a:rPr>
                      <m:t>à </m:t>
                    </m:r>
                    <m:sSup>
                      <m:sSupPr>
                        <m:ctrlPr>
                          <a:rPr lang="fr-FR" sz="2000" i="1" noProof="0" smtClean="0">
                            <a:latin typeface="Cambria Math" panose="02040503050406030204" pitchFamily="18" charset="0"/>
                          </a:rPr>
                        </m:ctrlPr>
                      </m:sSupPr>
                      <m:e>
                        <m:r>
                          <a:rPr lang="fr-FR" sz="2000" i="1" noProof="0" smtClean="0">
                            <a:latin typeface="Cambria Math" panose="02040503050406030204" pitchFamily="18" charset="0"/>
                          </a:rPr>
                          <m:t>10</m:t>
                        </m:r>
                      </m:e>
                      <m:sup>
                        <m:r>
                          <a:rPr lang="fr-FR" sz="2000" i="1" noProof="0" smtClean="0">
                            <a:latin typeface="Cambria Math" panose="02040503050406030204" pitchFamily="18" charset="0"/>
                          </a:rPr>
                          <m:t>6</m:t>
                        </m:r>
                      </m:sup>
                    </m:sSup>
                  </m:oMath>
                </a14:m>
                <a:r>
                  <a:rPr lang="fr-FR" sz="2000" noProof="0" dirty="0"/>
                  <a:t>), mais cela est dû au domaine choisi. Les erreurs relatives sont d’ordre beaucoup plus faibles.</a:t>
                </a:r>
              </a:p>
            </p:txBody>
          </p:sp>
        </mc:Choice>
        <mc:Fallback>
          <p:sp>
            <p:nvSpPr>
              <p:cNvPr id="16" name="Espace réservé du contenu 2">
                <a:extLst>
                  <a:ext uri="{FF2B5EF4-FFF2-40B4-BE49-F238E27FC236}">
                    <a16:creationId xmlns:a16="http://schemas.microsoft.com/office/drawing/2014/main" id="{4E5676A1-AAD6-E8FE-CC09-0A8E3998C428}"/>
                  </a:ext>
                </a:extLst>
              </p:cNvPr>
              <p:cNvSpPr txBox="1">
                <a:spLocks noRot="1" noChangeAspect="1" noMove="1" noResize="1" noEditPoints="1" noAdjustHandles="1" noChangeArrowheads="1" noChangeShapeType="1" noTextEdit="1"/>
              </p:cNvSpPr>
              <p:nvPr/>
            </p:nvSpPr>
            <p:spPr>
              <a:xfrm>
                <a:off x="838200" y="5168065"/>
                <a:ext cx="10355810" cy="1553410"/>
              </a:xfrm>
              <a:prstGeom prst="rect">
                <a:avLst/>
              </a:prstGeom>
              <a:blipFill>
                <a:blip r:embed="rId4"/>
                <a:stretch>
                  <a:fillRect l="-942" t="-7843" r="-648"/>
                </a:stretch>
              </a:blipFill>
              <a:ln w="12700" cap="flat" cmpd="sng" algn="ctr">
                <a:noFill/>
                <a:prstDash val="solid"/>
                <a:miter lim="800000"/>
              </a:ln>
            </p:spPr>
            <p:txBody>
              <a:bodyPr/>
              <a:lstStyle/>
              <a:p>
                <a:r>
                  <a:rPr lang="fr-FR">
                    <a:noFill/>
                  </a:rPr>
                  <a:t> </a:t>
                </a:r>
              </a:p>
            </p:txBody>
          </p:sp>
        </mc:Fallback>
      </mc:AlternateContent>
    </p:spTree>
    <p:extLst>
      <p:ext uri="{BB962C8B-B14F-4D97-AF65-F5344CB8AC3E}">
        <p14:creationId xmlns:p14="http://schemas.microsoft.com/office/powerpoint/2010/main" val="3168576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D96E0-FED2-D230-CB63-8BA7056A32D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CF23E62-0D39-3556-D040-23C3D9A07C7A}"/>
              </a:ext>
            </a:extLst>
          </p:cNvPr>
          <p:cNvSpPr>
            <a:spLocks noGrp="1"/>
          </p:cNvSpPr>
          <p:nvPr>
            <p:ph type="title"/>
          </p:nvPr>
        </p:nvSpPr>
        <p:spPr>
          <a:xfrm>
            <a:off x="885824" y="420159"/>
            <a:ext cx="11306175" cy="790575"/>
          </a:xfrm>
        </p:spPr>
        <p:txBody>
          <a:bodyPr>
            <a:normAutofit/>
          </a:bodyPr>
          <a:lstStyle/>
          <a:p>
            <a:r>
              <a:rPr lang="fr-FR" dirty="0"/>
              <a:t>D. Analyse de convergence en temps</a:t>
            </a:r>
            <a:endParaRPr lang="fr-FR" noProof="0" dirty="0"/>
          </a:p>
        </p:txBody>
      </p:sp>
      <p:sp>
        <p:nvSpPr>
          <p:cNvPr id="5" name="Espace réservé du numéro de diapositive 4">
            <a:extLst>
              <a:ext uri="{FF2B5EF4-FFF2-40B4-BE49-F238E27FC236}">
                <a16:creationId xmlns:a16="http://schemas.microsoft.com/office/drawing/2014/main" id="{C3D0CEE4-7718-F058-5D60-CCA6EBF42194}"/>
              </a:ext>
            </a:extLst>
          </p:cNvPr>
          <p:cNvSpPr>
            <a:spLocks noGrp="1"/>
          </p:cNvSpPr>
          <p:nvPr>
            <p:ph type="sldNum" sz="quarter" idx="12"/>
          </p:nvPr>
        </p:nvSpPr>
        <p:spPr/>
        <p:txBody>
          <a:bodyPr/>
          <a:lstStyle/>
          <a:p>
            <a:r>
              <a:rPr lang="en-US" dirty="0"/>
              <a:t>8</a:t>
            </a:r>
            <a:endParaRPr lang="fr-FR" noProof="0" dirty="0"/>
          </a:p>
        </p:txBody>
      </p:sp>
      <p:sp>
        <p:nvSpPr>
          <p:cNvPr id="8" name="Flèche : pentagone 7">
            <a:extLst>
              <a:ext uri="{FF2B5EF4-FFF2-40B4-BE49-F238E27FC236}">
                <a16:creationId xmlns:a16="http://schemas.microsoft.com/office/drawing/2014/main" id="{8B1DA8D6-7857-1BB3-2961-89F74373FF17}"/>
              </a:ext>
            </a:extLst>
          </p:cNvPr>
          <p:cNvSpPr/>
          <p:nvPr/>
        </p:nvSpPr>
        <p:spPr>
          <a:xfrm rot="5400000">
            <a:off x="-242354" y="477313"/>
            <a:ext cx="1439333" cy="484708"/>
          </a:xfrm>
          <a:prstGeom prst="homePlate">
            <a:avLst/>
          </a:prstGeom>
          <a:solidFill>
            <a:schemeClr val="accent6">
              <a:lumMod val="60000"/>
              <a:lumOff val="40000"/>
            </a:schemeClr>
          </a:solidFill>
          <a:ln w="3810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noProof="0" dirty="0"/>
          </a:p>
        </p:txBody>
      </p:sp>
      <p:sp>
        <p:nvSpPr>
          <p:cNvPr id="9" name="Flèche : chevron 8">
            <a:extLst>
              <a:ext uri="{FF2B5EF4-FFF2-40B4-BE49-F238E27FC236}">
                <a16:creationId xmlns:a16="http://schemas.microsoft.com/office/drawing/2014/main" id="{86716BD2-BD02-CBE6-9813-899CEF252D40}"/>
              </a:ext>
            </a:extLst>
          </p:cNvPr>
          <p:cNvSpPr/>
          <p:nvPr/>
        </p:nvSpPr>
        <p:spPr>
          <a:xfrm rot="5400000">
            <a:off x="178860" y="1338800"/>
            <a:ext cx="596902" cy="484709"/>
          </a:xfrm>
          <a:prstGeom prst="chevron">
            <a:avLst/>
          </a:prstGeom>
          <a:solidFill>
            <a:schemeClr val="accent6">
              <a:lumMod val="60000"/>
              <a:lumOff val="4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solidFill>
                <a:schemeClr val="tx1"/>
              </a:solidFill>
            </a:endParaRPr>
          </a:p>
        </p:txBody>
      </p:sp>
      <p:cxnSp>
        <p:nvCxnSpPr>
          <p:cNvPr id="11" name="Connecteur droit 10">
            <a:extLst>
              <a:ext uri="{FF2B5EF4-FFF2-40B4-BE49-F238E27FC236}">
                <a16:creationId xmlns:a16="http://schemas.microsoft.com/office/drawing/2014/main" id="{D9F5201D-C28D-EC97-2BD0-083771794378}"/>
              </a:ext>
            </a:extLst>
          </p:cNvPr>
          <p:cNvCxnSpPr/>
          <p:nvPr/>
        </p:nvCxnSpPr>
        <p:spPr>
          <a:xfrm>
            <a:off x="862010" y="1210734"/>
            <a:ext cx="10332000" cy="0"/>
          </a:xfrm>
          <a:prstGeom prst="line">
            <a:avLst/>
          </a:prstGeom>
          <a:ln w="28575"/>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mc:Choice xmlns:a14="http://schemas.microsoft.com/office/drawing/2010/main" Requires="a14">
          <p:sp>
            <p:nvSpPr>
              <p:cNvPr id="4" name="Espace réservé du contenu 2">
                <a:extLst>
                  <a:ext uri="{FF2B5EF4-FFF2-40B4-BE49-F238E27FC236}">
                    <a16:creationId xmlns:a16="http://schemas.microsoft.com/office/drawing/2014/main" id="{866364E0-E4EA-D932-D305-8729ADA3CD72}"/>
                  </a:ext>
                </a:extLst>
              </p:cNvPr>
              <p:cNvSpPr>
                <a:spLocks noGrp="1"/>
              </p:cNvSpPr>
              <p:nvPr>
                <p:ph idx="1"/>
              </p:nvPr>
            </p:nvSpPr>
            <p:spPr>
              <a:xfrm>
                <a:off x="838200" y="1282702"/>
                <a:ext cx="6194612" cy="3885363"/>
              </a:xfrm>
              <a:ln>
                <a:noFill/>
              </a:ln>
            </p:spPr>
            <p:style>
              <a:lnRef idx="2">
                <a:schemeClr val="dk1"/>
              </a:lnRef>
              <a:fillRef idx="1">
                <a:schemeClr val="lt1"/>
              </a:fillRef>
              <a:effectRef idx="0">
                <a:schemeClr val="dk1"/>
              </a:effectRef>
              <a:fontRef idx="minor">
                <a:schemeClr val="dk1"/>
              </a:fontRef>
            </p:style>
            <p:txBody>
              <a:bodyPr>
                <a:normAutofit/>
              </a:bodyPr>
              <a:lstStyle/>
              <a:p>
                <a:pPr marL="514350" indent="-514350" algn="just">
                  <a:buFont typeface="+mj-lt"/>
                  <a:buAutoNum type="romanUcPeriod"/>
                </a:pPr>
                <a:r>
                  <a:rPr lang="fr-FR" sz="2400" noProof="0" dirty="0"/>
                  <a:t>Paramètres de simulation :</a:t>
                </a:r>
              </a:p>
              <a:p>
                <a:pPr marL="914400" lvl="1" indent="-457200" algn="just">
                  <a:buFont typeface="+mj-lt"/>
                  <a:buAutoNum type="arabicPeriod"/>
                </a:pPr>
                <a14:m>
                  <m:oMath xmlns:m="http://schemas.openxmlformats.org/officeDocument/2006/math">
                    <m:r>
                      <a:rPr lang="fr-FR" sz="2000" b="0" i="0" noProof="0" smtClean="0">
                        <a:latin typeface="Cambria Math" panose="02040503050406030204" pitchFamily="18" charset="0"/>
                      </a:rPr>
                      <m:t> </m:t>
                    </m:r>
                    <m:sSub>
                      <m:sSubPr>
                        <m:ctrlPr>
                          <a:rPr lang="fr-FR" sz="2000" b="0" i="1" noProof="0" smtClean="0">
                            <a:latin typeface="Cambria Math" panose="02040503050406030204" pitchFamily="18" charset="0"/>
                          </a:rPr>
                        </m:ctrlPr>
                      </m:sSubPr>
                      <m:e>
                        <m:r>
                          <m:rPr>
                            <m:sty m:val="p"/>
                          </m:rPr>
                          <a:rPr lang="fr-FR" sz="2000" b="0" i="0" noProof="0" smtClean="0">
                            <a:latin typeface="Cambria Math" panose="02040503050406030204" pitchFamily="18" charset="0"/>
                          </a:rPr>
                          <m:t>Temps</m:t>
                        </m:r>
                      </m:e>
                      <m:sub>
                        <m:r>
                          <a:rPr lang="fr-FR" sz="2000" b="0" i="1" noProof="0" smtClean="0">
                            <a:latin typeface="Cambria Math" panose="02040503050406030204" pitchFamily="18" charset="0"/>
                          </a:rPr>
                          <m:t>𝑚𝑎𝑥</m:t>
                        </m:r>
                      </m:sub>
                    </m:sSub>
                    <m:r>
                      <a:rPr lang="fr-FR" sz="2000" b="0" i="1" noProof="0" smtClean="0">
                        <a:latin typeface="Cambria Math" panose="02040503050406030204" pitchFamily="18" charset="0"/>
                      </a:rPr>
                      <m:t>=</m:t>
                    </m:r>
                    <m:r>
                      <a:rPr lang="fr-FR" sz="2000" b="0" i="1" noProof="0" smtClean="0">
                        <a:latin typeface="Cambria Math" panose="02040503050406030204" pitchFamily="18" charset="0"/>
                      </a:rPr>
                      <m:t>1</m:t>
                    </m:r>
                    <m:r>
                      <a:rPr lang="fr-FR" sz="2000" b="0" i="1" noProof="0" smtClean="0">
                        <a:latin typeface="Cambria Math" panose="02040503050406030204" pitchFamily="18" charset="0"/>
                      </a:rPr>
                      <m:t>𝑠</m:t>
                    </m:r>
                  </m:oMath>
                </a14:m>
                <a:endParaRPr lang="fr-FR" sz="2000" noProof="0" dirty="0"/>
              </a:p>
              <a:p>
                <a:pPr marL="914400" lvl="1" indent="-457200" algn="just">
                  <a:buFont typeface="+mj-lt"/>
                  <a:buAutoNum type="arabicPeriod"/>
                </a:pPr>
                <a14:m>
                  <m:oMath xmlns:m="http://schemas.openxmlformats.org/officeDocument/2006/math">
                    <m:r>
                      <a:rPr lang="fr-FR" sz="2000" b="0" i="0" noProof="0" smtClean="0">
                        <a:latin typeface="Cambria Math" panose="02040503050406030204" pitchFamily="18" charset="0"/>
                      </a:rPr>
                      <m:t> </m:t>
                    </m:r>
                    <m:r>
                      <m:rPr>
                        <m:sty m:val="p"/>
                      </m:rPr>
                      <a:rPr lang="fr-FR" sz="2000" b="0" i="0" noProof="0" smtClean="0">
                        <a:latin typeface="Cambria Math" panose="02040503050406030204" pitchFamily="18" charset="0"/>
                      </a:rPr>
                      <m:t>Δ</m:t>
                    </m:r>
                    <m:r>
                      <a:rPr lang="fr-FR" sz="2000" b="0" i="1" noProof="0" smtClean="0">
                        <a:latin typeface="Cambria Math" panose="02040503050406030204" pitchFamily="18" charset="0"/>
                      </a:rPr>
                      <m:t>𝑟</m:t>
                    </m:r>
                    <m:r>
                      <a:rPr lang="fr-FR" sz="2000" i="1" noProof="0" smtClean="0">
                        <a:latin typeface="Cambria Math" panose="02040503050406030204" pitchFamily="18" charset="0"/>
                      </a:rPr>
                      <m:t>=</m:t>
                    </m:r>
                    <m:r>
                      <a:rPr lang="fr-FR" sz="2000" i="1">
                        <a:latin typeface="Cambria Math" panose="02040503050406030204" pitchFamily="18" charset="0"/>
                      </a:rPr>
                      <m:t>0.0007</m:t>
                    </m:r>
                    <m:r>
                      <a:rPr lang="en-US" sz="2000" b="0" i="1" smtClean="0">
                        <a:latin typeface="Cambria Math" panose="02040503050406030204" pitchFamily="18" charset="0"/>
                      </a:rPr>
                      <m:t>2</m:t>
                    </m:r>
                    <m:r>
                      <a:rPr lang="en-US" sz="2000" b="0" i="1" smtClean="0">
                        <a:latin typeface="Cambria Math" panose="02040503050406030204" pitchFamily="18" charset="0"/>
                      </a:rPr>
                      <m:t>𝑚</m:t>
                    </m:r>
                  </m:oMath>
                </a14:m>
                <a:endParaRPr lang="fr-FR" sz="2000" b="0" i="0" noProof="0" dirty="0">
                  <a:latin typeface="Cambria Math" panose="02040503050406030204" pitchFamily="18" charset="0"/>
                </a:endParaRPr>
              </a:p>
              <a:p>
                <a:pPr marL="914400" lvl="1" indent="-457200" algn="just">
                  <a:buFont typeface="+mj-lt"/>
                  <a:buAutoNum type="arabicPeriod"/>
                </a:pPr>
                <a14:m>
                  <m:oMath xmlns:m="http://schemas.openxmlformats.org/officeDocument/2006/math">
                    <m:r>
                      <a:rPr lang="fr-FR" sz="2000" b="0" i="0" noProof="0" smtClean="0">
                        <a:latin typeface="Cambria Math" panose="02040503050406030204" pitchFamily="18" charset="0"/>
                      </a:rPr>
                      <m:t> </m:t>
                    </m:r>
                    <m:r>
                      <m:rPr>
                        <m:sty m:val="p"/>
                      </m:rPr>
                      <a:rPr lang="fr-FR" sz="2000" b="0" i="0" noProof="0" smtClean="0">
                        <a:latin typeface="Cambria Math" panose="02040503050406030204" pitchFamily="18" charset="0"/>
                      </a:rPr>
                      <m:t>R</m:t>
                    </m:r>
                    <m:r>
                      <a:rPr lang="fr-FR" sz="2000" i="0" noProof="0">
                        <a:latin typeface="Cambria Math" panose="02040503050406030204" pitchFamily="18" charset="0"/>
                      </a:rPr>
                      <m:t>=</m:t>
                    </m:r>
                    <m:r>
                      <a:rPr lang="fr-FR" sz="2000" b="0" i="0" noProof="0" smtClean="0">
                        <a:latin typeface="Cambria Math" panose="02040503050406030204" pitchFamily="18" charset="0"/>
                      </a:rPr>
                      <m:t>0.5 </m:t>
                    </m:r>
                    <m:r>
                      <m:rPr>
                        <m:sty m:val="p"/>
                      </m:rPr>
                      <a:rPr lang="fr-FR" sz="2000" b="0" i="0" noProof="0" smtClean="0">
                        <a:latin typeface="Cambria Math" panose="02040503050406030204" pitchFamily="18" charset="0"/>
                      </a:rPr>
                      <m:t>m</m:t>
                    </m:r>
                  </m:oMath>
                </a14:m>
                <a:endParaRPr lang="fr-FR" sz="2000" noProof="0" dirty="0"/>
              </a:p>
              <a:p>
                <a:pPr marL="914400" lvl="1" indent="-457200" algn="just">
                  <a:buFont typeface="+mj-lt"/>
                  <a:buAutoNum type="arabicPeriod"/>
                </a:pPr>
                <a14:m>
                  <m:oMath xmlns:m="http://schemas.openxmlformats.org/officeDocument/2006/math">
                    <m:sSub>
                      <m:sSubPr>
                        <m:ctrlPr>
                          <a:rPr lang="fr-FR" sz="2000" i="1" noProof="0">
                            <a:latin typeface="Cambria Math" panose="02040503050406030204" pitchFamily="18" charset="0"/>
                          </a:rPr>
                        </m:ctrlPr>
                      </m:sSubPr>
                      <m:e>
                        <m:r>
                          <a:rPr lang="fr-FR" sz="2000" i="1" noProof="0">
                            <a:latin typeface="Cambria Math" panose="02040503050406030204" pitchFamily="18" charset="0"/>
                          </a:rPr>
                          <m:t>𝐷</m:t>
                        </m:r>
                      </m:e>
                      <m:sub>
                        <m:r>
                          <m:rPr>
                            <m:sty m:val="p"/>
                          </m:rPr>
                          <a:rPr lang="fr-FR" sz="2000" i="1" noProof="0">
                            <a:latin typeface="Cambria Math" panose="02040503050406030204" pitchFamily="18" charset="0"/>
                          </a:rPr>
                          <m:t>eff</m:t>
                        </m:r>
                      </m:sub>
                    </m:sSub>
                    <m:r>
                      <a:rPr lang="fr-FR" sz="2000" i="1" noProof="0">
                        <a:latin typeface="Cambria Math" panose="02040503050406030204" pitchFamily="18" charset="0"/>
                      </a:rPr>
                      <m:t>=</m:t>
                    </m:r>
                    <m:r>
                      <a:rPr lang="fr-FR" sz="2000" b="0" i="1" noProof="0" smtClean="0">
                        <a:latin typeface="Cambria Math" panose="02040503050406030204" pitchFamily="18" charset="0"/>
                      </a:rPr>
                      <m:t>1</m:t>
                    </m:r>
                    <m:f>
                      <m:fPr>
                        <m:ctrlPr>
                          <a:rPr lang="fr-FR" sz="2000" b="0" i="1" noProof="0" smtClean="0">
                            <a:latin typeface="Cambria Math" panose="02040503050406030204" pitchFamily="18" charset="0"/>
                          </a:rPr>
                        </m:ctrlPr>
                      </m:fPr>
                      <m:num>
                        <m:sSup>
                          <m:sSupPr>
                            <m:ctrlPr>
                              <a:rPr lang="fr-FR" sz="2000" b="0" i="1" noProof="0" smtClean="0">
                                <a:latin typeface="Cambria Math" panose="02040503050406030204" pitchFamily="18" charset="0"/>
                              </a:rPr>
                            </m:ctrlPr>
                          </m:sSupPr>
                          <m:e>
                            <m:r>
                              <a:rPr lang="fr-FR" sz="2000" b="0" i="1" noProof="0" smtClean="0">
                                <a:latin typeface="Cambria Math" panose="02040503050406030204" pitchFamily="18" charset="0"/>
                              </a:rPr>
                              <m:t>𝑚</m:t>
                            </m:r>
                          </m:e>
                          <m:sup>
                            <m:r>
                              <a:rPr lang="fr-FR" sz="2000" b="0" i="1" noProof="0" smtClean="0">
                                <a:latin typeface="Cambria Math" panose="02040503050406030204" pitchFamily="18" charset="0"/>
                              </a:rPr>
                              <m:t>2</m:t>
                            </m:r>
                          </m:sup>
                        </m:sSup>
                      </m:num>
                      <m:den>
                        <m:r>
                          <a:rPr lang="fr-FR" sz="2000" b="0" i="1" noProof="0" smtClean="0">
                            <a:latin typeface="Cambria Math" panose="02040503050406030204" pitchFamily="18" charset="0"/>
                          </a:rPr>
                          <m:t>𝑠</m:t>
                        </m:r>
                      </m:den>
                    </m:f>
                  </m:oMath>
                </a14:m>
                <a:r>
                  <a:rPr lang="fr-FR" sz="2000" noProof="0" dirty="0"/>
                  <a:t>  </a:t>
                </a:r>
              </a:p>
              <a:p>
                <a:pPr marL="914400" lvl="1" indent="-457200" algn="just">
                  <a:buFont typeface="+mj-lt"/>
                  <a:buAutoNum type="arabicPeriod"/>
                </a:pPr>
                <a14:m>
                  <m:oMath xmlns:m="http://schemas.openxmlformats.org/officeDocument/2006/math">
                    <m:r>
                      <a:rPr lang="fr-FR" sz="2000" noProof="0">
                        <a:latin typeface="Cambria Math" panose="02040503050406030204" pitchFamily="18" charset="0"/>
                      </a:rPr>
                      <m:t> </m:t>
                    </m:r>
                    <m:r>
                      <a:rPr lang="fr-FR" sz="2000" b="0" i="1" noProof="0" smtClean="0">
                        <a:latin typeface="Cambria Math" panose="02040503050406030204" pitchFamily="18" charset="0"/>
                      </a:rPr>
                      <m:t>𝑘</m:t>
                    </m:r>
                    <m:r>
                      <a:rPr lang="fr-FR" sz="2000" i="1" noProof="0">
                        <a:latin typeface="Cambria Math" panose="02040503050406030204" pitchFamily="18" charset="0"/>
                      </a:rPr>
                      <m:t>=</m:t>
                    </m:r>
                    <m:r>
                      <a:rPr lang="fr-FR" sz="2000" b="0" i="1" noProof="0" smtClean="0">
                        <a:latin typeface="Cambria Math" panose="02040503050406030204" pitchFamily="18" charset="0"/>
                      </a:rPr>
                      <m:t>4 </m:t>
                    </m:r>
                    <m:f>
                      <m:fPr>
                        <m:ctrlPr>
                          <a:rPr lang="fr-FR" sz="2000" b="0" i="1" noProof="0" smtClean="0">
                            <a:latin typeface="Cambria Math" panose="02040503050406030204" pitchFamily="18" charset="0"/>
                          </a:rPr>
                        </m:ctrlPr>
                      </m:fPr>
                      <m:num>
                        <m:r>
                          <a:rPr lang="fr-FR" sz="2000" b="0" i="1" noProof="0" smtClean="0">
                            <a:latin typeface="Cambria Math" panose="02040503050406030204" pitchFamily="18" charset="0"/>
                          </a:rPr>
                          <m:t>1</m:t>
                        </m:r>
                      </m:num>
                      <m:den>
                        <m:r>
                          <a:rPr lang="fr-FR" sz="2000" b="0" i="1" noProof="0" smtClean="0">
                            <a:latin typeface="Cambria Math" panose="02040503050406030204" pitchFamily="18" charset="0"/>
                          </a:rPr>
                          <m:t>𝑠</m:t>
                        </m:r>
                      </m:den>
                    </m:f>
                  </m:oMath>
                </a14:m>
                <a:endParaRPr lang="fr-FR" sz="2000" noProof="0" dirty="0"/>
              </a:p>
              <a:p>
                <a:pPr marL="457200" indent="-457200" algn="just">
                  <a:buFont typeface="+mj-lt"/>
                  <a:buAutoNum type="romanUcPeriod"/>
                </a:pPr>
                <a:r>
                  <a:rPr lang="fr-FR" sz="2400" noProof="0" dirty="0"/>
                  <a:t>Erreurs </a:t>
                </a:r>
                <a14:m>
                  <m:oMath xmlns:m="http://schemas.openxmlformats.org/officeDocument/2006/math">
                    <m:sSub>
                      <m:sSubPr>
                        <m:ctrlPr>
                          <a:rPr lang="fr-FR" sz="2400" b="0" i="1" noProof="0" smtClean="0">
                            <a:latin typeface="Cambria Math" panose="02040503050406030204" pitchFamily="18" charset="0"/>
                          </a:rPr>
                        </m:ctrlPr>
                      </m:sSubPr>
                      <m:e>
                        <m:r>
                          <a:rPr lang="fr-FR" sz="2400" b="0" i="1" noProof="0" smtClean="0">
                            <a:latin typeface="Cambria Math" panose="02040503050406030204" pitchFamily="18" charset="0"/>
                          </a:rPr>
                          <m:t>𝐿</m:t>
                        </m:r>
                      </m:e>
                      <m:sub>
                        <m:r>
                          <a:rPr lang="fr-FR" sz="2400" b="0" i="1" noProof="0" smtClean="0">
                            <a:latin typeface="Cambria Math" panose="02040503050406030204" pitchFamily="18" charset="0"/>
                          </a:rPr>
                          <m:t>1</m:t>
                        </m:r>
                      </m:sub>
                    </m:sSub>
                    <m:r>
                      <a:rPr lang="fr-FR" sz="2400" b="0" i="1" noProof="0" smtClean="0">
                        <a:latin typeface="Cambria Math" panose="02040503050406030204" pitchFamily="18" charset="0"/>
                      </a:rPr>
                      <m:t>, </m:t>
                    </m:r>
                    <m:sSub>
                      <m:sSubPr>
                        <m:ctrlPr>
                          <a:rPr lang="fr-FR" sz="2400" b="0" i="1" noProof="0" smtClean="0">
                            <a:latin typeface="Cambria Math" panose="02040503050406030204" pitchFamily="18" charset="0"/>
                          </a:rPr>
                        </m:ctrlPr>
                      </m:sSubPr>
                      <m:e>
                        <m:r>
                          <a:rPr lang="fr-FR" sz="2400" b="0" i="1" noProof="0" smtClean="0">
                            <a:latin typeface="Cambria Math" panose="02040503050406030204" pitchFamily="18" charset="0"/>
                          </a:rPr>
                          <m:t>𝐿</m:t>
                        </m:r>
                      </m:e>
                      <m:sub>
                        <m:r>
                          <a:rPr lang="fr-FR" sz="2400" b="0" i="1" noProof="0" smtClean="0">
                            <a:latin typeface="Cambria Math" panose="02040503050406030204" pitchFamily="18" charset="0"/>
                          </a:rPr>
                          <m:t>2</m:t>
                        </m:r>
                      </m:sub>
                    </m:sSub>
                    <m:r>
                      <a:rPr lang="fr-FR" sz="2400" b="0" i="1" noProof="0" smtClean="0">
                        <a:latin typeface="Cambria Math" panose="02040503050406030204" pitchFamily="18" charset="0"/>
                      </a:rPr>
                      <m:t> </m:t>
                    </m:r>
                    <m:r>
                      <m:rPr>
                        <m:sty m:val="p"/>
                      </m:rPr>
                      <a:rPr lang="fr-FR" sz="2400" b="0" i="0" noProof="0" smtClean="0">
                        <a:latin typeface="Cambria Math" panose="02040503050406030204" pitchFamily="18" charset="0"/>
                      </a:rPr>
                      <m:t>et</m:t>
                    </m:r>
                    <m:r>
                      <a:rPr lang="fr-FR" sz="2400" b="0" i="1" noProof="0" smtClean="0">
                        <a:latin typeface="Cambria Math" panose="02040503050406030204" pitchFamily="18" charset="0"/>
                      </a:rPr>
                      <m:t> </m:t>
                    </m:r>
                    <m:sSub>
                      <m:sSubPr>
                        <m:ctrlPr>
                          <a:rPr lang="fr-FR" sz="2400" b="0" i="1" noProof="0" smtClean="0">
                            <a:latin typeface="Cambria Math" panose="02040503050406030204" pitchFamily="18" charset="0"/>
                          </a:rPr>
                        </m:ctrlPr>
                      </m:sSubPr>
                      <m:e>
                        <m:r>
                          <a:rPr lang="fr-FR" sz="2400" b="0" i="1" noProof="0" smtClean="0">
                            <a:latin typeface="Cambria Math" panose="02040503050406030204" pitchFamily="18" charset="0"/>
                          </a:rPr>
                          <m:t>𝐿</m:t>
                        </m:r>
                      </m:e>
                      <m:sub>
                        <m:r>
                          <a:rPr lang="fr-FR" sz="2400" i="1" noProof="0" smtClean="0">
                            <a:latin typeface="Cambria Math" panose="02040503050406030204" pitchFamily="18" charset="0"/>
                            <a:ea typeface="Cambria Math" panose="02040503050406030204" pitchFamily="18" charset="0"/>
                          </a:rPr>
                          <m:t>∞</m:t>
                        </m:r>
                      </m:sub>
                    </m:sSub>
                  </m:oMath>
                </a14:m>
                <a:r>
                  <a:rPr lang="fr-FR" sz="2400" noProof="0" dirty="0"/>
                  <a:t>:</a:t>
                </a:r>
              </a:p>
              <a:p>
                <a:pPr marL="457200" lvl="1" indent="0" algn="just">
                  <a:buNone/>
                </a:pPr>
                <a:r>
                  <a:rPr lang="fr-FR" sz="2000" noProof="0" dirty="0"/>
                  <a:t>L’ordre d’erreur en temps colle bien à l’ordre de 1 théorique du schéma et on voit aussi que l’erreur convergent vers 0 quand </a:t>
                </a:r>
                <a14:m>
                  <m:oMath xmlns:m="http://schemas.openxmlformats.org/officeDocument/2006/math">
                    <m:r>
                      <m:rPr>
                        <m:sty m:val="p"/>
                      </m:rPr>
                      <a:rPr lang="fr-FR" sz="2000" noProof="0" smtClean="0">
                        <a:latin typeface="Cambria Math" panose="02040503050406030204" pitchFamily="18" charset="0"/>
                      </a:rPr>
                      <m:t>Δ</m:t>
                    </m:r>
                    <m:r>
                      <m:rPr>
                        <m:sty m:val="p"/>
                      </m:rPr>
                      <a:rPr lang="en-US" sz="2000" b="0" i="0" noProof="0" smtClean="0">
                        <a:latin typeface="Cambria Math" panose="02040503050406030204" pitchFamily="18" charset="0"/>
                      </a:rPr>
                      <m:t>t</m:t>
                    </m:r>
                    <m:r>
                      <a:rPr lang="fr-FR" sz="2000" b="0" i="0" noProof="0" smtClean="0">
                        <a:latin typeface="Cambria Math" panose="02040503050406030204" pitchFamily="18" charset="0"/>
                      </a:rPr>
                      <m:t>→0</m:t>
                    </m:r>
                  </m:oMath>
                </a14:m>
                <a:r>
                  <a:rPr lang="fr-FR" sz="2000" noProof="0" dirty="0"/>
                  <a:t>. </a:t>
                </a:r>
              </a:p>
            </p:txBody>
          </p:sp>
        </mc:Choice>
        <mc:Fallback>
          <p:sp>
            <p:nvSpPr>
              <p:cNvPr id="4" name="Espace réservé du contenu 2">
                <a:extLst>
                  <a:ext uri="{FF2B5EF4-FFF2-40B4-BE49-F238E27FC236}">
                    <a16:creationId xmlns:a16="http://schemas.microsoft.com/office/drawing/2014/main" id="{866364E0-E4EA-D932-D305-8729ADA3CD72}"/>
                  </a:ext>
                </a:extLst>
              </p:cNvPr>
              <p:cNvSpPr>
                <a:spLocks noGrp="1" noRot="1" noChangeAspect="1" noMove="1" noResize="1" noEditPoints="1" noAdjustHandles="1" noChangeArrowheads="1" noChangeShapeType="1" noTextEdit="1"/>
              </p:cNvSpPr>
              <p:nvPr>
                <p:ph idx="1"/>
              </p:nvPr>
            </p:nvSpPr>
            <p:spPr>
              <a:xfrm>
                <a:off x="838200" y="1282702"/>
                <a:ext cx="6194612" cy="3885363"/>
              </a:xfrm>
              <a:blipFill>
                <a:blip r:embed="rId2"/>
                <a:stretch>
                  <a:fillRect l="-1575" t="-2351" r="-984"/>
                </a:stretch>
              </a:blipFill>
              <a:ln>
                <a:noFill/>
              </a:ln>
            </p:spPr>
            <p:txBody>
              <a:bodyPr/>
              <a:lstStyle/>
              <a:p>
                <a:r>
                  <a:rPr lang="fr-FR">
                    <a:noFill/>
                  </a:rPr>
                  <a:t> </a:t>
                </a:r>
              </a:p>
            </p:txBody>
          </p:sp>
        </mc:Fallback>
      </mc:AlternateContent>
      <p:sp>
        <p:nvSpPr>
          <p:cNvPr id="16" name="Espace réservé du contenu 2">
            <a:extLst>
              <a:ext uri="{FF2B5EF4-FFF2-40B4-BE49-F238E27FC236}">
                <a16:creationId xmlns:a16="http://schemas.microsoft.com/office/drawing/2014/main" id="{A143E215-4414-BA8F-E27D-1D73168360A9}"/>
              </a:ext>
            </a:extLst>
          </p:cNvPr>
          <p:cNvSpPr txBox="1">
            <a:spLocks/>
          </p:cNvSpPr>
          <p:nvPr/>
        </p:nvSpPr>
        <p:spPr>
          <a:xfrm>
            <a:off x="838200" y="5057469"/>
            <a:ext cx="10355810" cy="1664006"/>
          </a:xfrm>
          <a:prstGeom prst="rect">
            <a:avLst/>
          </a:prstGeom>
          <a:ln w="12700" cap="flat" cmpd="sng" algn="ctr">
            <a:noFill/>
            <a:prstDash val="solid"/>
            <a:miter lim="800000"/>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14350" indent="-514350" algn="just">
              <a:buFont typeface="+mj-lt"/>
              <a:buAutoNum type="romanUcPeriod" startAt="3"/>
            </a:pPr>
            <a:r>
              <a:rPr lang="fr-FR" sz="2400" noProof="0" dirty="0"/>
              <a:t>Observations :</a:t>
            </a:r>
          </a:p>
          <a:p>
            <a:pPr marL="457200" lvl="1" indent="0" algn="just">
              <a:buNone/>
            </a:pPr>
            <a:r>
              <a:rPr lang="fr-FR" sz="2000" dirty="0"/>
              <a:t>Tout comme l’analyse en temps, le temps a dû être ajusté pour que l’erreur en espace n’influence pas celle du temps. Après avoir fait ces deux tests de convergence, on peut affirmer que le code à bien été vérifié.</a:t>
            </a:r>
            <a:endParaRPr lang="fr-FR" sz="2000" noProof="0" dirty="0"/>
          </a:p>
        </p:txBody>
      </p:sp>
      <p:pic>
        <p:nvPicPr>
          <p:cNvPr id="6" name="Image 5">
            <a:extLst>
              <a:ext uri="{FF2B5EF4-FFF2-40B4-BE49-F238E27FC236}">
                <a16:creationId xmlns:a16="http://schemas.microsoft.com/office/drawing/2014/main" id="{9E6C1A8A-F048-A1BA-DD60-CA0FBDC959F7}"/>
              </a:ext>
            </a:extLst>
          </p:cNvPr>
          <p:cNvPicPr>
            <a:picLocks noChangeAspect="1"/>
          </p:cNvPicPr>
          <p:nvPr/>
        </p:nvPicPr>
        <p:blipFill>
          <a:blip r:embed="rId3"/>
          <a:stretch>
            <a:fillRect/>
          </a:stretch>
        </p:blipFill>
        <p:spPr>
          <a:xfrm>
            <a:off x="7032812" y="1439334"/>
            <a:ext cx="4800040" cy="3788066"/>
          </a:xfrm>
          <a:prstGeom prst="rect">
            <a:avLst/>
          </a:prstGeom>
        </p:spPr>
      </p:pic>
    </p:spTree>
    <p:extLst>
      <p:ext uri="{BB962C8B-B14F-4D97-AF65-F5344CB8AC3E}">
        <p14:creationId xmlns:p14="http://schemas.microsoft.com/office/powerpoint/2010/main" val="1207350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4267D-4114-3F63-279A-DC2B498C7B9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re 1">
                <a:extLst>
                  <a:ext uri="{FF2B5EF4-FFF2-40B4-BE49-F238E27FC236}">
                    <a16:creationId xmlns:a16="http://schemas.microsoft.com/office/drawing/2014/main" id="{02F30BA9-2898-C0CD-0852-CCCF3C0A7819}"/>
                  </a:ext>
                </a:extLst>
              </p:cNvPr>
              <p:cNvSpPr>
                <a:spLocks noGrp="1"/>
              </p:cNvSpPr>
              <p:nvPr>
                <p:ph type="title"/>
              </p:nvPr>
            </p:nvSpPr>
            <p:spPr>
              <a:xfrm>
                <a:off x="885825" y="250972"/>
                <a:ext cx="11306175" cy="790575"/>
              </a:xfrm>
            </p:spPr>
            <p:txBody>
              <a:bodyPr>
                <a:normAutofit fontScale="90000"/>
              </a:bodyPr>
              <a:lstStyle/>
              <a:p>
                <a:r>
                  <a:rPr lang="fr-FR" dirty="0"/>
                  <a:t>F. Solution du problème originel pour </a:t>
                </a:r>
                <a14:m>
                  <m:oMath xmlns:m="http://schemas.openxmlformats.org/officeDocument/2006/math">
                    <m:sSub>
                      <m:sSubPr>
                        <m:ctrlPr>
                          <a:rPr lang="fr-FR" i="1">
                            <a:latin typeface="Cambria Math" panose="02040503050406030204" pitchFamily="18" charset="0"/>
                          </a:rPr>
                        </m:ctrlPr>
                      </m:sSubPr>
                      <m:e>
                        <m:r>
                          <m:rPr>
                            <m:sty m:val="p"/>
                          </m:rPr>
                          <a:rPr lang="fr-FR">
                            <a:latin typeface="Cambria Math" panose="02040503050406030204" pitchFamily="18" charset="0"/>
                          </a:rPr>
                          <m:t>N</m:t>
                        </m:r>
                      </m:e>
                      <m:sub>
                        <m:r>
                          <m:rPr>
                            <m:sty m:val="p"/>
                          </m:rPr>
                          <a:rPr lang="fr-FR">
                            <a:latin typeface="Cambria Math" panose="02040503050406030204" pitchFamily="18" charset="0"/>
                          </a:rPr>
                          <m:t>tot</m:t>
                        </m:r>
                      </m:sub>
                    </m:sSub>
                    <m:r>
                      <a:rPr lang="fr-FR">
                        <a:latin typeface="Cambria Math" panose="02040503050406030204" pitchFamily="18" charset="0"/>
                      </a:rPr>
                      <m:t>=11</m:t>
                    </m:r>
                  </m:oMath>
                </a14:m>
                <a:r>
                  <a:rPr lang="fr-FR" dirty="0"/>
                  <a:t> et </a:t>
                </a:r>
                <a14:m>
                  <m:oMath xmlns:m="http://schemas.openxmlformats.org/officeDocument/2006/math">
                    <m:r>
                      <m:rPr>
                        <m:sty m:val="p"/>
                      </m:rPr>
                      <a:rPr lang="fr-FR">
                        <a:latin typeface="Cambria Math" panose="02040503050406030204" pitchFamily="18" charset="0"/>
                      </a:rPr>
                      <m:t>t</m:t>
                    </m:r>
                    <m:r>
                      <a:rPr lang="fr-FR">
                        <a:latin typeface="Cambria Math" panose="02040503050406030204" pitchFamily="18" charset="0"/>
                      </a:rPr>
                      <m:t> ∈[0,</m:t>
                    </m:r>
                    <m:r>
                      <a:rPr lang="en-US">
                        <a:latin typeface="Cambria Math" panose="02040503050406030204" pitchFamily="18" charset="0"/>
                        <a:ea typeface="Cambria Math" panose="02040503050406030204" pitchFamily="18" charset="0"/>
                      </a:rPr>
                      <m:t> 4×</m:t>
                    </m:r>
                    <m:sSup>
                      <m:sSupPr>
                        <m:ctrlPr>
                          <a:rPr lang="en-US" i="1">
                            <a:latin typeface="Cambria Math" panose="02040503050406030204" pitchFamily="18" charset="0"/>
                            <a:ea typeface="Cambria Math" panose="02040503050406030204" pitchFamily="18" charset="0"/>
                          </a:rPr>
                        </m:ctrlPr>
                      </m:sSupPr>
                      <m:e>
                        <m:r>
                          <a:rPr lang="en-US">
                            <a:latin typeface="Cambria Math" panose="02040503050406030204" pitchFamily="18" charset="0"/>
                            <a:ea typeface="Cambria Math" panose="02040503050406030204" pitchFamily="18" charset="0"/>
                          </a:rPr>
                          <m:t>10</m:t>
                        </m:r>
                      </m:e>
                      <m:sup>
                        <m:r>
                          <a:rPr lang="en-US">
                            <a:latin typeface="Cambria Math" panose="02040503050406030204" pitchFamily="18" charset="0"/>
                            <a:ea typeface="Cambria Math" panose="02040503050406030204" pitchFamily="18" charset="0"/>
                          </a:rPr>
                          <m:t>9</m:t>
                        </m:r>
                      </m:sup>
                    </m:sSup>
                    <m:r>
                      <a:rPr lang="en-US">
                        <a:latin typeface="Cambria Math" panose="02040503050406030204" pitchFamily="18" charset="0"/>
                        <a:ea typeface="Cambria Math" panose="02040503050406030204" pitchFamily="18" charset="0"/>
                      </a:rPr>
                      <m:t>]</m:t>
                    </m:r>
                  </m:oMath>
                </a14:m>
                <a:endParaRPr lang="fr-FR" noProof="0" dirty="0"/>
              </a:p>
            </p:txBody>
          </p:sp>
        </mc:Choice>
        <mc:Fallback>
          <p:sp>
            <p:nvSpPr>
              <p:cNvPr id="2" name="Titre 1">
                <a:extLst>
                  <a:ext uri="{FF2B5EF4-FFF2-40B4-BE49-F238E27FC236}">
                    <a16:creationId xmlns:a16="http://schemas.microsoft.com/office/drawing/2014/main" id="{02F30BA9-2898-C0CD-0852-CCCF3C0A7819}"/>
                  </a:ext>
                </a:extLst>
              </p:cNvPr>
              <p:cNvSpPr>
                <a:spLocks noGrp="1" noRot="1" noChangeAspect="1" noMove="1" noResize="1" noEditPoints="1" noAdjustHandles="1" noChangeArrowheads="1" noChangeShapeType="1" noTextEdit="1"/>
              </p:cNvSpPr>
              <p:nvPr>
                <p:ph type="title"/>
              </p:nvPr>
            </p:nvSpPr>
            <p:spPr>
              <a:xfrm>
                <a:off x="885825" y="250972"/>
                <a:ext cx="11306175" cy="790575"/>
              </a:xfrm>
              <a:blipFill>
                <a:blip r:embed="rId2"/>
                <a:stretch>
                  <a:fillRect l="-1887" t="-46154" b="-17692"/>
                </a:stretch>
              </a:blipFill>
            </p:spPr>
            <p:txBody>
              <a:bodyPr/>
              <a:lstStyle/>
              <a:p>
                <a:r>
                  <a:rPr lang="fr-FR">
                    <a:noFill/>
                  </a:rPr>
                  <a:t> </a:t>
                </a:r>
              </a:p>
            </p:txBody>
          </p:sp>
        </mc:Fallback>
      </mc:AlternateContent>
      <p:sp>
        <p:nvSpPr>
          <p:cNvPr id="5" name="Espace réservé du numéro de diapositive 4">
            <a:extLst>
              <a:ext uri="{FF2B5EF4-FFF2-40B4-BE49-F238E27FC236}">
                <a16:creationId xmlns:a16="http://schemas.microsoft.com/office/drawing/2014/main" id="{9883600B-6742-73D4-F5A6-0EEFD38A11C0}"/>
              </a:ext>
            </a:extLst>
          </p:cNvPr>
          <p:cNvSpPr>
            <a:spLocks noGrp="1"/>
          </p:cNvSpPr>
          <p:nvPr>
            <p:ph type="sldNum" sz="quarter" idx="12"/>
          </p:nvPr>
        </p:nvSpPr>
        <p:spPr/>
        <p:txBody>
          <a:bodyPr/>
          <a:lstStyle/>
          <a:p>
            <a:r>
              <a:rPr lang="en-US" noProof="0" dirty="0"/>
              <a:t>9</a:t>
            </a:r>
            <a:endParaRPr lang="fr-FR" noProof="0" dirty="0"/>
          </a:p>
        </p:txBody>
      </p:sp>
      <p:sp>
        <p:nvSpPr>
          <p:cNvPr id="8" name="Flèche : pentagone 7">
            <a:extLst>
              <a:ext uri="{FF2B5EF4-FFF2-40B4-BE49-F238E27FC236}">
                <a16:creationId xmlns:a16="http://schemas.microsoft.com/office/drawing/2014/main" id="{B7A403AB-C692-428D-AFB5-305C92EA4358}"/>
              </a:ext>
            </a:extLst>
          </p:cNvPr>
          <p:cNvSpPr/>
          <p:nvPr/>
        </p:nvSpPr>
        <p:spPr>
          <a:xfrm rot="5400000">
            <a:off x="-242354" y="477313"/>
            <a:ext cx="1439333" cy="484708"/>
          </a:xfrm>
          <a:prstGeom prst="homePlate">
            <a:avLst/>
          </a:prstGeom>
          <a:solidFill>
            <a:schemeClr val="accent6">
              <a:lumMod val="60000"/>
              <a:lumOff val="40000"/>
            </a:schemeClr>
          </a:solidFill>
          <a:ln w="38100">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noProof="0" dirty="0"/>
          </a:p>
        </p:txBody>
      </p:sp>
      <p:sp>
        <p:nvSpPr>
          <p:cNvPr id="9" name="Flèche : chevron 8">
            <a:extLst>
              <a:ext uri="{FF2B5EF4-FFF2-40B4-BE49-F238E27FC236}">
                <a16:creationId xmlns:a16="http://schemas.microsoft.com/office/drawing/2014/main" id="{5890B605-5E0E-50A3-38F1-94954B044229}"/>
              </a:ext>
            </a:extLst>
          </p:cNvPr>
          <p:cNvSpPr/>
          <p:nvPr/>
        </p:nvSpPr>
        <p:spPr>
          <a:xfrm rot="5400000">
            <a:off x="178860" y="1338800"/>
            <a:ext cx="596902" cy="484709"/>
          </a:xfrm>
          <a:prstGeom prst="chevron">
            <a:avLst/>
          </a:prstGeom>
          <a:solidFill>
            <a:schemeClr val="accent6">
              <a:lumMod val="60000"/>
              <a:lumOff val="4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noProof="0" dirty="0">
              <a:solidFill>
                <a:schemeClr val="tx1"/>
              </a:solidFill>
            </a:endParaRPr>
          </a:p>
        </p:txBody>
      </p:sp>
      <p:cxnSp>
        <p:nvCxnSpPr>
          <p:cNvPr id="11" name="Connecteur droit 10">
            <a:extLst>
              <a:ext uri="{FF2B5EF4-FFF2-40B4-BE49-F238E27FC236}">
                <a16:creationId xmlns:a16="http://schemas.microsoft.com/office/drawing/2014/main" id="{E4CDBC52-3D25-A19E-FA2B-F1D0F45E71B5}"/>
              </a:ext>
            </a:extLst>
          </p:cNvPr>
          <p:cNvCxnSpPr/>
          <p:nvPr/>
        </p:nvCxnSpPr>
        <p:spPr>
          <a:xfrm>
            <a:off x="862010" y="1210734"/>
            <a:ext cx="10332000" cy="0"/>
          </a:xfrm>
          <a:prstGeom prst="line">
            <a:avLst/>
          </a:prstGeom>
          <a:ln w="28575"/>
        </p:spPr>
        <p:style>
          <a:lnRef idx="3">
            <a:schemeClr val="accent6"/>
          </a:lnRef>
          <a:fillRef idx="0">
            <a:schemeClr val="accent6"/>
          </a:fillRef>
          <a:effectRef idx="2">
            <a:schemeClr val="accent6"/>
          </a:effectRef>
          <a:fontRef idx="minor">
            <a:schemeClr val="tx1"/>
          </a:fontRef>
        </p:style>
      </p:cxnSp>
      <p:pic>
        <p:nvPicPr>
          <p:cNvPr id="12" name="Image 11">
            <a:extLst>
              <a:ext uri="{FF2B5EF4-FFF2-40B4-BE49-F238E27FC236}">
                <a16:creationId xmlns:a16="http://schemas.microsoft.com/office/drawing/2014/main" id="{F70BC092-D07F-FC63-9036-5449404BE3AD}"/>
              </a:ext>
            </a:extLst>
          </p:cNvPr>
          <p:cNvPicPr>
            <a:picLocks noChangeAspect="1"/>
          </p:cNvPicPr>
          <p:nvPr/>
        </p:nvPicPr>
        <p:blipFill>
          <a:blip r:embed="rId3"/>
          <a:stretch>
            <a:fillRect/>
          </a:stretch>
        </p:blipFill>
        <p:spPr>
          <a:xfrm>
            <a:off x="985277" y="1797580"/>
            <a:ext cx="4934221" cy="3849686"/>
          </a:xfrm>
          <a:prstGeom prst="rect">
            <a:avLst/>
          </a:prstGeom>
        </p:spPr>
      </p:pic>
      <p:pic>
        <p:nvPicPr>
          <p:cNvPr id="17" name="Image 16">
            <a:extLst>
              <a:ext uri="{FF2B5EF4-FFF2-40B4-BE49-F238E27FC236}">
                <a16:creationId xmlns:a16="http://schemas.microsoft.com/office/drawing/2014/main" id="{7AABA2B8-95B7-8F84-BAB5-620AC6155B6B}"/>
              </a:ext>
            </a:extLst>
          </p:cNvPr>
          <p:cNvPicPr>
            <a:picLocks noChangeAspect="1"/>
          </p:cNvPicPr>
          <p:nvPr/>
        </p:nvPicPr>
        <p:blipFill>
          <a:blip r:embed="rId4"/>
          <a:stretch>
            <a:fillRect/>
          </a:stretch>
        </p:blipFill>
        <p:spPr>
          <a:xfrm>
            <a:off x="6404208" y="1858701"/>
            <a:ext cx="4949592" cy="3849683"/>
          </a:xfrm>
          <a:prstGeom prst="rect">
            <a:avLst/>
          </a:prstGeom>
        </p:spPr>
      </p:pic>
    </p:spTree>
    <p:extLst>
      <p:ext uri="{BB962C8B-B14F-4D97-AF65-F5344CB8AC3E}">
        <p14:creationId xmlns:p14="http://schemas.microsoft.com/office/powerpoint/2010/main" val="88628563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2212</TotalTime>
  <Words>1060</Words>
  <Application>Microsoft Office PowerPoint</Application>
  <PresentationFormat>Grand écran</PresentationFormat>
  <Paragraphs>98</Paragraphs>
  <Slides>11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11</vt:i4>
      </vt:variant>
    </vt:vector>
  </HeadingPairs>
  <TitlesOfParts>
    <vt:vector size="16" baseType="lpstr">
      <vt:lpstr>Arial</vt:lpstr>
      <vt:lpstr>Calibri</vt:lpstr>
      <vt:lpstr>Calibri Light</vt:lpstr>
      <vt:lpstr>Cambria Math</vt:lpstr>
      <vt:lpstr>Thème Office</vt:lpstr>
      <vt:lpstr>Devoir 2 – Vérification de code – MMS </vt:lpstr>
      <vt:lpstr>GitHub Repo</vt:lpstr>
      <vt:lpstr>A. Implémentation du code instationnaire</vt:lpstr>
      <vt:lpstr>A. Implémentation du code instationnaire (Suite)</vt:lpstr>
      <vt:lpstr>A. Implémentation du code instationnaire (Suite)</vt:lpstr>
      <vt:lpstr>A. Implémentation du code instationnaire (Suite)</vt:lpstr>
      <vt:lpstr>B-C. Choix de la solution manufacturée et développement</vt:lpstr>
      <vt:lpstr>C. Développement du terme source et conditions frontières appropriées (Suite)</vt:lpstr>
      <vt:lpstr>D. Analyse de convergence en espace</vt:lpstr>
      <vt:lpstr>D. Analyse de convergence en temps</vt:lpstr>
      <vt:lpstr>F. Solution du problème originel pour N_tot=11 et t ∈[0, 4×10^9]</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Résumé de l’article : Verification and validation of CFD models and dynamic similarity for fluidized beds</dc:title>
  <dc:creator>Yusuf-Islam Dadi</dc:creator>
  <cp:lastModifiedBy>Yusuf-Islam Dadi</cp:lastModifiedBy>
  <cp:revision>31</cp:revision>
  <dcterms:created xsi:type="dcterms:W3CDTF">2026-01-26T18:03:14Z</dcterms:created>
  <dcterms:modified xsi:type="dcterms:W3CDTF">2026-03-08T13:57:37Z</dcterms:modified>
</cp:coreProperties>
</file>